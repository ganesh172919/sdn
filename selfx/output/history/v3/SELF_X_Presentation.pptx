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8.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4daaa5de97742d0" /><Relationship Type="http://schemas.openxmlformats.org/officeDocument/2006/relationships/extended-properties" Target="/docProps/app.xml" Id="R4989cdd68f1b45f3" /><Relationship Type="http://schemas.openxmlformats.org/officeDocument/2006/relationships/officeDocument" Target="/ppt/presentation.xml" Id="Rb638c1c13ce5493d" /></Relationships>
</file>

<file path=ppt/presentation.xml><?xml version="1.0" encoding="utf-8"?>
<p:presentation xmlns:p="http://schemas.openxmlformats.org/presentationml/2006/main">
  <p:sldMasterIdLst>
    <p:sldMasterId xmlns:r="http://schemas.openxmlformats.org/officeDocument/2006/relationships" id="2147483648" r:id="R0e0878bc85db4fb8"/>
  </p:sldMasterIdLst>
  <p:notesMasterIdLst>
    <p:notesMasterId xmlns:r="http://schemas.openxmlformats.org/officeDocument/2006/relationships" r:id="Ra5a27910a9c648bc"/>
  </p:notesMasterIdLst>
  <p:sldIdLst>
    <p:sldId xmlns:r="http://schemas.openxmlformats.org/officeDocument/2006/relationships" id="256" r:id="Rd5e05d1dbf114db0"/>
    <p:sldId xmlns:r="http://schemas.openxmlformats.org/officeDocument/2006/relationships" id="257" r:id="R46bcd27b795443d9"/>
    <p:sldId xmlns:r="http://schemas.openxmlformats.org/officeDocument/2006/relationships" id="258" r:id="Rf2239dc9fa834e1a"/>
    <p:sldId xmlns:r="http://schemas.openxmlformats.org/officeDocument/2006/relationships" id="259" r:id="R3640f94936ca4834"/>
    <p:sldId xmlns:r="http://schemas.openxmlformats.org/officeDocument/2006/relationships" id="260" r:id="Rd35511952dea4d90"/>
    <p:sldId xmlns:r="http://schemas.openxmlformats.org/officeDocument/2006/relationships" id="261" r:id="R27b675e104424aa1"/>
    <p:sldId xmlns:r="http://schemas.openxmlformats.org/officeDocument/2006/relationships" id="262" r:id="Rcbabeeb8799a412c"/>
    <p:sldId xmlns:r="http://schemas.openxmlformats.org/officeDocument/2006/relationships" id="263" r:id="Rf6eef01e30df4b0d"/>
    <p:sldId xmlns:r="http://schemas.openxmlformats.org/officeDocument/2006/relationships" id="264" r:id="R2b4b138e70274129"/>
    <p:sldId xmlns:r="http://schemas.openxmlformats.org/officeDocument/2006/relationships" id="265" r:id="Re36736441f2e490b"/>
    <p:sldId xmlns:r="http://schemas.openxmlformats.org/officeDocument/2006/relationships" id="266" r:id="Rbdb5ce751cdc4d7f"/>
    <p:sldId xmlns:r="http://schemas.openxmlformats.org/officeDocument/2006/relationships" id="267" r:id="Rc1916d7736674c1d"/>
    <p:sldId xmlns:r="http://schemas.openxmlformats.org/officeDocument/2006/relationships" id="268" r:id="Ra59122fe5ea44312"/>
    <p:sldId xmlns:r="http://schemas.openxmlformats.org/officeDocument/2006/relationships" id="269" r:id="R336143c108be4cd4"/>
    <p:sldId xmlns:r="http://schemas.openxmlformats.org/officeDocument/2006/relationships" id="270" r:id="R85c99eeedbf84a7d"/>
    <p:sldId xmlns:r="http://schemas.openxmlformats.org/officeDocument/2006/relationships" id="271" r:id="R3c6357f042564b99"/>
    <p:sldId xmlns:r="http://schemas.openxmlformats.org/officeDocument/2006/relationships" id="272" r:id="R72b5f26455694c87"/>
    <p:sldId xmlns:r="http://schemas.openxmlformats.org/officeDocument/2006/relationships" id="273" r:id="R67059f0efac64315"/>
    <p:sldId xmlns:r="http://schemas.openxmlformats.org/officeDocument/2006/relationships" id="274" r:id="R44c8c5621e524ad9"/>
    <p:sldId xmlns:r="http://schemas.openxmlformats.org/officeDocument/2006/relationships" id="275" r:id="R62959e65955e45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26d47d03a8476f" /><Relationship Type="http://schemas.openxmlformats.org/officeDocument/2006/relationships/slideMaster" Target="/ppt/slideMasters/slideMaster1.xml" Id="R0e0878bc85db4fb8" /><Relationship Type="http://schemas.openxmlformats.org/officeDocument/2006/relationships/notesMaster" Target="/ppt/notesMasters/notesMaster1.xml" Id="Ra5a27910a9c648bc" /><Relationship Type="http://schemas.openxmlformats.org/officeDocument/2006/relationships/presProps" Target="/ppt/presProps.xml" Id="Rd5e2ab2ac499457e" /><Relationship Type="http://schemas.openxmlformats.org/officeDocument/2006/relationships/tableStyles" Target="/ppt/tableStyles.xml" Id="R83ecdff309564432" /><Relationship Type="http://schemas.openxmlformats.org/officeDocument/2006/relationships/slide" Target="/ppt/slides/slide1.xml" Id="Rd5e05d1dbf114db0" /><Relationship Type="http://schemas.openxmlformats.org/officeDocument/2006/relationships/slide" Target="/ppt/slides/slide2.xml" Id="R46bcd27b795443d9" /><Relationship Type="http://schemas.openxmlformats.org/officeDocument/2006/relationships/slide" Target="/ppt/slides/slide3.xml" Id="Rf2239dc9fa834e1a" /><Relationship Type="http://schemas.openxmlformats.org/officeDocument/2006/relationships/slide" Target="/ppt/slides/slide4.xml" Id="R3640f94936ca4834" /><Relationship Type="http://schemas.openxmlformats.org/officeDocument/2006/relationships/slide" Target="/ppt/slides/slide5.xml" Id="Rd35511952dea4d90" /><Relationship Type="http://schemas.openxmlformats.org/officeDocument/2006/relationships/slide" Target="/ppt/slides/slide6.xml" Id="R27b675e104424aa1" /><Relationship Type="http://schemas.openxmlformats.org/officeDocument/2006/relationships/slide" Target="/ppt/slides/slide7.xml" Id="Rcbabeeb8799a412c" /><Relationship Type="http://schemas.openxmlformats.org/officeDocument/2006/relationships/slide" Target="/ppt/slides/slide8.xml" Id="Rf6eef01e30df4b0d" /><Relationship Type="http://schemas.openxmlformats.org/officeDocument/2006/relationships/slide" Target="/ppt/slides/slide9.xml" Id="R2b4b138e70274129" /><Relationship Type="http://schemas.openxmlformats.org/officeDocument/2006/relationships/slide" Target="/ppt/slides/slide10.xml" Id="Re36736441f2e490b" /><Relationship Type="http://schemas.openxmlformats.org/officeDocument/2006/relationships/slide" Target="/ppt/slides/slide11.xml" Id="Rbdb5ce751cdc4d7f" /><Relationship Type="http://schemas.openxmlformats.org/officeDocument/2006/relationships/slide" Target="/ppt/slides/slide12.xml" Id="Rc1916d7736674c1d" /><Relationship Type="http://schemas.openxmlformats.org/officeDocument/2006/relationships/slide" Target="/ppt/slides/slide13.xml" Id="Ra59122fe5ea44312" /><Relationship Type="http://schemas.openxmlformats.org/officeDocument/2006/relationships/slide" Target="/ppt/slides/slide14.xml" Id="R336143c108be4cd4" /><Relationship Type="http://schemas.openxmlformats.org/officeDocument/2006/relationships/slide" Target="/ppt/slides/slide15.xml" Id="R85c99eeedbf84a7d" /><Relationship Type="http://schemas.openxmlformats.org/officeDocument/2006/relationships/slide" Target="/ppt/slides/slide16.xml" Id="R3c6357f042564b99" /><Relationship Type="http://schemas.openxmlformats.org/officeDocument/2006/relationships/slide" Target="/ppt/slides/slide17.xml" Id="R72b5f26455694c87" /><Relationship Type="http://schemas.openxmlformats.org/officeDocument/2006/relationships/slide" Target="/ppt/slides/slide18.xml" Id="R67059f0efac64315" /><Relationship Type="http://schemas.openxmlformats.org/officeDocument/2006/relationships/slide" Target="/ppt/slides/slide19.xml" Id="R44c8c5621e524ad9" /><Relationship Type="http://schemas.openxmlformats.org/officeDocument/2006/relationships/slide" Target="/ppt/slides/slide20.xml" Id="R62959e65955e45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66fa20fe7542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5e0d88be3344c6" /><Relationship Type="http://schemas.openxmlformats.org/officeDocument/2006/relationships/notesMaster" Target="/ppt/notesMasters/notesMaster1.xml" Id="R97ec270b35dd4a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643b7e27e34c7b" /><Relationship Type="http://schemas.openxmlformats.org/officeDocument/2006/relationships/notesMaster" Target="/ppt/notesMasters/notesMaster1.xml" Id="R44d9ff70a7d145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3f36e8a2bc44c3" /><Relationship Type="http://schemas.openxmlformats.org/officeDocument/2006/relationships/notesMaster" Target="/ppt/notesMasters/notesMaster1.xml" Id="R909cd0d83c4649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51bec2a0db4c74" /><Relationship Type="http://schemas.openxmlformats.org/officeDocument/2006/relationships/notesMaster" Target="/ppt/notesMasters/notesMaster1.xml" Id="Rbe881b85e8c249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deeede03ce46bd" /><Relationship Type="http://schemas.openxmlformats.org/officeDocument/2006/relationships/notesMaster" Target="/ppt/notesMasters/notesMaster1.xml" Id="R22f13597930c4a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ff933df9624eb6" /><Relationship Type="http://schemas.openxmlformats.org/officeDocument/2006/relationships/notesMaster" Target="/ppt/notesMasters/notesMaster1.xml" Id="R9bc29c1e45334a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9e8650be9d463f" /><Relationship Type="http://schemas.openxmlformats.org/officeDocument/2006/relationships/notesMaster" Target="/ppt/notesMasters/notesMaster1.xml" Id="R88de37567be34d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defd9659634523" /><Relationship Type="http://schemas.openxmlformats.org/officeDocument/2006/relationships/notesMaster" Target="/ppt/notesMasters/notesMaster1.xml" Id="R6c612585b0a34a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81b91dcb554bf9" /><Relationship Type="http://schemas.openxmlformats.org/officeDocument/2006/relationships/notesMaster" Target="/ppt/notesMasters/notesMaster1.xml" Id="R7145a36b74574c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1bc5ddd0e54760" /><Relationship Type="http://schemas.openxmlformats.org/officeDocument/2006/relationships/notesMaster" Target="/ppt/notesMasters/notesMaster1.xml" Id="Re169e3b5a48e49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44343c797a48a9" /><Relationship Type="http://schemas.openxmlformats.org/officeDocument/2006/relationships/notesMaster" Target="/ppt/notesMasters/notesMaster1.xml" Id="R9774d828dbcc47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b5cf6be77940b9" /><Relationship Type="http://schemas.openxmlformats.org/officeDocument/2006/relationships/notesMaster" Target="/ppt/notesMasters/notesMaster1.xml" Id="R87c9733d3ad342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b4dd8c48334183" /><Relationship Type="http://schemas.openxmlformats.org/officeDocument/2006/relationships/notesMaster" Target="/ppt/notesMasters/notesMaster1.xml" Id="R250d7e642e7a4b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002097f9474d94" /><Relationship Type="http://schemas.openxmlformats.org/officeDocument/2006/relationships/notesMaster" Target="/ppt/notesMasters/notesMaster1.xml" Id="R457443eecf4847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d75e71e9524bd1" /><Relationship Type="http://schemas.openxmlformats.org/officeDocument/2006/relationships/notesMaster" Target="/ppt/notesMasters/notesMaster1.xml" Id="R5acb920aa426450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ddc16c3eda49c2" /><Relationship Type="http://schemas.openxmlformats.org/officeDocument/2006/relationships/notesMaster" Target="/ppt/notesMasters/notesMaster1.xml" Id="R05c8d316a4a842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1c11861ed474672" /><Relationship Type="http://schemas.openxmlformats.org/officeDocument/2006/relationships/notesMaster" Target="/ppt/notesMasters/notesMaster1.xml" Id="R8f1f9a919fb04a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cd556648150419b" /><Relationship Type="http://schemas.openxmlformats.org/officeDocument/2006/relationships/notesMaster" Target="/ppt/notesMasters/notesMaster1.xml" Id="R741126a18f4547c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9277c5f520846b3" /><Relationship Type="http://schemas.openxmlformats.org/officeDocument/2006/relationships/notesMaster" Target="/ppt/notesMasters/notesMaster1.xml" Id="R29c68f62451742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6a9d47aa34465c" /><Relationship Type="http://schemas.openxmlformats.org/officeDocument/2006/relationships/notesMaster" Target="/ppt/notesMasters/notesMaster1.xml" Id="Ra8e80cc72a6042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submission evaluates a state-embedding memory revision and API pipeline changes inside selfx. The primary suite is separate from a constructed post-hoc memory diagnostic and a small live Gemini timing pilot. No packet or physical-network performance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website exposes traffic, state embeddings, decision origins, action safety, outcomes and editable submission files. The portable fluid simulation is the validated path on this Windows machine; Linux Mininet/Ryu remains a separate unvalidated 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agent/adaptive_memory.py. Eight context coordinates preserve absolute capacity-scaled demand, three congestion/headroom margins and queue occupancy. Up to eight matched observations per action use distance and recency weights. Four retained observations per action/context cell allow the three-observation gate to be met. The local spread margin is heuristic, not a calibrated confidence interval. No simulator candidate outcomes enter policy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Compact calls use pooled HTTP connections, a 384-token output cap and Gemini minimal thinking. The prompt includes locally computed totals and feasibility flags. The 64-entry cache expires after 12 windows and includes demand, queue, capacity, buffer and observed route-port context. All hits are revalidated. Google model and thinking references: https://ai.google.dev/gemini-api/docs/models/gemini-3.5-flash-lite and https://ai.google.dev/gemini-api/docs/generate-content/whats-new-gemini-3.5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output/benchmarks/v3/summary.json and traffic/simulated_netflow.csv. Scenarios include mixed load, flash crowd, busy alternate, a distribution shift, dual overload, light load, recurring contexts and volatile changes. NetFlow-style CSV describes synthetic aggregate demand, not captured packets or wire-format IPFIX. See RFC 7011 https://www.rfc-editor.org/rfc/rfc7011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held-out seeds 1760..1769 differ from development seeds 1740 and 1741. The targeted near-capacity diagnostic was constructed after inspecting the main suite and is excluded from its aggregate. The final API pilot uses fresh seeds 1790 and 1791; an earlier prompt-arithmetic pilot on 1770 and 1771 is preserved. Paired seed bootstrap intervals use 4,000 draws, RNG 4099, and no multiplicity correction. O1 is myopic, not a long-horizon upper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output/benchmarks/v3/summary.json. IDs: A0 static primary, B1 least loaded, B2 guarded ECMP-style hash, A1 original threshold, A2 original reward-pruned memory, H1 guarded no memory, A3 previous balanced memory, O1 myopic simulator reference, A4 new action-conditioned memory. B2 motivation: RFC 2992 https://www.rfc-editor.org/rfc/rfc2992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output/benchmarks/v3/chart_data.json. Primary means are paired by scenario and seed, with cold-start windows and all outcomes retained. A4 is an observed regression reduction relative to A3, not proof of an additional memory benefit over the common guard.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raw paired seed means in output/benchmarks/v3/summary.json. Seed means, not individual windows, are the resampling units. Ten paired seeds and 4,000 fixed-RNG bootstrap draws define the 95% percentile intervals.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no-memory guard ablation is essential for attribution. Supported retrieval does not imply that memory changed an action or improved performance. A4 matches H1 on all primary network metrics; this conclusion is retained rather than presenting guard improvements as learning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output/benchmarks/v3/chart_data.json. Lower delay must be evaluated together with discarded offered traffic and delivered goodput. Means are equal-weight scenario averages; pooled traffic-volume loss is a distinct statistic available in the raw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output/benchmarks/v3/memory_sensitivity/summary.json. Four primary excess levels, ten paired seeds, 120 windows and four controllers produce 19,200 windows. The test was deliberately constructed to exercise negative-experience learning. It does not establish generalization to ordinary or captured traffic.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full sensitivity CSV. Bars show A4 minus H1 cumulative mean no-op-relative observed reward at windows 1, 3, 10, 30, 60 and 120, averaged across ten seeds. Positive differences favor A4. The actual negative raw cumulative rewards at window 120 remain in the slide text and editable report. A4 requires at least three matched earlier observations before rejecting a repeatedly harmful base action. This is episodic adaptation, not model-weight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output/benchmarks/v3/latency_gemini/summary.json and provider_calls.json. The compact path makes one provider call per cycle; the legacy path makes two. Hybrid reuses validated exact contexts. HTTP/network/service time and request pacing are recorded separately. This is not an isolated provider-server speed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output/benchmarks/v3/latency_gemini/metrics.csv. Origins are mutually exclusive window labels. Provider request counts include reflection for legacy, so API-window counts differ from total request counts. Any cache, healthy bypass or memory reuse is explicitly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corrected compact prompt uses current-state totals and flags after an earlier diagnostic exposed arithmetic mistakes. The final fresh pilot uses different seeds from that diagnostic. Its small sample cannot establish broad LLM effectiveness or a cross-model quality ranking. All network values remain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measured full-cycle perf_counter timings. Requests may exceed the target under network or provider variability. No API work or reflection is excluded from the measured full cycle. There are only two independent traffic seeds; individual windows are not independent seed replications.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output/benchmarks/v3/metrics.csv. This is machine-dependent local computation, separate from the real Gemini waiting-time study. A larger episode budget can cost more CPU than A3 even when it improves retrieval 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cover conservation, reproducibility, context magnitude, earlier-only retrieval, memory support and bounds, negative-action learning, cache expiry/state changes, API fallback and the original graph modules. Automatic source checks exclude credentials from the submission package. No real-network, global-stability or production-SLA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README.md and docs/BENCHMARKS_V3.md give setup and detailed commands. .env stores credentials; .venv is the isolated Python environment. The submission ZIP excludes credentials and dependency caches. Existing saved API evidence can be inspected without new requests; new live runs require available quota.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3ad2cb358a44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26df5014494e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ace1adff65345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49f3d71e5d4e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8f645664424c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5c274e9a8a43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C9B2E-D007-4BE1-B48B-7652E074A5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C4F135-3232-44F3-8126-F86E85E8E7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AF5EA5-1A9F-4178-8D38-7396E30622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1E7846-76FF-45A0-98BE-A58EA35828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2AA71F-4018-4560-BAD1-E74B3FC65F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ECB749-8EFD-4077-830B-C999043459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6EB444-177C-4D6D-9C3F-12ABB205B0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A73CE5-4F06-4F30-88FA-0B8EBC2ED0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4A3638-7E1A-44FE-97DA-18EE3803A3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FF3272-C3D6-4775-A7C0-39A7F82BD2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92f84be1c44149" /><Relationship Type="http://schemas.openxmlformats.org/officeDocument/2006/relationships/slideLayout" Target="/ppt/slideLayouts/slideLayout1.xml" Id="Rc891bda02882484c" /><Relationship Type="http://schemas.openxmlformats.org/officeDocument/2006/relationships/slideLayout" Target="/ppt/slideLayouts/slideLayout2.xml" Id="Rcf42bdbc78064fa5" /><Relationship Type="http://schemas.openxmlformats.org/officeDocument/2006/relationships/slideLayout" Target="/ppt/slideLayouts/slideLayout3.xml" Id="R50498a533a4b405b" /><Relationship Type="http://schemas.openxmlformats.org/officeDocument/2006/relationships/slideLayout" Target="/ppt/slideLayouts/slideLayout4.xml" Id="R5ab8d65d6bb74c25" /><Relationship Type="http://schemas.openxmlformats.org/officeDocument/2006/relationships/slideLayout" Target="/ppt/slideLayouts/slideLayout5.xml" Id="Rce2552889da64dba" /><Relationship Type="http://schemas.openxmlformats.org/officeDocument/2006/relationships/slideLayout" Target="/ppt/slideLayouts/slideLayout6.xml" Id="R6fb9fb0b337047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91bda02882484c"/>
    <p:sldLayoutId xmlns:r="http://schemas.openxmlformats.org/officeDocument/2006/relationships" id="2147483650" r:id="Rcf42bdbc78064fa5"/>
    <p:sldLayoutId xmlns:r="http://schemas.openxmlformats.org/officeDocument/2006/relationships" id="2147483651" r:id="R50498a533a4b405b"/>
    <p:sldLayoutId xmlns:r="http://schemas.openxmlformats.org/officeDocument/2006/relationships" id="2147483652" r:id="R5ab8d65d6bb74c25"/>
    <p:sldLayoutId xmlns:r="http://schemas.openxmlformats.org/officeDocument/2006/relationships" id="2147483653" r:id="Rce2552889da64dba"/>
    <p:sldLayoutId xmlns:r="http://schemas.openxmlformats.org/officeDocument/2006/relationships" id="2147483654" r:id="R6fb9fb0b337047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4062d65149422e" /><Relationship Type="http://schemas.openxmlformats.org/officeDocument/2006/relationships/notesSlide" Target="/ppt/notesSlides/notesSlide1.xml" Id="R32e9d5eb2ef64b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8cb6b99a4c460c" /><Relationship Type="http://schemas.openxmlformats.org/officeDocument/2006/relationships/notesSlide" Target="/ppt/notesSlides/notesSlide2.xml" Id="R44bb4bae08c647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8ea9ff4fec4142" /><Relationship Type="http://schemas.openxmlformats.org/officeDocument/2006/relationships/notesSlide" Target="/ppt/notesSlides/notesSlide3.xml" Id="Ra6925b2d6ecd49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d3a1f2bda94273" /><Relationship Type="http://schemas.openxmlformats.org/officeDocument/2006/relationships/notesSlide" Target="/ppt/notesSlides/notesSlide4.xml" Id="R0f9e4ad4178b41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e8369046354fdb" /><Relationship Type="http://schemas.openxmlformats.org/officeDocument/2006/relationships/notesSlide" Target="/ppt/notesSlides/notesSlide5.xml" Id="R51aa3f9600b24c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16596e81184f5f" /><Relationship Type="http://schemas.openxmlformats.org/officeDocument/2006/relationships/notesSlide" Target="/ppt/notesSlides/notesSlide6.xml" Id="Rf38701197f7c4d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357da41d9643b7" /><Relationship Type="http://schemas.openxmlformats.org/officeDocument/2006/relationships/notesSlide" Target="/ppt/notesSlides/notesSlide7.xml" Id="Rc035c25dc61f43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db95178e9d4739" /><Relationship Type="http://schemas.openxmlformats.org/officeDocument/2006/relationships/chart" Target="/ppt/slides/charts/chart1.xml" Id="Rd6a5c19aafa94d8c" /><Relationship Type="http://schemas.openxmlformats.org/officeDocument/2006/relationships/notesSlide" Target="/ppt/notesSlides/notesSlide8.xml" Id="R040fc7c5332f40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609b87a8d946dd" /><Relationship Type="http://schemas.openxmlformats.org/officeDocument/2006/relationships/notesSlide" Target="/ppt/notesSlides/notesSlide9.xml" Id="Rb7f9c93e12cd40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2c3a273fd964068" /><Relationship Type="http://schemas.openxmlformats.org/officeDocument/2006/relationships/chart" Target="/ppt/slides/charts/chart2.xml" Id="R77471c401c0d4cba" /><Relationship Type="http://schemas.openxmlformats.org/officeDocument/2006/relationships/notesSlide" Target="/ppt/notesSlides/notesSlide10.xml" Id="Reb6f42d1c24441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235f0fafdde444b" /><Relationship Type="http://schemas.openxmlformats.org/officeDocument/2006/relationships/notesSlide" Target="/ppt/notesSlides/notesSlide11.xml" Id="R1a79382909b040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a0d4f7fb03b44df" /><Relationship Type="http://schemas.openxmlformats.org/officeDocument/2006/relationships/chart" Target="/ppt/slides/charts/chart3.xml" Id="Reb5e0c8f2eb44858" /><Relationship Type="http://schemas.openxmlformats.org/officeDocument/2006/relationships/notesSlide" Target="/ppt/notesSlides/notesSlide12.xml" Id="R05bba9235e6440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c3d28121c4c419a" /><Relationship Type="http://schemas.openxmlformats.org/officeDocument/2006/relationships/chart" Target="/ppt/slides/charts/chart4.xml" Id="Rc1447b08fd874be4" /><Relationship Type="http://schemas.openxmlformats.org/officeDocument/2006/relationships/notesSlide" Target="/ppt/notesSlides/notesSlide13.xml" Id="R0dd4dbae9e514f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cedca1cbaa44320" /><Relationship Type="http://schemas.openxmlformats.org/officeDocument/2006/relationships/chart" Target="/ppt/slides/charts/chart5.xml" Id="R5acd569f6d484c54" /><Relationship Type="http://schemas.openxmlformats.org/officeDocument/2006/relationships/notesSlide" Target="/ppt/notesSlides/notesSlide14.xml" Id="R93bca2a429ac47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a75d082cb93419d" /><Relationship Type="http://schemas.openxmlformats.org/officeDocument/2006/relationships/chart" Target="/ppt/slides/charts/chart6.xml" Id="R9736334c3f0446b9" /><Relationship Type="http://schemas.openxmlformats.org/officeDocument/2006/relationships/notesSlide" Target="/ppt/notesSlides/notesSlide15.xml" Id="R45870c4583bf45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722c74202214a9d" /><Relationship Type="http://schemas.openxmlformats.org/officeDocument/2006/relationships/notesSlide" Target="/ppt/notesSlides/notesSlide16.xml" Id="R7e27cb9046804f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e350dbc7f7e40b7" /><Relationship Type="http://schemas.openxmlformats.org/officeDocument/2006/relationships/chart" Target="/ppt/slides/charts/chart7.xml" Id="R0a6d00e218ab43d2" /><Relationship Type="http://schemas.openxmlformats.org/officeDocument/2006/relationships/notesSlide" Target="/ppt/notesSlides/notesSlide17.xml" Id="R6a8634fb6a624b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bfc927654634ed3" /><Relationship Type="http://schemas.openxmlformats.org/officeDocument/2006/relationships/chart" Target="/ppt/slides/charts/chart8.xml" Id="Rb352c29d7f64403a" /><Relationship Type="http://schemas.openxmlformats.org/officeDocument/2006/relationships/notesSlide" Target="/ppt/notesSlides/notesSlide18.xml" Id="R59e5c8458bd545c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aa3817baab4426" /><Relationship Type="http://schemas.openxmlformats.org/officeDocument/2006/relationships/notesSlide" Target="/ppt/notesSlides/notesSlide19.xml" Id="R537bc73ffa4948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087dcf460834c49" /><Relationship Type="http://schemas.openxmlformats.org/officeDocument/2006/relationships/notesSlide" Target="/ppt/notesSlides/notesSlide20.xml" Id="R0dec7a32962d47e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modeled delay ms</c:v>
          </c:tx>
          <c:spPr>
            <a:solidFill xmlns:a="http://schemas.openxmlformats.org/drawingml/2006/main">
              <a:srgbClr val="007D76"/>
            </a:solidFill>
          </c:spPr>
          <c:invertIfNegative val="0"/>
          <c:cat>
            <c:strRef>
              <c:f>'Chart Data'!$A$2:$A$6</c:f>
              <c:strCache>
                <c:ptCount val="5"/>
                <c:pt idx="0">
                  <c:v>A2</c:v>
                </c:pt>
                <c:pt idx="1">
                  <c:v>A3</c:v>
                </c:pt>
                <c:pt idx="2">
                  <c:v>H1</c:v>
                </c:pt>
                <c:pt idx="3">
                  <c:v>A4</c:v>
                </c:pt>
                <c:pt idx="4">
                  <c:v>O1</c:v>
                </c:pt>
              </c:strCache>
            </c:strRef>
          </c:cat>
          <c:val>
            <c:numRef>
              <c:f>'Chart Data'!$B$2:$B$6</c:f>
              <c:numCache>
                <c:formatCode>0.000</c:formatCode>
                <c:ptCount val="5"/>
                <c:pt idx="0">
                  <c:v>17.553674</c:v>
                </c:pt>
                <c:pt idx="1">
                  <c:v>17.341058</c:v>
                </c:pt>
                <c:pt idx="2">
                  <c:v>17.153958</c:v>
                </c:pt>
                <c:pt idx="3">
                  <c:v>17.153958</c:v>
                </c:pt>
                <c:pt idx="4">
                  <c:v>17.204234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H1</c:v>
          </c:tx>
          <c:spPr>
            <a:solidFill xmlns:a="http://schemas.openxmlformats.org/drawingml/2006/main">
              <a:srgbClr val="234F7D"/>
            </a:solidFill>
          </c:spPr>
          <c:invertIfNegative val="0"/>
          <c:cat>
            <c:strRef>
              <c:f>'Chart Data'!$A$2:$A$9</c:f>
              <c:strCache>
                <c:ptCount val="8"/>
                <c:pt idx="0">
                  <c:v>Mixed</c:v>
                </c:pt>
                <c:pt idx="1">
                  <c:v>Flash</c:v>
                </c:pt>
                <c:pt idx="2">
                  <c:v>Alt busy</c:v>
                </c:pt>
                <c:pt idx="3">
                  <c:v>Shift</c:v>
                </c:pt>
                <c:pt idx="4">
                  <c:v>Overload</c:v>
                </c:pt>
                <c:pt idx="5">
                  <c:v>Light</c:v>
                </c:pt>
                <c:pt idx="6">
                  <c:v>Recurring</c:v>
                </c:pt>
                <c:pt idx="7">
                  <c:v>Volatile</c:v>
                </c:pt>
              </c:strCache>
            </c:strRef>
          </c:cat>
          <c:val>
            <c:numRef>
              <c:f>'Chart Data'!$B$2:$B$9</c:f>
              <c:numCache>
                <c:formatCode>0.0</c:formatCode>
                <c:ptCount val="8"/>
                <c:pt idx="0">
                  <c:v>24.490235</c:v>
                </c:pt>
                <c:pt idx="1">
                  <c:v>9.91243</c:v>
                </c:pt>
                <c:pt idx="2">
                  <c:v>13.153741</c:v>
                </c:pt>
                <c:pt idx="3">
                  <c:v>8.588086</c:v>
                </c:pt>
                <c:pt idx="4">
                  <c:v>35.793356</c:v>
                </c:pt>
                <c:pt idx="5">
                  <c:v>8</c:v>
                </c:pt>
                <c:pt idx="6">
                  <c:v>17.890762</c:v>
                </c:pt>
                <c:pt idx="7">
                  <c:v>19.403052</c:v>
                </c:pt>
              </c:numCache>
            </c:numRef>
          </c:val>
        </c:ser>
        <c:ser>
          <c:idx val="1"/>
          <c:order val="1"/>
          <c:tx>
            <c:v>A4</c:v>
          </c:tx>
          <c:spPr>
            <a:solidFill xmlns:a="http://schemas.openxmlformats.org/drawingml/2006/main">
              <a:srgbClr val="007D76"/>
            </a:solidFill>
          </c:spPr>
          <c:invertIfNegative val="0"/>
          <c:cat>
            <c:strRef>
              <c:f>'Chart Data'!$C$2:$C$9</c:f>
              <c:strCache>
                <c:ptCount val="8"/>
                <c:pt idx="0">
                  <c:v>Mixed</c:v>
                </c:pt>
                <c:pt idx="1">
                  <c:v>Flash</c:v>
                </c:pt>
                <c:pt idx="2">
                  <c:v>Alt busy</c:v>
                </c:pt>
                <c:pt idx="3">
                  <c:v>Shift</c:v>
                </c:pt>
                <c:pt idx="4">
                  <c:v>Overload</c:v>
                </c:pt>
                <c:pt idx="5">
                  <c:v>Light</c:v>
                </c:pt>
                <c:pt idx="6">
                  <c:v>Recurring</c:v>
                </c:pt>
                <c:pt idx="7">
                  <c:v>Volatile</c:v>
                </c:pt>
              </c:strCache>
            </c:strRef>
          </c:cat>
          <c:val>
            <c:numRef>
              <c:f>'Chart Data'!$D$2:$D$9</c:f>
              <c:numCache>
                <c:formatCode>0.0</c:formatCode>
                <c:ptCount val="8"/>
                <c:pt idx="0">
                  <c:v>24.490235</c:v>
                </c:pt>
                <c:pt idx="1">
                  <c:v>9.91243</c:v>
                </c:pt>
                <c:pt idx="2">
                  <c:v>13.153741</c:v>
                </c:pt>
                <c:pt idx="3">
                  <c:v>8.588086</c:v>
                </c:pt>
                <c:pt idx="4">
                  <c:v>35.793356</c:v>
                </c:pt>
                <c:pt idx="5">
                  <c:v>8</c:v>
                </c:pt>
                <c:pt idx="6">
                  <c:v>17.890762</c:v>
                </c:pt>
                <c:pt idx="7">
                  <c:v>19.403052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0"/>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H1</c:v>
          </c:tx>
          <c:spPr>
            <a:solidFill xmlns:a="http://schemas.openxmlformats.org/drawingml/2006/main">
              <a:srgbClr val="234F7D"/>
            </a:solidFill>
          </c:spPr>
          <c:invertIfNegative val="0"/>
          <c:cat>
            <c:numRef>
              <c:f>'Chart Data'!$A$2:$A$5</c:f>
              <c:numCache>
                <c:formatCode>General</c:formatCode>
                <c:ptCount val="4"/>
                <c:pt idx="0">
                  <c:v>0.0001</c:v>
                </c:pt>
                <c:pt idx="1">
                  <c:v>0.0005</c:v>
                </c:pt>
                <c:pt idx="2">
                  <c:v>0.005</c:v>
                </c:pt>
                <c:pt idx="3">
                  <c:v>0.05</c:v>
                </c:pt>
              </c:numCache>
            </c:numRef>
          </c:cat>
          <c:val>
            <c:numRef>
              <c:f>'Chart Data'!$B$2:$B$5</c:f>
              <c:numCache>
                <c:formatCode>0.00</c:formatCode>
                <c:ptCount val="4"/>
                <c:pt idx="0">
                  <c:v>6.697462</c:v>
                </c:pt>
                <c:pt idx="1">
                  <c:v>6.698974</c:v>
                </c:pt>
                <c:pt idx="2">
                  <c:v>6.701781</c:v>
                </c:pt>
                <c:pt idx="3">
                  <c:v>6.735028</c:v>
                </c:pt>
              </c:numCache>
            </c:numRef>
          </c:val>
        </c:ser>
        <c:ser>
          <c:idx val="1"/>
          <c:order val="1"/>
          <c:tx>
            <c:v>A4</c:v>
          </c:tx>
          <c:spPr>
            <a:solidFill xmlns:a="http://schemas.openxmlformats.org/drawingml/2006/main">
              <a:srgbClr val="007D76"/>
            </a:solidFill>
          </c:spPr>
          <c:invertIfNegative val="0"/>
          <c:cat>
            <c:numRef>
              <c:f>'Chart Data'!$C$2:$C$5</c:f>
              <c:numCache>
                <c:formatCode>General</c:formatCode>
                <c:ptCount val="4"/>
                <c:pt idx="0">
                  <c:v>0.0001</c:v>
                </c:pt>
                <c:pt idx="1">
                  <c:v>0.0005</c:v>
                </c:pt>
                <c:pt idx="2">
                  <c:v>0.005</c:v>
                </c:pt>
                <c:pt idx="3">
                  <c:v>0.05</c:v>
                </c:pt>
              </c:numCache>
            </c:numRef>
          </c:cat>
          <c:val>
            <c:numRef>
              <c:f>'Chart Data'!$D$2:$D$5</c:f>
              <c:numCache>
                <c:formatCode>0.00</c:formatCode>
                <c:ptCount val="4"/>
                <c:pt idx="0">
                  <c:v>0.167437</c:v>
                </c:pt>
                <c:pt idx="1">
                  <c:v>0.223299</c:v>
                </c:pt>
                <c:pt idx="2">
                  <c:v>1.284508</c:v>
                </c:pt>
                <c:pt idx="3">
                  <c:v>4.209392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A4 minus H1 cumulative reward</c:v>
          </c:tx>
          <c:spPr>
            <a:solidFill xmlns:a="http://schemas.openxmlformats.org/drawingml/2006/main">
              <a:srgbClr val="007D76"/>
            </a:solidFill>
          </c:spPr>
          <c:invertIfNegative val="0"/>
          <c:cat>
            <c:numRef>
              <c:f>'Chart Data'!$A$2:$A$7</c:f>
              <c:numCache>
                <c:formatCode>General</c:formatCode>
                <c:ptCount val="6"/>
                <c:pt idx="0">
                  <c:v>1</c:v>
                </c:pt>
                <c:pt idx="1">
                  <c:v>3</c:v>
                </c:pt>
                <c:pt idx="2">
                  <c:v>10</c:v>
                </c:pt>
                <c:pt idx="3">
                  <c:v>30</c:v>
                </c:pt>
                <c:pt idx="4">
                  <c:v>60</c:v>
                </c:pt>
                <c:pt idx="5">
                  <c:v>120</c:v>
                </c:pt>
              </c:numCache>
            </c:numRef>
          </c:cat>
          <c:val>
            <c:numRef>
              <c:f>'Chart Data'!$B$2:$B$7</c:f>
              <c:numCache>
                <c:formatCode>0.000</c:formatCode>
                <c:ptCount val="6"/>
                <c:pt idx="0">
                  <c:v>0</c:v>
                </c:pt>
                <c:pt idx="1">
                  <c:v>0</c:v>
                </c:pt>
                <c:pt idx="2">
                  <c:v>0.114122</c:v>
                </c:pt>
                <c:pt idx="3">
                  <c:v>0.146728</c:v>
                </c:pt>
                <c:pt idx="4">
                  <c:v>0.15488</c:v>
                </c:pt>
                <c:pt idx="5">
                  <c:v>0.158955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full cycle seconds</c:v>
          </c:tx>
          <c:spPr>
            <a:solidFill xmlns:a="http://schemas.openxmlformats.org/drawingml/2006/main">
              <a:srgbClr val="007D76"/>
            </a:solidFill>
          </c:spPr>
          <c:invertIfNegative val="0"/>
          <c:cat>
            <c:strRef>
              <c:f>'Chart Data'!$A$2:$A$5</c:f>
              <c:strCache>
                <c:ptCount val="4"/>
                <c:pt idx="0">
                  <c:v>Two calls</c:v>
                </c:pt>
                <c:pt idx="1">
                  <c:v>Compact</c:v>
                </c:pt>
                <c:pt idx="2">
                  <c:v>Hybrid</c:v>
                </c:pt>
                <c:pt idx="3">
                  <c:v>5-second target</c:v>
                </c:pt>
              </c:strCache>
            </c:strRef>
          </c:cat>
          <c:val>
            <c:numRef>
              <c:f>'Chart Data'!$B$2:$B$5</c:f>
              <c:numCache>
                <c:formatCode>0.000</c:formatCode>
                <c:ptCount val="4"/>
                <c:pt idx="0">
                  <c:v>8.294763</c:v>
                </c:pt>
                <c:pt idx="1">
                  <c:v>4.188539</c:v>
                </c:pt>
                <c:pt idx="2">
                  <c:v>2.09618</c:v>
                </c:pt>
                <c:pt idx="3">
                  <c:v>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API</c:v>
          </c:tx>
          <c:spPr>
            <a:solidFill xmlns:a="http://schemas.openxmlformats.org/drawingml/2006/main">
              <a:srgbClr val="467D91"/>
            </a:solidFill>
          </c:spPr>
          <c:invertIfNegative val="0"/>
          <c:cat>
            <c:strRef>
              <c:f>'Chart Data'!$A$2:$A$4</c:f>
              <c:strCache>
                <c:ptCount val="3"/>
                <c:pt idx="0">
                  <c:v>Two calls</c:v>
                </c:pt>
                <c:pt idx="1">
                  <c:v>Compact</c:v>
                </c:pt>
                <c:pt idx="2">
                  <c:v>Hybrid</c:v>
                </c:pt>
              </c:strCache>
            </c:strRef>
          </c:cat>
          <c:val>
            <c:numRef>
              <c:f>'Chart Data'!$B$2:$B$4</c:f>
              <c:numCache>
                <c:formatCode>0</c:formatCode>
                <c:ptCount val="3"/>
                <c:pt idx="0">
                  <c:v>24</c:v>
                </c:pt>
                <c:pt idx="1">
                  <c:v>24</c:v>
                </c:pt>
                <c:pt idx="2">
                  <c:v>12</c:v>
                </c:pt>
              </c:numCache>
            </c:numRef>
          </c:val>
        </c:ser>
        <c:ser>
          <c:idx val="1"/>
          <c:order val="1"/>
          <c:tx>
            <c:v>Cache</c:v>
          </c:tx>
          <c:spPr>
            <a:solidFill xmlns:a="http://schemas.openxmlformats.org/drawingml/2006/main">
              <a:srgbClr val="007D64"/>
            </a:solidFill>
          </c:spPr>
          <c:invertIfNegative val="0"/>
          <c:cat>
            <c:strRef>
              <c:f>'Chart Data'!$C$2:$C$4</c:f>
              <c:strCache>
                <c:ptCount val="3"/>
                <c:pt idx="0">
                  <c:v>Two calls</c:v>
                </c:pt>
                <c:pt idx="1">
                  <c:v>Compact</c:v>
                </c:pt>
                <c:pt idx="2">
                  <c:v>Hybrid</c:v>
                </c:pt>
              </c:strCache>
            </c:strRef>
          </c:cat>
          <c:val>
            <c:numRef>
              <c:f>'Chart Data'!$D$2:$D$4</c:f>
              <c:numCache>
                <c:formatCode>0</c:formatCode>
                <c:ptCount val="3"/>
                <c:pt idx="0">
                  <c:v>0</c:v>
                </c:pt>
                <c:pt idx="1">
                  <c:v>0</c:v>
                </c:pt>
                <c:pt idx="2">
                  <c:v>10</c:v>
                </c:pt>
              </c:numCache>
            </c:numRef>
          </c:val>
        </c:ser>
        <c:ser>
          <c:idx val="2"/>
          <c:order val="2"/>
          <c:tx>
            <c:v>Memory</c:v>
          </c:tx>
          <c:spPr>
            <a:solidFill xmlns:a="http://schemas.openxmlformats.org/drawingml/2006/main">
              <a:srgbClr val="7DB0A4"/>
            </a:solidFill>
          </c:spPr>
          <c:invertIfNegative val="0"/>
          <c:cat>
            <c:strRef>
              <c:f>'Chart Data'!$E$2:$E$4</c:f>
              <c:strCache>
                <c:ptCount val="3"/>
                <c:pt idx="0">
                  <c:v>Two calls</c:v>
                </c:pt>
                <c:pt idx="1">
                  <c:v>Compact</c:v>
                </c:pt>
                <c:pt idx="2">
                  <c:v>Hybrid</c:v>
                </c:pt>
              </c:strCache>
            </c:strRef>
          </c:cat>
          <c:val>
            <c:numRef>
              <c:f>'Chart Data'!$F$2:$F$4</c:f>
              <c:numCache>
                <c:formatCode>0</c:formatCode>
                <c:ptCount val="3"/>
                <c:pt idx="0">
                  <c:v>0</c:v>
                </c:pt>
                <c:pt idx="1">
                  <c:v>0</c:v>
                </c:pt>
                <c:pt idx="2">
                  <c:v>0</c:v>
                </c:pt>
              </c:numCache>
            </c:numRef>
          </c:val>
        </c:ser>
        <c:ser>
          <c:idx val="3"/>
          <c:order val="3"/>
          <c:tx>
            <c:v>Healthy bypass</c:v>
          </c:tx>
          <c:spPr>
            <a:solidFill xmlns:a="http://schemas.openxmlformats.org/drawingml/2006/main">
              <a:srgbClr val="AABBB5"/>
            </a:solidFill>
          </c:spPr>
          <c:invertIfNegative val="0"/>
          <c:cat>
            <c:strRef>
              <c:f>'Chart Data'!$G$2:$G$4</c:f>
              <c:strCache>
                <c:ptCount val="3"/>
                <c:pt idx="0">
                  <c:v>Two calls</c:v>
                </c:pt>
                <c:pt idx="1">
                  <c:v>Compact</c:v>
                </c:pt>
                <c:pt idx="2">
                  <c:v>Hybrid</c:v>
                </c:pt>
              </c:strCache>
            </c:strRef>
          </c:cat>
          <c:val>
            <c:numRef>
              <c:f>'Chart Data'!$H$2:$H$4</c:f>
              <c:numCache>
                <c:formatCode>0</c:formatCode>
                <c:ptCount val="3"/>
                <c:pt idx="0">
                  <c:v>0</c:v>
                </c:pt>
                <c:pt idx="1">
                  <c:v>0</c:v>
                </c:pt>
                <c:pt idx="2">
                  <c:v>2</c:v>
                </c:pt>
              </c:numCache>
            </c:numRef>
          </c:val>
        </c:ser>
        <c:ser>
          <c:idx val="4"/>
          <c:order val="4"/>
          <c:tx>
            <c:v>Fallback</c:v>
          </c:tx>
          <c:spPr>
            <a:solidFill xmlns:a="http://schemas.openxmlformats.org/drawingml/2006/main">
              <a:srgbClr val="D28244"/>
            </a:solidFill>
          </c:spPr>
          <c:invertIfNegative val="0"/>
          <c:cat>
            <c:strRef>
              <c:f>'Chart Data'!$I$2:$I$4</c:f>
              <c:strCache>
                <c:ptCount val="3"/>
                <c:pt idx="0">
                  <c:v>Two calls</c:v>
                </c:pt>
                <c:pt idx="1">
                  <c:v>Compact</c:v>
                </c:pt>
                <c:pt idx="2">
                  <c:v>Hybrid</c:v>
                </c:pt>
              </c:strCache>
            </c:strRef>
          </c:cat>
          <c:val>
            <c:numRef>
              <c:f>'Chart Data'!$J$2:$J$4</c:f>
              <c:numCache>
                <c:formatCode>0</c:formatCode>
                <c:ptCount val="3"/>
                <c:pt idx="0">
                  <c:v>0</c:v>
                </c:pt>
                <c:pt idx="1">
                  <c:v>0</c:v>
                </c:pt>
                <c:pt idx="2">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ctr"/>
          <c:showLegendKey val="0"/>
          <c:showVal val="0"/>
          <c:showCatName val="0"/>
          <c:showSerName val="0"/>
          <c:showPercent val="0"/>
          <c:showBubbleSize val="0"/>
          <c:showLeaderLines val="0"/>
        </c:dLbls>
        <c:gapWidth val="12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6F8F3"/>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Misses out of 24 cycles</c:v>
          </c:tx>
          <c:spPr>
            <a:solidFill xmlns:a="http://schemas.openxmlformats.org/drawingml/2006/main">
              <a:srgbClr val="007D76"/>
            </a:solidFill>
          </c:spPr>
          <c:invertIfNegative val="0"/>
          <c:cat>
            <c:strRef>
              <c:f>'Chart Data'!$A$2:$A$4</c:f>
              <c:strCache>
                <c:ptCount val="3"/>
                <c:pt idx="0">
                  <c:v>Two calls</c:v>
                </c:pt>
                <c:pt idx="1">
                  <c:v>Compact</c:v>
                </c:pt>
                <c:pt idx="2">
                  <c:v>Hybrid</c:v>
                </c:pt>
              </c:strCache>
            </c:strRef>
          </c:cat>
          <c:val>
            <c:numRef>
              <c:f>'Chart Data'!$B$2:$B$4</c:f>
              <c:numCache>
                <c:formatCode>0</c:formatCode>
                <c:ptCount val="3"/>
                <c:pt idx="0">
                  <c:v>24</c:v>
                </c:pt>
                <c:pt idx="1">
                  <c:v>0</c:v>
                </c:pt>
                <c:pt idx="2">
                  <c:v>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local control milliseconds</c:v>
          </c:tx>
          <c:spPr>
            <a:solidFill xmlns:a="http://schemas.openxmlformats.org/drawingml/2006/main">
              <a:srgbClr val="007D76"/>
            </a:solidFill>
          </c:spPr>
          <c:invertIfNegative val="0"/>
          <c:cat>
            <c:strRef>
              <c:f>'Chart Data'!$A$2:$A$10</c:f>
              <c:strCache>
                <c:ptCount val="9"/>
                <c:pt idx="0">
                  <c:v>A0</c:v>
                </c:pt>
                <c:pt idx="1">
                  <c:v>B1</c:v>
                </c:pt>
                <c:pt idx="2">
                  <c:v>B2</c:v>
                </c:pt>
                <c:pt idx="3">
                  <c:v>A1</c:v>
                </c:pt>
                <c:pt idx="4">
                  <c:v>A2</c:v>
                </c:pt>
                <c:pt idx="5">
                  <c:v>H1</c:v>
                </c:pt>
                <c:pt idx="6">
                  <c:v>A3</c:v>
                </c:pt>
                <c:pt idx="7">
                  <c:v>O1</c:v>
                </c:pt>
                <c:pt idx="8">
                  <c:v>A4</c:v>
                </c:pt>
              </c:strCache>
            </c:strRef>
          </c:cat>
          <c:val>
            <c:numRef>
              <c:f>'Chart Data'!$B$2:$B$10</c:f>
              <c:numCache>
                <c:formatCode>0.000</c:formatCode>
                <c:ptCount val="9"/>
                <c:pt idx="0">
                  <c:v>0.093407</c:v>
                </c:pt>
                <c:pt idx="1">
                  <c:v>0.093712</c:v>
                </c:pt>
                <c:pt idx="2">
                  <c:v>0.105824</c:v>
                </c:pt>
                <c:pt idx="3">
                  <c:v>0.09516</c:v>
                </c:pt>
                <c:pt idx="4">
                  <c:v>0.366578</c:v>
                </c:pt>
                <c:pt idx="5">
                  <c:v>0.091356</c:v>
                </c:pt>
                <c:pt idx="6">
                  <c:v>0.346779</c:v>
                </c:pt>
                <c:pt idx="7">
                  <c:v>0.210282</c:v>
                </c:pt>
                <c:pt idx="8">
                  <c:v>0.656637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9D16A68-94FF-40AD-B263-C48D22F0D277}"/>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01 / SELF-X</a:t>
            </a:r>
          </a:p>
        </p:txBody>
      </p:sp>
      <p:sp>
        <p:nvSpPr>
          <p:cNvPr id="3" name="">
            <a:extLst xmlns:a="http://schemas.openxmlformats.org/drawingml/2006/main">
              <a:ext uri="{FF2B5EF4-FFF2-40B4-BE49-F238E27FC236}">
                <a16:creationId xmlns:a16="http://schemas.microsoft.com/office/drawing/2014/main" id="{90D6ED70-4489-461A-93E2-5A02C6599CA5}"/>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A7C0BA"/>
                </a:solidFill>
                <a:latin typeface="Arial"/>
                <a:ea typeface="Arial"/>
                <a:cs typeface="Arial"/>
              </a:defRPr>
            </a:defPPr>
            <a:lvl1pPr>
              <a:defRPr sz="1050" b="0">
                <a:solidFill>
                  <a:srgbClr val="A7C0BA"/>
                </a:solidFill>
                <a:latin typeface="Arial"/>
                <a:ea typeface="Arial"/>
                <a:cs typeface="Arial"/>
              </a:defRPr>
            </a:lvl1pPr>
            <a:lvl2pPr>
              <a:defRPr sz="1050" b="0">
                <a:solidFill>
                  <a:srgbClr val="A7C0BA"/>
                </a:solidFill>
                <a:latin typeface="Arial"/>
                <a:ea typeface="Arial"/>
                <a:cs typeface="Arial"/>
              </a:defRPr>
            </a:lvl2pPr>
            <a:lvl3pPr>
              <a:defRPr sz="1050" b="0">
                <a:solidFill>
                  <a:srgbClr val="A7C0BA"/>
                </a:solidFill>
                <a:latin typeface="Arial"/>
                <a:ea typeface="Arial"/>
                <a:cs typeface="Arial"/>
              </a:defRPr>
            </a:lvl3pPr>
            <a:lvl4pPr>
              <a:defRPr sz="1050" b="0">
                <a:solidFill>
                  <a:srgbClr val="A7C0BA"/>
                </a:solidFill>
                <a:latin typeface="Arial"/>
                <a:ea typeface="Arial"/>
                <a:cs typeface="Arial"/>
              </a:defRPr>
            </a:lvl4pPr>
            <a:lvl5pPr>
              <a:defRPr sz="1050" b="0">
                <a:solidFill>
                  <a:srgbClr val="A7C0BA"/>
                </a:solidFill>
                <a:latin typeface="Arial"/>
                <a:ea typeface="Arial"/>
                <a:cs typeface="Arial"/>
              </a:defRPr>
            </a:lvl5pPr>
            <a:lvl6pPr>
              <a:defRPr sz="1050" b="0">
                <a:solidFill>
                  <a:srgbClr val="A7C0BA"/>
                </a:solidFill>
                <a:latin typeface="Arial"/>
                <a:ea typeface="Arial"/>
                <a:cs typeface="Arial"/>
              </a:defRPr>
            </a:lvl6pPr>
            <a:lvl7pPr>
              <a:defRPr sz="1050" b="0">
                <a:solidFill>
                  <a:srgbClr val="A7C0BA"/>
                </a:solidFill>
                <a:latin typeface="Arial"/>
                <a:ea typeface="Arial"/>
                <a:cs typeface="Arial"/>
              </a:defRPr>
            </a:lvl7pPr>
            <a:lvl8pPr>
              <a:defRPr sz="1050" b="0">
                <a:solidFill>
                  <a:srgbClr val="A7C0BA"/>
                </a:solidFill>
                <a:latin typeface="Arial"/>
                <a:ea typeface="Arial"/>
                <a:cs typeface="Arial"/>
              </a:defRPr>
            </a:lvl8pPr>
            <a:lvl9pPr>
              <a:defRPr sz="1050" b="0">
                <a:solidFill>
                  <a:srgbClr val="A7C0BA"/>
                </a:solidFill>
                <a:latin typeface="Arial"/>
                <a:ea typeface="Arial"/>
                <a:cs typeface="Arial"/>
              </a:defRPr>
            </a:lvl9pPr>
          </a:lstStyle>
          <a:p xmlns:a="http://schemas.openxmlformats.org/drawingml/2006/main">
            <a:pPr>
              <a:defRPr sz="1050" b="0">
                <a:solidFill>
                  <a:srgbClr val="A7C0BA"/>
                </a:solidFill>
                <a:latin typeface="Arial"/>
                <a:ea typeface="Arial"/>
                <a:cs typeface="Arial"/>
              </a:defRPr>
            </a:pPr>
            <a:r>
              <a:rPr sz="1050" b="0">
                <a:solidFill>
                  <a:srgbClr val="A7C0BA"/>
                </a:solidFill>
                <a:latin typeface="Arial"/>
                <a:ea typeface="Arial"/>
                <a:cs typeface="Arial"/>
              </a:rPr>
              <a:t>Measured revision 3 · 20 October 2026</a:t>
            </a:r>
          </a:p>
        </p:txBody>
      </p:sp>
      <p:sp>
        <p:nvSpPr>
          <p:cNvPr id="4" name="">
            <a:extLst xmlns:a="http://schemas.openxmlformats.org/drawingml/2006/main">
              <a:ext uri="{FF2B5EF4-FFF2-40B4-BE49-F238E27FC236}">
                <a16:creationId xmlns:a16="http://schemas.microsoft.com/office/drawing/2014/main" id="{5E7B9B64-CB30-4F92-AA7E-391CB9B2F4F2}"/>
              </a:ext>
            </a:extLst>
          </p:cNvPr>
          <p:cNvSpPr>
            <a:spLocks xmlns:a="http://schemas.openxmlformats.org/drawingml/2006/main" noGrp="1"/>
          </p:cNvSpPr>
          <p:nvPr/>
        </p:nvSpPr>
        <p:spPr>
          <a:xfrm xmlns:a="http://schemas.openxmlformats.org/drawingml/2006/main">
            <a:off x="647700" y="933450"/>
            <a:ext cx="10810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200" b="1">
                <a:solidFill>
                  <a:srgbClr val="FFFFFF"/>
                </a:solidFill>
                <a:latin typeface="Arial"/>
                <a:ea typeface="Arial"/>
                <a:cs typeface="Arial"/>
              </a:defRPr>
            </a:defPPr>
            <a:lvl1pPr>
              <a:defRPr sz="7200" b="1">
                <a:solidFill>
                  <a:srgbClr val="FFFFFF"/>
                </a:solidFill>
                <a:latin typeface="Arial"/>
                <a:ea typeface="Arial"/>
                <a:cs typeface="Arial"/>
              </a:defRPr>
            </a:lvl1pPr>
            <a:lvl2pPr>
              <a:defRPr sz="7200" b="1">
                <a:solidFill>
                  <a:srgbClr val="FFFFFF"/>
                </a:solidFill>
                <a:latin typeface="Arial"/>
                <a:ea typeface="Arial"/>
                <a:cs typeface="Arial"/>
              </a:defRPr>
            </a:lvl2pPr>
            <a:lvl3pPr>
              <a:defRPr sz="7200" b="1">
                <a:solidFill>
                  <a:srgbClr val="FFFFFF"/>
                </a:solidFill>
                <a:latin typeface="Arial"/>
                <a:ea typeface="Arial"/>
                <a:cs typeface="Arial"/>
              </a:defRPr>
            </a:lvl3pPr>
            <a:lvl4pPr>
              <a:defRPr sz="7200" b="1">
                <a:solidFill>
                  <a:srgbClr val="FFFFFF"/>
                </a:solidFill>
                <a:latin typeface="Arial"/>
                <a:ea typeface="Arial"/>
                <a:cs typeface="Arial"/>
              </a:defRPr>
            </a:lvl4pPr>
            <a:lvl5pPr>
              <a:defRPr sz="7200" b="1">
                <a:solidFill>
                  <a:srgbClr val="FFFFFF"/>
                </a:solidFill>
                <a:latin typeface="Arial"/>
                <a:ea typeface="Arial"/>
                <a:cs typeface="Arial"/>
              </a:defRPr>
            </a:lvl5pPr>
            <a:lvl6pPr>
              <a:defRPr sz="7200" b="1">
                <a:solidFill>
                  <a:srgbClr val="FFFFFF"/>
                </a:solidFill>
                <a:latin typeface="Arial"/>
                <a:ea typeface="Arial"/>
                <a:cs typeface="Arial"/>
              </a:defRPr>
            </a:lvl6pPr>
            <a:lvl7pPr>
              <a:defRPr sz="7200" b="1">
                <a:solidFill>
                  <a:srgbClr val="FFFFFF"/>
                </a:solidFill>
                <a:latin typeface="Arial"/>
                <a:ea typeface="Arial"/>
                <a:cs typeface="Arial"/>
              </a:defRPr>
            </a:lvl7pPr>
            <a:lvl8pPr>
              <a:defRPr sz="7200" b="1">
                <a:solidFill>
                  <a:srgbClr val="FFFFFF"/>
                </a:solidFill>
                <a:latin typeface="Arial"/>
                <a:ea typeface="Arial"/>
                <a:cs typeface="Arial"/>
              </a:defRPr>
            </a:lvl8pPr>
            <a:lvl9pPr>
              <a:defRPr sz="7200" b="1">
                <a:solidFill>
                  <a:srgbClr val="FFFFFF"/>
                </a:solidFill>
                <a:latin typeface="Arial"/>
                <a:ea typeface="Arial"/>
                <a:cs typeface="Arial"/>
              </a:defRPr>
            </a:lvl9pPr>
          </a:lstStyle>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SELF-X</a:t>
            </a:r>
          </a:p>
        </p:txBody>
      </p:sp>
      <p:sp>
        <p:nvSpPr>
          <p:cNvPr id="5" name="">
            <a:extLst xmlns:a="http://schemas.openxmlformats.org/drawingml/2006/main">
              <a:ext uri="{FF2B5EF4-FFF2-40B4-BE49-F238E27FC236}">
                <a16:creationId xmlns:a16="http://schemas.microsoft.com/office/drawing/2014/main" id="{996F4188-F35F-4D11-8214-C459F5410365}"/>
              </a:ext>
            </a:extLst>
          </p:cNvPr>
          <p:cNvSpPr>
            <a:spLocks xmlns:a="http://schemas.openxmlformats.org/drawingml/2006/main" noGrp="1"/>
          </p:cNvSpPr>
          <p:nvPr/>
        </p:nvSpPr>
        <p:spPr>
          <a:xfrm xmlns:a="http://schemas.openxmlformats.org/drawingml/2006/main">
            <a:off x="685800" y="25717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0">
                <a:solidFill>
                  <a:srgbClr val="FFFFFF"/>
                </a:solidFill>
                <a:latin typeface="Arial"/>
                <a:ea typeface="Arial"/>
                <a:cs typeface="Arial"/>
              </a:defRPr>
            </a:defPPr>
            <a:lvl1pPr>
              <a:defRPr sz="3675" b="0">
                <a:solidFill>
                  <a:srgbClr val="FFFFFF"/>
                </a:solidFill>
                <a:latin typeface="Arial"/>
                <a:ea typeface="Arial"/>
                <a:cs typeface="Arial"/>
              </a:defRPr>
            </a:lvl1pPr>
            <a:lvl2pPr>
              <a:defRPr sz="3675" b="0">
                <a:solidFill>
                  <a:srgbClr val="FFFFFF"/>
                </a:solidFill>
                <a:latin typeface="Arial"/>
                <a:ea typeface="Arial"/>
                <a:cs typeface="Arial"/>
              </a:defRPr>
            </a:lvl2pPr>
            <a:lvl3pPr>
              <a:defRPr sz="3675" b="0">
                <a:solidFill>
                  <a:srgbClr val="FFFFFF"/>
                </a:solidFill>
                <a:latin typeface="Arial"/>
                <a:ea typeface="Arial"/>
                <a:cs typeface="Arial"/>
              </a:defRPr>
            </a:lvl3pPr>
            <a:lvl4pPr>
              <a:defRPr sz="3675" b="0">
                <a:solidFill>
                  <a:srgbClr val="FFFFFF"/>
                </a:solidFill>
                <a:latin typeface="Arial"/>
                <a:ea typeface="Arial"/>
                <a:cs typeface="Arial"/>
              </a:defRPr>
            </a:lvl4pPr>
            <a:lvl5pPr>
              <a:defRPr sz="3675" b="0">
                <a:solidFill>
                  <a:srgbClr val="FFFFFF"/>
                </a:solidFill>
                <a:latin typeface="Arial"/>
                <a:ea typeface="Arial"/>
                <a:cs typeface="Arial"/>
              </a:defRPr>
            </a:lvl5pPr>
            <a:lvl6pPr>
              <a:defRPr sz="3675" b="0">
                <a:solidFill>
                  <a:srgbClr val="FFFFFF"/>
                </a:solidFill>
                <a:latin typeface="Arial"/>
                <a:ea typeface="Arial"/>
                <a:cs typeface="Arial"/>
              </a:defRPr>
            </a:lvl6pPr>
            <a:lvl7pPr>
              <a:defRPr sz="3675" b="0">
                <a:solidFill>
                  <a:srgbClr val="FFFFFF"/>
                </a:solidFill>
                <a:latin typeface="Arial"/>
                <a:ea typeface="Arial"/>
                <a:cs typeface="Arial"/>
              </a:defRPr>
            </a:lvl7pPr>
            <a:lvl8pPr>
              <a:defRPr sz="3675" b="0">
                <a:solidFill>
                  <a:srgbClr val="FFFFFF"/>
                </a:solidFill>
                <a:latin typeface="Arial"/>
                <a:ea typeface="Arial"/>
                <a:cs typeface="Arial"/>
              </a:defRPr>
            </a:lvl8pPr>
            <a:lvl9pPr>
              <a:defRPr sz="3675" b="0">
                <a:solidFill>
                  <a:srgbClr val="FFFFFF"/>
                </a:solidFill>
                <a:latin typeface="Arial"/>
                <a:ea typeface="Arial"/>
                <a:cs typeface="Arial"/>
              </a:defRPr>
            </a:lvl9pPr>
          </a:lstStyle>
          <a:p xmlns:a="http://schemas.openxmlformats.org/drawingml/2006/main">
            <a:pPr>
              <a:defRPr sz="3675" b="0">
                <a:solidFill>
                  <a:srgbClr val="FFFFFF"/>
                </a:solidFill>
                <a:latin typeface="Arial"/>
                <a:ea typeface="Arial"/>
                <a:cs typeface="Arial"/>
              </a:defRPr>
            </a:pPr>
            <a:r>
              <a:rPr sz="3675" b="0">
                <a:solidFill>
                  <a:srgbClr val="FFFFFF"/>
                </a:solidFill>
                <a:latin typeface="Arial"/>
                <a:ea typeface="Arial"/>
                <a:cs typeface="Arial"/>
              </a:rPr>
              <a:t>Adaptive episodic memory</a:t>
            </a:r>
          </a:p>
          <a:p xmlns:a="http://schemas.openxmlformats.org/drawingml/2006/main">
            <a:pPr>
              <a:defRPr sz="3675" b="0">
                <a:solidFill>
                  <a:srgbClr val="FFFFFF"/>
                </a:solidFill>
                <a:latin typeface="Arial"/>
                <a:ea typeface="Arial"/>
                <a:cs typeface="Arial"/>
              </a:defRPr>
            </a:pPr>
            <a:r>
              <a:rPr sz="3675" b="0">
                <a:solidFill>
                  <a:srgbClr val="FFFFFF"/>
                </a:solidFill>
                <a:latin typeface="Arial"/>
                <a:ea typeface="Arial"/>
                <a:cs typeface="Arial"/>
              </a:rPr>
              <a:t>and lower API control delay</a:t>
            </a:r>
          </a:p>
        </p:txBody>
      </p:sp>
      <p:sp>
        <p:nvSpPr>
          <p:cNvPr id="6" name="">
            <a:extLst xmlns:a="http://schemas.openxmlformats.org/drawingml/2006/main">
              <a:ext uri="{FF2B5EF4-FFF2-40B4-BE49-F238E27FC236}">
                <a16:creationId xmlns:a16="http://schemas.microsoft.com/office/drawing/2014/main" id="{4DC042DB-D663-4925-8A61-A754A6EA11E1}"/>
              </a:ext>
            </a:extLst>
          </p:cNvPr>
          <p:cNvSpPr>
            <a:spLocks xmlns:a="http://schemas.openxmlformats.org/drawingml/2006/main" noGrp="1"/>
          </p:cNvSpPr>
          <p:nvPr/>
        </p:nvSpPr>
        <p:spPr>
          <a:xfrm xmlns:a="http://schemas.openxmlformats.org/drawingml/2006/main">
            <a:off x="704850" y="4838700"/>
            <a:ext cx="1062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B7D6CD"/>
                </a:solidFill>
                <a:latin typeface="Arial"/>
                <a:ea typeface="Arial"/>
                <a:cs typeface="Arial"/>
              </a:defRPr>
            </a:defPPr>
            <a:lvl1pPr>
              <a:defRPr sz="2175" b="0">
                <a:solidFill>
                  <a:srgbClr val="B7D6CD"/>
                </a:solidFill>
                <a:latin typeface="Arial"/>
                <a:ea typeface="Arial"/>
                <a:cs typeface="Arial"/>
              </a:defRPr>
            </a:lvl1pPr>
            <a:lvl2pPr>
              <a:defRPr sz="2175" b="0">
                <a:solidFill>
                  <a:srgbClr val="B7D6CD"/>
                </a:solidFill>
                <a:latin typeface="Arial"/>
                <a:ea typeface="Arial"/>
                <a:cs typeface="Arial"/>
              </a:defRPr>
            </a:lvl2pPr>
            <a:lvl3pPr>
              <a:defRPr sz="2175" b="0">
                <a:solidFill>
                  <a:srgbClr val="B7D6CD"/>
                </a:solidFill>
                <a:latin typeface="Arial"/>
                <a:ea typeface="Arial"/>
                <a:cs typeface="Arial"/>
              </a:defRPr>
            </a:lvl3pPr>
            <a:lvl4pPr>
              <a:defRPr sz="2175" b="0">
                <a:solidFill>
                  <a:srgbClr val="B7D6CD"/>
                </a:solidFill>
                <a:latin typeface="Arial"/>
                <a:ea typeface="Arial"/>
                <a:cs typeface="Arial"/>
              </a:defRPr>
            </a:lvl4pPr>
            <a:lvl5pPr>
              <a:defRPr sz="2175" b="0">
                <a:solidFill>
                  <a:srgbClr val="B7D6CD"/>
                </a:solidFill>
                <a:latin typeface="Arial"/>
                <a:ea typeface="Arial"/>
                <a:cs typeface="Arial"/>
              </a:defRPr>
            </a:lvl5pPr>
            <a:lvl6pPr>
              <a:defRPr sz="2175" b="0">
                <a:solidFill>
                  <a:srgbClr val="B7D6CD"/>
                </a:solidFill>
                <a:latin typeface="Arial"/>
                <a:ea typeface="Arial"/>
                <a:cs typeface="Arial"/>
              </a:defRPr>
            </a:lvl6pPr>
            <a:lvl7pPr>
              <a:defRPr sz="2175" b="0">
                <a:solidFill>
                  <a:srgbClr val="B7D6CD"/>
                </a:solidFill>
                <a:latin typeface="Arial"/>
                <a:ea typeface="Arial"/>
                <a:cs typeface="Arial"/>
              </a:defRPr>
            </a:lvl7pPr>
            <a:lvl8pPr>
              <a:defRPr sz="2175" b="0">
                <a:solidFill>
                  <a:srgbClr val="B7D6CD"/>
                </a:solidFill>
                <a:latin typeface="Arial"/>
                <a:ea typeface="Arial"/>
                <a:cs typeface="Arial"/>
              </a:defRPr>
            </a:lvl8pPr>
            <a:lvl9pPr>
              <a:defRPr sz="2175" b="0">
                <a:solidFill>
                  <a:srgbClr val="B7D6CD"/>
                </a:solidFill>
                <a:latin typeface="Arial"/>
                <a:ea typeface="Arial"/>
                <a:cs typeface="Arial"/>
              </a:defRPr>
            </a:lvl9pPr>
          </a:lstStyle>
          <a:p xmlns:a="http://schemas.openxmlformats.org/drawingml/2006/main">
            <a:pPr>
              <a:defRPr sz="2175" b="0">
                <a:solidFill>
                  <a:srgbClr val="B7D6CD"/>
                </a:solidFill>
                <a:latin typeface="Arial"/>
                <a:ea typeface="Arial"/>
                <a:cs typeface="Arial"/>
              </a:defRPr>
            </a:pPr>
            <a:r>
              <a:rPr sz="2175" b="0">
                <a:solidFill>
                  <a:srgbClr val="B7D6CD"/>
                </a:solidFill>
                <a:latin typeface="Arial"/>
                <a:ea typeface="Arial"/>
                <a:cs typeface="Arial"/>
              </a:rPr>
              <a:t>Generated traffic · Paired benchmarks · Real provider requests</a:t>
            </a:r>
          </a:p>
        </p:txBody>
      </p:sp>
    </p:spTree>
    <p:extLst>
      <p:ext uri="{BB962C8B-B14F-4D97-AF65-F5344CB8AC3E}">
        <p14:creationId xmlns:p14="http://schemas.microsoft.com/office/powerpoint/2010/main" val="104648199"/>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2D45DBFA-CB9B-4436-BA06-770344F6B9DF}"/>
              </a:ext>
            </a:extLst>
          </p:cNvPr>
          <p:cNvCxnSpPr>
            <a:stCxn xmlns:a="http://schemas.openxmlformats.org/drawingml/2006/main" id="15" idx="3"/>
            <a:endCxn xmlns:a="http://schemas.openxmlformats.org/drawingml/2006/main" id="16" idx="1"/>
          </p:cNvCxnSpPr>
          <p:nvPr/>
        </p:nvCxnSpPr>
        <p:spPr>
          <a:xfrm xmlns:a="http://schemas.openxmlformats.org/drawingml/2006/main">
            <a:off x="7620000" y="4867275"/>
            <a:ext cx="666750" cy="0"/>
          </a:xfrm>
          <a:prstGeom xmlns:a="http://schemas.openxmlformats.org/drawingml/2006/main" prst="straightConnector1">
            <a:avLst/>
          </a:prstGeom>
          <a:ln xmlns:a="http://schemas.openxmlformats.org/drawingml/2006/main" w="16193">
            <a:solidFill>
              <a:srgbClr val="007D76"/>
            </a:solidFill>
          </a:ln>
        </p:spPr>
      </p:cxnSp>
      <p:cxnSp>
        <p:nvCxnSpPr>
          <p:cNvPr id="3" name="">
            <a:extLst xmlns:a="http://schemas.openxmlformats.org/drawingml/2006/main">
              <a:ext uri="{FF2B5EF4-FFF2-40B4-BE49-F238E27FC236}">
                <a16:creationId xmlns:a16="http://schemas.microsoft.com/office/drawing/2014/main" id="{284EB31A-B8B6-4F9C-B250-8984EE846347}"/>
              </a:ext>
            </a:extLst>
          </p:cNvPr>
          <p:cNvCxnSpPr>
            <a:stCxn xmlns:a="http://schemas.openxmlformats.org/drawingml/2006/main" id="14" idx="3"/>
            <a:endCxn xmlns:a="http://schemas.openxmlformats.org/drawingml/2006/main" id="15" idx="1"/>
          </p:cNvCxnSpPr>
          <p:nvPr/>
        </p:nvCxnSpPr>
        <p:spPr>
          <a:xfrm xmlns:a="http://schemas.openxmlformats.org/drawingml/2006/main">
            <a:off x="3810000" y="4867275"/>
            <a:ext cx="666750" cy="0"/>
          </a:xfrm>
          <a:prstGeom xmlns:a="http://schemas.openxmlformats.org/drawingml/2006/main" prst="straightConnector1">
            <a:avLst/>
          </a:prstGeom>
          <a:ln xmlns:a="http://schemas.openxmlformats.org/drawingml/2006/main" w="16193">
            <a:solidFill>
              <a:srgbClr val="007D76"/>
            </a:solidFill>
          </a:ln>
        </p:spPr>
      </p:cxnSp>
      <p:cxnSp>
        <p:nvCxnSpPr>
          <p:cNvPr id="4" name="">
            <a:extLst xmlns:a="http://schemas.openxmlformats.org/drawingml/2006/main">
              <a:ext uri="{FF2B5EF4-FFF2-40B4-BE49-F238E27FC236}">
                <a16:creationId xmlns:a16="http://schemas.microsoft.com/office/drawing/2014/main" id="{E66A9B88-2F45-49C5-94A3-FAE087EFD2E8}"/>
              </a:ext>
            </a:extLst>
          </p:cNvPr>
          <p:cNvCxnSpPr>
            <a:stCxn xmlns:a="http://schemas.openxmlformats.org/drawingml/2006/main" id="13" idx="2"/>
            <a:endCxn xmlns:a="http://schemas.openxmlformats.org/drawingml/2006/main" id="14" idx="0"/>
          </p:cNvCxnSpPr>
          <p:nvPr/>
        </p:nvCxnSpPr>
        <p:spPr>
          <a:xfrm xmlns:a="http://schemas.openxmlformats.org/drawingml/2006/main" flipH="1">
            <a:off x="2238375" y="3562350"/>
            <a:ext cx="7620000" cy="914400"/>
          </a:xfrm>
          <a:prstGeom xmlns:a="http://schemas.openxmlformats.org/drawingml/2006/main" prst="bentConnector4">
            <a:avLst>
              <a:gd name="adj1" fmla="val 0"/>
              <a:gd name="adj2" fmla="val 50000"/>
            </a:avLst>
          </a:prstGeom>
          <a:ln xmlns:a="http://schemas.openxmlformats.org/drawingml/2006/main" w="16193">
            <a:solidFill>
              <a:srgbClr val="007D76"/>
            </a:solidFill>
          </a:ln>
        </p:spPr>
      </p:cxnSp>
      <p:cxnSp>
        <p:nvCxnSpPr>
          <p:cNvPr id="5" name="">
            <a:extLst xmlns:a="http://schemas.openxmlformats.org/drawingml/2006/main">
              <a:ext uri="{FF2B5EF4-FFF2-40B4-BE49-F238E27FC236}">
                <a16:creationId xmlns:a16="http://schemas.microsoft.com/office/drawing/2014/main" id="{D9838C05-67CD-4222-9196-13C156E4747F}"/>
              </a:ext>
            </a:extLst>
          </p:cNvPr>
          <p:cNvCxnSpPr>
            <a:stCxn xmlns:a="http://schemas.openxmlformats.org/drawingml/2006/main" id="12" idx="3"/>
            <a:endCxn xmlns:a="http://schemas.openxmlformats.org/drawingml/2006/main" id="13" idx="1"/>
          </p:cNvCxnSpPr>
          <p:nvPr/>
        </p:nvCxnSpPr>
        <p:spPr>
          <a:xfrm xmlns:a="http://schemas.openxmlformats.org/drawingml/2006/main">
            <a:off x="7620000" y="3171825"/>
            <a:ext cx="666750" cy="0"/>
          </a:xfrm>
          <a:prstGeom xmlns:a="http://schemas.openxmlformats.org/drawingml/2006/main" prst="straightConnector1">
            <a:avLst/>
          </a:prstGeom>
          <a:ln xmlns:a="http://schemas.openxmlformats.org/drawingml/2006/main" w="16193">
            <a:solidFill>
              <a:srgbClr val="007D76"/>
            </a:solidFill>
          </a:ln>
        </p:spPr>
      </p:cxnSp>
      <p:cxnSp>
        <p:nvCxnSpPr>
          <p:cNvPr id="6" name="">
            <a:extLst xmlns:a="http://schemas.openxmlformats.org/drawingml/2006/main">
              <a:ext uri="{FF2B5EF4-FFF2-40B4-BE49-F238E27FC236}">
                <a16:creationId xmlns:a16="http://schemas.microsoft.com/office/drawing/2014/main" id="{834C5467-EB1C-4BC7-A9E5-D7B089C4E720}"/>
              </a:ext>
            </a:extLst>
          </p:cNvPr>
          <p:cNvCxnSpPr>
            <a:stCxn xmlns:a="http://schemas.openxmlformats.org/drawingml/2006/main" id="11" idx="3"/>
            <a:endCxn xmlns:a="http://schemas.openxmlformats.org/drawingml/2006/main" id="12" idx="1"/>
          </p:cNvCxnSpPr>
          <p:nvPr/>
        </p:nvCxnSpPr>
        <p:spPr>
          <a:xfrm xmlns:a="http://schemas.openxmlformats.org/drawingml/2006/main">
            <a:off x="3810000" y="3171825"/>
            <a:ext cx="666750" cy="0"/>
          </a:xfrm>
          <a:prstGeom xmlns:a="http://schemas.openxmlformats.org/drawingml/2006/main" prst="straightConnector1">
            <a:avLst/>
          </a:prstGeom>
          <a:ln xmlns:a="http://schemas.openxmlformats.org/drawingml/2006/main" w="16193">
            <a:solidFill>
              <a:srgbClr val="007D76"/>
            </a:solidFill>
          </a:ln>
        </p:spPr>
      </p:cxnSp>
      <p:sp>
        <p:nvSpPr>
          <p:cNvPr id="7" name="">
            <a:extLst xmlns:a="http://schemas.openxmlformats.org/drawingml/2006/main">
              <a:ext uri="{FF2B5EF4-FFF2-40B4-BE49-F238E27FC236}">
                <a16:creationId xmlns:a16="http://schemas.microsoft.com/office/drawing/2014/main" id="{17E7C319-76F3-4130-8CAF-7EA194D5C617}"/>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Project goal and control architecture</a:t>
            </a:r>
          </a:p>
        </p:txBody>
      </p:sp>
      <p:sp>
        <p:nvSpPr>
          <p:cNvPr id="8" name="">
            <a:extLst xmlns:a="http://schemas.openxmlformats.org/drawingml/2006/main">
              <a:ext uri="{FF2B5EF4-FFF2-40B4-BE49-F238E27FC236}">
                <a16:creationId xmlns:a16="http://schemas.microsoft.com/office/drawing/2014/main" id="{5852C177-F9F6-4226-9BC2-1E4D7083755B}"/>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02 / SELF-X</a:t>
            </a:r>
          </a:p>
        </p:txBody>
      </p:sp>
      <p:sp>
        <p:nvSpPr>
          <p:cNvPr id="9" name="">
            <a:extLst xmlns:a="http://schemas.openxmlformats.org/drawingml/2006/main">
              <a:ext uri="{FF2B5EF4-FFF2-40B4-BE49-F238E27FC236}">
                <a16:creationId xmlns:a16="http://schemas.microsoft.com/office/drawing/2014/main" id="{3DE56137-423F-430E-98F9-D4253DEA4475}"/>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Source: saved v3 CSV, JSON and provider audits; network values are simulated</a:t>
            </a:r>
          </a:p>
        </p:txBody>
      </p:sp>
      <p:sp>
        <p:nvSpPr>
          <p:cNvPr id="10" name="">
            <a:extLst xmlns:a="http://schemas.openxmlformats.org/drawingml/2006/main">
              <a:ext uri="{FF2B5EF4-FFF2-40B4-BE49-F238E27FC236}">
                <a16:creationId xmlns:a16="http://schemas.microsoft.com/office/drawing/2014/main" id="{A09EE8C5-77AB-4591-BDB1-9DBA9412E387}"/>
              </a:ext>
            </a:extLst>
          </p:cNvPr>
          <p:cNvSpPr>
            <a:spLocks xmlns:a="http://schemas.openxmlformats.org/drawingml/2006/main" noGrp="1"/>
          </p:cNvSpPr>
          <p:nvPr/>
        </p:nvSpPr>
        <p:spPr>
          <a:xfrm xmlns:a="http://schemas.openxmlformats.org/drawingml/2006/main">
            <a:off x="647700" y="15240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007D76"/>
                </a:solidFill>
                <a:latin typeface="Arial"/>
                <a:ea typeface="Arial"/>
                <a:cs typeface="Arial"/>
              </a:defRPr>
            </a:defPPr>
            <a:lvl1pPr>
              <a:defRPr sz="2475" b="0">
                <a:solidFill>
                  <a:srgbClr val="007D76"/>
                </a:solidFill>
                <a:latin typeface="Arial"/>
                <a:ea typeface="Arial"/>
                <a:cs typeface="Arial"/>
              </a:defRPr>
            </a:lvl1pPr>
            <a:lvl2pPr>
              <a:defRPr sz="2475" b="0">
                <a:solidFill>
                  <a:srgbClr val="007D76"/>
                </a:solidFill>
                <a:latin typeface="Arial"/>
                <a:ea typeface="Arial"/>
                <a:cs typeface="Arial"/>
              </a:defRPr>
            </a:lvl2pPr>
            <a:lvl3pPr>
              <a:defRPr sz="2475" b="0">
                <a:solidFill>
                  <a:srgbClr val="007D76"/>
                </a:solidFill>
                <a:latin typeface="Arial"/>
                <a:ea typeface="Arial"/>
                <a:cs typeface="Arial"/>
              </a:defRPr>
            </a:lvl3pPr>
            <a:lvl4pPr>
              <a:defRPr sz="2475" b="0">
                <a:solidFill>
                  <a:srgbClr val="007D76"/>
                </a:solidFill>
                <a:latin typeface="Arial"/>
                <a:ea typeface="Arial"/>
                <a:cs typeface="Arial"/>
              </a:defRPr>
            </a:lvl4pPr>
            <a:lvl5pPr>
              <a:defRPr sz="2475" b="0">
                <a:solidFill>
                  <a:srgbClr val="007D76"/>
                </a:solidFill>
                <a:latin typeface="Arial"/>
                <a:ea typeface="Arial"/>
                <a:cs typeface="Arial"/>
              </a:defRPr>
            </a:lvl5pPr>
            <a:lvl6pPr>
              <a:defRPr sz="2475" b="0">
                <a:solidFill>
                  <a:srgbClr val="007D76"/>
                </a:solidFill>
                <a:latin typeface="Arial"/>
                <a:ea typeface="Arial"/>
                <a:cs typeface="Arial"/>
              </a:defRPr>
            </a:lvl6pPr>
            <a:lvl7pPr>
              <a:defRPr sz="2475" b="0">
                <a:solidFill>
                  <a:srgbClr val="007D76"/>
                </a:solidFill>
                <a:latin typeface="Arial"/>
                <a:ea typeface="Arial"/>
                <a:cs typeface="Arial"/>
              </a:defRPr>
            </a:lvl7pPr>
            <a:lvl8pPr>
              <a:defRPr sz="2475" b="0">
                <a:solidFill>
                  <a:srgbClr val="007D76"/>
                </a:solidFill>
                <a:latin typeface="Arial"/>
                <a:ea typeface="Arial"/>
                <a:cs typeface="Arial"/>
              </a:defRPr>
            </a:lvl8pPr>
            <a:lvl9pPr>
              <a:defRPr sz="2475" b="0">
                <a:solidFill>
                  <a:srgbClr val="007D76"/>
                </a:solidFill>
                <a:latin typeface="Arial"/>
                <a:ea typeface="Arial"/>
                <a:cs typeface="Arial"/>
              </a:defRPr>
            </a:lvl9pPr>
          </a:lstStyle>
          <a:p xmlns:a="http://schemas.openxmlformats.org/drawingml/2006/main">
            <a:pPr>
              <a:defRPr sz="2475" b="0">
                <a:solidFill>
                  <a:srgbClr val="007D76"/>
                </a:solidFill>
                <a:latin typeface="Arial"/>
                <a:ea typeface="Arial"/>
                <a:cs typeface="Arial"/>
              </a:defRPr>
            </a:pPr>
            <a:r>
              <a:rPr sz="2475" b="0">
                <a:solidFill>
                  <a:srgbClr val="007D76"/>
                </a:solidFill>
                <a:latin typeface="Arial"/>
                <a:ea typeface="Arial"/>
                <a:cs typeface="Arial"/>
              </a:rPr>
              <a:t>Reuse earlier local experience to choose a bounded flow intervention</a:t>
            </a:r>
          </a:p>
        </p:txBody>
      </p:sp>
      <p:sp>
        <p:nvSpPr>
          <p:cNvPr id="11" name="">
            <a:extLst xmlns:a="http://schemas.openxmlformats.org/drawingml/2006/main">
              <a:ext uri="{FF2B5EF4-FFF2-40B4-BE49-F238E27FC236}">
                <a16:creationId xmlns:a16="http://schemas.microsoft.com/office/drawing/2014/main" id="{10F5B4D4-4DD3-455B-AF0C-8B25BEB8B3BD}"/>
              </a:ext>
            </a:extLst>
          </p:cNvPr>
          <p:cNvSpPr>
            <a:spLocks xmlns:a="http://schemas.openxmlformats.org/drawingml/2006/main" noGrp="1"/>
          </p:cNvSpPr>
          <p:nvPr/>
        </p:nvSpPr>
        <p:spPr>
          <a:xfrm xmlns:a="http://schemas.openxmlformats.org/drawingml/2006/main">
            <a:off x="666750" y="278130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Observe</a:t>
            </a:r>
          </a:p>
        </p:txBody>
      </p:sp>
      <p:sp>
        <p:nvSpPr>
          <p:cNvPr id="12" name="">
            <a:extLst xmlns:a="http://schemas.openxmlformats.org/drawingml/2006/main">
              <a:ext uri="{FF2B5EF4-FFF2-40B4-BE49-F238E27FC236}">
                <a16:creationId xmlns:a16="http://schemas.microsoft.com/office/drawing/2014/main" id="{E07CDB99-4101-4C91-9CA5-A070883103C8}"/>
              </a:ext>
            </a:extLst>
          </p:cNvPr>
          <p:cNvSpPr>
            <a:spLocks xmlns:a="http://schemas.openxmlformats.org/drawingml/2006/main" noGrp="1"/>
          </p:cNvSpPr>
          <p:nvPr/>
        </p:nvSpPr>
        <p:spPr>
          <a:xfrm xmlns:a="http://schemas.openxmlformats.org/drawingml/2006/main">
            <a:off x="4476750" y="278130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Retrieve</a:t>
            </a:r>
          </a:p>
        </p:txBody>
      </p:sp>
      <p:sp>
        <p:nvSpPr>
          <p:cNvPr id="13" name="">
            <a:extLst xmlns:a="http://schemas.openxmlformats.org/drawingml/2006/main">
              <a:ext uri="{FF2B5EF4-FFF2-40B4-BE49-F238E27FC236}">
                <a16:creationId xmlns:a16="http://schemas.microsoft.com/office/drawing/2014/main" id="{8FF30157-DBEC-4E2F-83AD-32DD4CF9F9C9}"/>
              </a:ext>
            </a:extLst>
          </p:cNvPr>
          <p:cNvSpPr>
            <a:spLocks xmlns:a="http://schemas.openxmlformats.org/drawingml/2006/main" noGrp="1"/>
          </p:cNvSpPr>
          <p:nvPr/>
        </p:nvSpPr>
        <p:spPr>
          <a:xfrm xmlns:a="http://schemas.openxmlformats.org/drawingml/2006/main">
            <a:off x="8286750" y="278130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Decide</a:t>
            </a:r>
          </a:p>
        </p:txBody>
      </p:sp>
      <p:sp>
        <p:nvSpPr>
          <p:cNvPr id="14" name="">
            <a:extLst xmlns:a="http://schemas.openxmlformats.org/drawingml/2006/main">
              <a:ext uri="{FF2B5EF4-FFF2-40B4-BE49-F238E27FC236}">
                <a16:creationId xmlns:a16="http://schemas.microsoft.com/office/drawing/2014/main" id="{341B0D4A-1978-4634-9C7F-2841E941CF3C}"/>
              </a:ext>
            </a:extLst>
          </p:cNvPr>
          <p:cNvSpPr>
            <a:spLocks xmlns:a="http://schemas.openxmlformats.org/drawingml/2006/main" noGrp="1"/>
          </p:cNvSpPr>
          <p:nvPr/>
        </p:nvSpPr>
        <p:spPr>
          <a:xfrm xmlns:a="http://schemas.openxmlformats.org/drawingml/2006/main">
            <a:off x="666750" y="447675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Validate</a:t>
            </a:r>
          </a:p>
        </p:txBody>
      </p:sp>
      <p:sp>
        <p:nvSpPr>
          <p:cNvPr id="15" name="">
            <a:extLst xmlns:a="http://schemas.openxmlformats.org/drawingml/2006/main">
              <a:ext uri="{FF2B5EF4-FFF2-40B4-BE49-F238E27FC236}">
                <a16:creationId xmlns:a16="http://schemas.microsoft.com/office/drawing/2014/main" id="{7938B179-E424-49E0-9BF6-C518ED6038BF}"/>
              </a:ext>
            </a:extLst>
          </p:cNvPr>
          <p:cNvSpPr>
            <a:spLocks xmlns:a="http://schemas.openxmlformats.org/drawingml/2006/main" noGrp="1"/>
          </p:cNvSpPr>
          <p:nvPr/>
        </p:nvSpPr>
        <p:spPr>
          <a:xfrm xmlns:a="http://schemas.openxmlformats.org/drawingml/2006/main">
            <a:off x="4476750" y="447675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Measure</a:t>
            </a:r>
          </a:p>
        </p:txBody>
      </p:sp>
      <p:sp>
        <p:nvSpPr>
          <p:cNvPr id="16" name="">
            <a:extLst xmlns:a="http://schemas.openxmlformats.org/drawingml/2006/main">
              <a:ext uri="{FF2B5EF4-FFF2-40B4-BE49-F238E27FC236}">
                <a16:creationId xmlns:a16="http://schemas.microsoft.com/office/drawing/2014/main" id="{11219C17-5D6E-4DEB-8361-813CDFD33EF4}"/>
              </a:ext>
            </a:extLst>
          </p:cNvPr>
          <p:cNvSpPr>
            <a:spLocks xmlns:a="http://schemas.openxmlformats.org/drawingml/2006/main" noGrp="1"/>
          </p:cNvSpPr>
          <p:nvPr/>
        </p:nvSpPr>
        <p:spPr>
          <a:xfrm xmlns:a="http://schemas.openxmlformats.org/drawingml/2006/main">
            <a:off x="8286750" y="4476750"/>
            <a:ext cx="3143250" cy="781050"/>
          </a:xfrm>
          <a:prstGeom xmlns:a="http://schemas.openxmlformats.org/drawingml/2006/main" prst="rect">
            <a:avLst/>
          </a:prstGeom>
          <a:solidFill xmlns:a="http://schemas.openxmlformats.org/drawingml/2006/main">
            <a:srgbClr val="E8F0E9"/>
          </a:solidFill>
          <a:ln xmlns:a="http://schemas.openxmlformats.org/drawingml/2006/main" w="14288">
            <a:solidFill>
              <a:srgbClr val="007D76"/>
            </a:solidFill>
          </a:ln>
        </p:spPr>
        <p:txBody>
          <a:bodyPr xmlns:a="http://schemas.openxmlformats.org/drawingml/2006/main"/>
          <a:lstStyle xmlns:a="http://schemas.openxmlformats.org/drawingml/2006/main">
            <a:defPPr>
              <a:defRPr sz="2025" b="1">
                <a:solidFill>
                  <a:srgbClr val="102E36"/>
                </a:solidFill>
                <a:latin typeface="Arial"/>
                <a:ea typeface="Arial"/>
                <a:cs typeface="Arial"/>
              </a:defRPr>
            </a:defPPr>
            <a:lvl1pPr>
              <a:defRPr sz="2025" b="1">
                <a:solidFill>
                  <a:srgbClr val="102E36"/>
                </a:solidFill>
                <a:latin typeface="Arial"/>
                <a:ea typeface="Arial"/>
                <a:cs typeface="Arial"/>
              </a:defRPr>
            </a:lvl1pPr>
            <a:lvl2pPr>
              <a:defRPr sz="2025" b="1">
                <a:solidFill>
                  <a:srgbClr val="102E36"/>
                </a:solidFill>
                <a:latin typeface="Arial"/>
                <a:ea typeface="Arial"/>
                <a:cs typeface="Arial"/>
              </a:defRPr>
            </a:lvl2pPr>
            <a:lvl3pPr>
              <a:defRPr sz="2025" b="1">
                <a:solidFill>
                  <a:srgbClr val="102E36"/>
                </a:solidFill>
                <a:latin typeface="Arial"/>
                <a:ea typeface="Arial"/>
                <a:cs typeface="Arial"/>
              </a:defRPr>
            </a:lvl3pPr>
            <a:lvl4pPr>
              <a:defRPr sz="2025" b="1">
                <a:solidFill>
                  <a:srgbClr val="102E36"/>
                </a:solidFill>
                <a:latin typeface="Arial"/>
                <a:ea typeface="Arial"/>
                <a:cs typeface="Arial"/>
              </a:defRPr>
            </a:lvl4pPr>
            <a:lvl5pPr>
              <a:defRPr sz="2025" b="1">
                <a:solidFill>
                  <a:srgbClr val="102E36"/>
                </a:solidFill>
                <a:latin typeface="Arial"/>
                <a:ea typeface="Arial"/>
                <a:cs typeface="Arial"/>
              </a:defRPr>
            </a:lvl5pPr>
            <a:lvl6pPr>
              <a:defRPr sz="2025" b="1">
                <a:solidFill>
                  <a:srgbClr val="102E36"/>
                </a:solidFill>
                <a:latin typeface="Arial"/>
                <a:ea typeface="Arial"/>
                <a:cs typeface="Arial"/>
              </a:defRPr>
            </a:lvl6pPr>
            <a:lvl7pPr>
              <a:defRPr sz="2025" b="1">
                <a:solidFill>
                  <a:srgbClr val="102E36"/>
                </a:solidFill>
                <a:latin typeface="Arial"/>
                <a:ea typeface="Arial"/>
                <a:cs typeface="Arial"/>
              </a:defRPr>
            </a:lvl7pPr>
            <a:lvl8pPr>
              <a:defRPr sz="2025" b="1">
                <a:solidFill>
                  <a:srgbClr val="102E36"/>
                </a:solidFill>
                <a:latin typeface="Arial"/>
                <a:ea typeface="Arial"/>
                <a:cs typeface="Arial"/>
              </a:defRPr>
            </a:lvl8pPr>
            <a:lvl9pPr>
              <a:defRPr sz="2025" b="1">
                <a:solidFill>
                  <a:srgbClr val="102E36"/>
                </a:solidFill>
                <a:latin typeface="Arial"/>
                <a:ea typeface="Arial"/>
                <a:cs typeface="Arial"/>
              </a:defRPr>
            </a:lvl9pPr>
          </a:lstStyle>
          <a:p xmlns:a="http://schemas.openxmlformats.org/drawingml/2006/main">
            <a:pPr>
              <a:defRPr sz="2025" b="1">
                <a:solidFill>
                  <a:srgbClr val="102E36"/>
                </a:solidFill>
                <a:latin typeface="Arial"/>
                <a:ea typeface="Arial"/>
                <a:cs typeface="Arial"/>
              </a:defRPr>
            </a:pPr>
            <a:r>
              <a:rPr sz="2025" b="1">
                <a:solidFill>
                  <a:srgbClr val="102E36"/>
                </a:solidFill>
                <a:latin typeface="Arial"/>
                <a:ea typeface="Arial"/>
                <a:cs typeface="Arial"/>
              </a:rPr>
              <a:t>Reflect</a:t>
            </a:r>
          </a:p>
        </p:txBody>
      </p:sp>
    </p:spTree>
    <p:extLst>
      <p:ext uri="{BB962C8B-B14F-4D97-AF65-F5344CB8AC3E}">
        <p14:creationId xmlns:p14="http://schemas.microsoft.com/office/powerpoint/2010/main" val="1385878500"/>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B97F7E7-FF6B-4464-A8E1-8B65763165DE}"/>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Memory retrieval changes</a:t>
            </a:r>
          </a:p>
        </p:txBody>
      </p:sp>
      <p:sp>
        <p:nvSpPr>
          <p:cNvPr id="3" name="">
            <a:extLst xmlns:a="http://schemas.openxmlformats.org/drawingml/2006/main">
              <a:ext uri="{FF2B5EF4-FFF2-40B4-BE49-F238E27FC236}">
                <a16:creationId xmlns:a16="http://schemas.microsoft.com/office/drawing/2014/main" id="{B0D8E36E-226B-4E2E-8F4C-7FB3A78B63FB}"/>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03 / SELF-X</a:t>
            </a:r>
          </a:p>
        </p:txBody>
      </p:sp>
      <p:sp>
        <p:nvSpPr>
          <p:cNvPr id="4" name="">
            <a:extLst xmlns:a="http://schemas.openxmlformats.org/drawingml/2006/main">
              <a:ext uri="{FF2B5EF4-FFF2-40B4-BE49-F238E27FC236}">
                <a16:creationId xmlns:a16="http://schemas.microsoft.com/office/drawing/2014/main" id="{C6C08547-E23D-44F1-B8A6-6C447B44E221}"/>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A4 learns only from completed earlier episodes</a:t>
            </a:r>
          </a:p>
        </p:txBody>
      </p:sp>
      <p:graphicFrame>
        <p:nvGraphicFramePr>
          <p:cNvPr id="5" name="">
            <a:extLst xmlns:a="http://schemas.openxmlformats.org/drawingml/2006/main">
              <a:ext uri="{FF2B5EF4-FFF2-40B4-BE49-F238E27FC236}">
                <a16:creationId xmlns:a16="http://schemas.microsoft.com/office/drawing/2014/main" id="{9F5D9AD1-5EE6-4B03-B9BD-5777DA7A44F3}"/>
              </a:ext>
            </a:extLst>
          </p:cNvPr>
          <p:cNvGraphicFramePr/>
          <p:nvPr/>
        </p:nvGraphicFramePr>
        <p:xfrm>
          <a:off xmlns:a="http://schemas.openxmlformats.org/drawingml/2006/main" x="609600" y="1676400"/>
          <a:ext xmlns:a="http://schemas.openxmlformats.org/drawingml/2006/main" cx="10972800" cy="3905250"/>
        </p:xfrm>
        <a:graphic xmlns:a="http://schemas.openxmlformats.org/drawingml/2006/main">
          <a:graphicData uri="http://schemas.openxmlformats.org/drawingml/2006/table">
            <a:tbl>
              <a:tblPr/>
              <a:tblGrid>
                <a:gridCol w="2238375"/>
                <a:gridCol w="3667125"/>
                <a:gridCol w="5067300"/>
              </a:tblGrid>
              <a:tr h="650875">
                <a:tc>
                  <a:txBody>
                    <a:bodyPr/>
                    <a:lstStyle/>
                    <a:p>
                      <a:r>
                        <a:rPr sz="1800" b="1">
                          <a:solidFill>
                            <a:srgbClr val="102E36"/>
                          </a:solidFill>
                          <a:latin typeface="Arial"/>
                          <a:ea typeface="Arial"/>
                          <a:cs typeface="Arial"/>
                        </a:rPr>
                        <a:t>Component</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Previous A3</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Current A4</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650875">
                <a:tc>
                  <a:txBody>
                    <a:bodyPr/>
                    <a:lstStyle/>
                    <a:p>
                      <a:r>
                        <a:rPr sz="1800">
                          <a:solidFill>
                            <a:srgbClr val="102E36"/>
                          </a:solidFill>
                          <a:latin typeface="Arial"/>
                          <a:ea typeface="Arial"/>
                          <a:cs typeface="Arial"/>
                        </a:rPr>
                        <a:t>State match</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Normalized cosine</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Magnitude and capacity margins</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Action evidence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Optimistic local reward</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Separate value per action</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Storage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30 balanced episodes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96 diverse episodes</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Support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Similar positive episodes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At least 3 matched observations</a:t>
                      </a:r>
                    </a:p>
                  </a:txBody>
                  <a:tcPr marL="95250" marR="95250" marT="57150" marB="57150">
                    <a:lnR w="9525">
                      <a:solidFill>
                        <a:srgbClr val="D9E3DF"/>
                      </a:solidFill>
                      <a:prstDash val="solid"/>
                    </a:lnR>
                    <a:lnB w="9525">
                      <a:solidFill>
                        <a:srgbClr val="D9E3DF"/>
                      </a:solidFill>
                      <a:prstDash val="solid"/>
                    </a:lnB>
                    <a:solidFill>
                      <a:srgbClr val="F6F8F3"/>
                    </a:solidFill>
                  </a:tcPr>
                </a:tc>
              </a:tr>
              <a:tr h="650875">
                <a:tc>
                  <a:txBody>
                    <a:bodyPr/>
                    <a:lstStyle/>
                    <a:p>
                      <a:r>
                        <a:rPr sz="1800">
                          <a:solidFill>
                            <a:srgbClr val="102E36"/>
                          </a:solidFill>
                          <a:latin typeface="Arial"/>
                          <a:ea typeface="Arial"/>
                          <a:cs typeface="Arial"/>
                        </a:rPr>
                        <a:t>Selection</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Feasible historical preference</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Conservative local evidence gate</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312060A0-156E-4994-BC03-014DDBE9D7CE}"/>
              </a:ext>
            </a:extLst>
          </p:cNvPr>
          <p:cNvSpPr>
            <a:spLocks xmlns:a="http://schemas.openxmlformats.org/drawingml/2006/main" noGrp="1"/>
          </p:cNvSpPr>
          <p:nvPr/>
        </p:nvSpPr>
        <p:spPr>
          <a:xfrm xmlns:a="http://schemas.openxmlformats.org/drawingml/2006/main">
            <a:off x="647700" y="5743575"/>
            <a:ext cx="1081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Current parameters are rebuilt and independently validated for every action.</a:t>
            </a:r>
          </a:p>
        </p:txBody>
      </p:sp>
    </p:spTree>
    <p:extLst>
      <p:ext uri="{BB962C8B-B14F-4D97-AF65-F5344CB8AC3E}">
        <p14:creationId xmlns:p14="http://schemas.microsoft.com/office/powerpoint/2010/main" val="641997285"/>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2CB079C-03EF-47AE-BBA6-8DF65CF025DD}"/>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API work and local reuse</a:t>
            </a:r>
          </a:p>
        </p:txBody>
      </p:sp>
      <p:sp>
        <p:nvSpPr>
          <p:cNvPr id="3" name="">
            <a:extLst xmlns:a="http://schemas.openxmlformats.org/drawingml/2006/main">
              <a:ext uri="{FF2B5EF4-FFF2-40B4-BE49-F238E27FC236}">
                <a16:creationId xmlns:a16="http://schemas.microsoft.com/office/drawing/2014/main" id="{F1AD8B6E-F3D0-413E-B439-B35369D959C5}"/>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04 / SELF-X</a:t>
            </a:r>
          </a:p>
        </p:txBody>
      </p:sp>
      <p:sp>
        <p:nvSpPr>
          <p:cNvPr id="4" name="">
            <a:extLst xmlns:a="http://schemas.openxmlformats.org/drawingml/2006/main">
              <a:ext uri="{FF2B5EF4-FFF2-40B4-BE49-F238E27FC236}">
                <a16:creationId xmlns:a16="http://schemas.microsoft.com/office/drawing/2014/main" id="{9E0C617D-D58C-435F-963D-D782E322C9F9}"/>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Cache hits and local bypasses are never counted as new API decisions</a:t>
            </a:r>
          </a:p>
        </p:txBody>
      </p:sp>
      <p:sp>
        <p:nvSpPr>
          <p:cNvPr id="5" name="">
            <a:extLst xmlns:a="http://schemas.openxmlformats.org/drawingml/2006/main">
              <a:ext uri="{FF2B5EF4-FFF2-40B4-BE49-F238E27FC236}">
                <a16:creationId xmlns:a16="http://schemas.microsoft.com/office/drawing/2014/main" id="{0619339A-B2C9-4903-892D-A9C885C7C5AF}"/>
              </a:ext>
            </a:extLst>
          </p:cNvPr>
          <p:cNvSpPr>
            <a:spLocks xmlns:a="http://schemas.openxmlformats.org/drawingml/2006/main" noGrp="1"/>
          </p:cNvSpPr>
          <p:nvPr/>
        </p:nvSpPr>
        <p:spPr>
          <a:xfrm xmlns:a="http://schemas.openxmlformats.org/drawingml/2006/main">
            <a:off x="647700" y="17145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Legacy: full decision call, then a second API reflection call.</a:t>
            </a:r>
          </a:p>
        </p:txBody>
      </p:sp>
      <p:sp>
        <p:nvSpPr>
          <p:cNvPr id="6" name="">
            <a:extLst xmlns:a="http://schemas.openxmlformats.org/drawingml/2006/main">
              <a:ext uri="{FF2B5EF4-FFF2-40B4-BE49-F238E27FC236}">
                <a16:creationId xmlns:a16="http://schemas.microsoft.com/office/drawing/2014/main" id="{2BF6348F-B935-41BE-989D-8FBF54EB9B00}"/>
              </a:ext>
            </a:extLst>
          </p:cNvPr>
          <p:cNvSpPr>
            <a:spLocks xmlns:a="http://schemas.openxmlformats.org/drawingml/2006/main" noGrp="1"/>
          </p:cNvSpPr>
          <p:nvPr/>
        </p:nvSpPr>
        <p:spPr>
          <a:xfrm xmlns:a="http://schemas.openxmlformats.org/drawingml/2006/main">
            <a:off x="647700" y="27432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Compact: one short action choice; local parameters and reflection.</a:t>
            </a:r>
          </a:p>
        </p:txBody>
      </p:sp>
      <p:sp>
        <p:nvSpPr>
          <p:cNvPr id="7" name="">
            <a:extLst xmlns:a="http://schemas.openxmlformats.org/drawingml/2006/main">
              <a:ext uri="{FF2B5EF4-FFF2-40B4-BE49-F238E27FC236}">
                <a16:creationId xmlns:a16="http://schemas.microsoft.com/office/drawing/2014/main" id="{609B78C2-33F1-4EEC-ADAA-3B57652E2124}"/>
              </a:ext>
            </a:extLst>
          </p:cNvPr>
          <p:cNvSpPr>
            <a:spLocks xmlns:a="http://schemas.openxmlformats.org/drawingml/2006/main" noGrp="1"/>
          </p:cNvSpPr>
          <p:nvPr/>
        </p:nvSpPr>
        <p:spPr>
          <a:xfrm xmlns:a="http://schemas.openxmlformats.org/drawingml/2006/main">
            <a:off x="647700" y="37719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Hybrid: exact-context cache, healthy bypass and supported memory.</a:t>
            </a:r>
          </a:p>
        </p:txBody>
      </p:sp>
      <p:sp>
        <p:nvSpPr>
          <p:cNvPr id="8" name="">
            <a:extLst xmlns:a="http://schemas.openxmlformats.org/drawingml/2006/main">
              <a:ext uri="{FF2B5EF4-FFF2-40B4-BE49-F238E27FC236}">
                <a16:creationId xmlns:a16="http://schemas.microsoft.com/office/drawing/2014/main" id="{F7FAD2F9-A1AD-4E5B-9657-9FBE49F5A358}"/>
              </a:ext>
            </a:extLst>
          </p:cNvPr>
          <p:cNvSpPr>
            <a:spLocks xmlns:a="http://schemas.openxmlformats.org/drawingml/2006/main" noGrp="1"/>
          </p:cNvSpPr>
          <p:nvPr/>
        </p:nvSpPr>
        <p:spPr>
          <a:xfrm xmlns:a="http://schemas.openxmlformats.org/drawingml/2006/main">
            <a:off x="647700" y="4800600"/>
            <a:ext cx="1081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Pacing and HTTP/service time are recorded separately.</a:t>
            </a:r>
          </a:p>
        </p:txBody>
      </p:sp>
    </p:spTree>
    <p:extLst>
      <p:ext uri="{BB962C8B-B14F-4D97-AF65-F5344CB8AC3E}">
        <p14:creationId xmlns:p14="http://schemas.microsoft.com/office/powerpoint/2010/main" val="393497799"/>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2169F26-ED93-4ED0-A652-C295E5BB9792}"/>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Generated traffic and primary benchmark coverage</a:t>
            </a:r>
          </a:p>
        </p:txBody>
      </p:sp>
      <p:sp>
        <p:nvSpPr>
          <p:cNvPr id="3" name="">
            <a:extLst xmlns:a="http://schemas.openxmlformats.org/drawingml/2006/main">
              <a:ext uri="{FF2B5EF4-FFF2-40B4-BE49-F238E27FC236}">
                <a16:creationId xmlns:a16="http://schemas.microsoft.com/office/drawing/2014/main" id="{78FE5693-F765-485B-8D05-FE0BD8E4269B}"/>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05 / SELF-X</a:t>
            </a:r>
          </a:p>
        </p:txBody>
      </p:sp>
      <p:sp>
        <p:nvSpPr>
          <p:cNvPr id="4" name="">
            <a:extLst xmlns:a="http://schemas.openxmlformats.org/drawingml/2006/main">
              <a:ext uri="{FF2B5EF4-FFF2-40B4-BE49-F238E27FC236}">
                <a16:creationId xmlns:a16="http://schemas.microsoft.com/office/drawing/2014/main" id="{504AB397-CC98-4C77-9254-DADB85D38A7E}"/>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Finite-buffer two-path fluid model; no packet capture</a:t>
            </a:r>
          </a:p>
        </p:txBody>
      </p:sp>
      <p:sp>
        <p:nvSpPr>
          <p:cNvPr id="5" name="">
            <a:extLst xmlns:a="http://schemas.openxmlformats.org/drawingml/2006/main">
              <a:ext uri="{FF2B5EF4-FFF2-40B4-BE49-F238E27FC236}">
                <a16:creationId xmlns:a16="http://schemas.microsoft.com/office/drawing/2014/main" id="{3D674DC0-3FA6-451A-9CD6-D7AFC27BD8AF}"/>
              </a:ext>
            </a:extLst>
          </p:cNvPr>
          <p:cNvSpPr>
            <a:spLocks xmlns:a="http://schemas.openxmlformats.org/drawingml/2006/main" noGrp="1"/>
          </p:cNvSpPr>
          <p:nvPr/>
        </p:nvSpPr>
        <p:spPr>
          <a:xfrm xmlns:a="http://schemas.openxmlformats.org/drawingml/2006/main">
            <a:off x="647700" y="16192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007D76"/>
                </a:solidFill>
                <a:latin typeface="Arial"/>
                <a:ea typeface="Arial"/>
                <a:cs typeface="Arial"/>
              </a:defRPr>
            </a:defPPr>
            <a:lvl1pPr>
              <a:defRPr sz="6000" b="1">
                <a:solidFill>
                  <a:srgbClr val="007D76"/>
                </a:solidFill>
                <a:latin typeface="Arial"/>
                <a:ea typeface="Arial"/>
                <a:cs typeface="Arial"/>
              </a:defRPr>
            </a:lvl1pPr>
            <a:lvl2pPr>
              <a:defRPr sz="6000" b="1">
                <a:solidFill>
                  <a:srgbClr val="007D76"/>
                </a:solidFill>
                <a:latin typeface="Arial"/>
                <a:ea typeface="Arial"/>
                <a:cs typeface="Arial"/>
              </a:defRPr>
            </a:lvl2pPr>
            <a:lvl3pPr>
              <a:defRPr sz="6000" b="1">
                <a:solidFill>
                  <a:srgbClr val="007D76"/>
                </a:solidFill>
                <a:latin typeface="Arial"/>
                <a:ea typeface="Arial"/>
                <a:cs typeface="Arial"/>
              </a:defRPr>
            </a:lvl3pPr>
            <a:lvl4pPr>
              <a:defRPr sz="6000" b="1">
                <a:solidFill>
                  <a:srgbClr val="007D76"/>
                </a:solidFill>
                <a:latin typeface="Arial"/>
                <a:ea typeface="Arial"/>
                <a:cs typeface="Arial"/>
              </a:defRPr>
            </a:lvl4pPr>
            <a:lvl5pPr>
              <a:defRPr sz="6000" b="1">
                <a:solidFill>
                  <a:srgbClr val="007D76"/>
                </a:solidFill>
                <a:latin typeface="Arial"/>
                <a:ea typeface="Arial"/>
                <a:cs typeface="Arial"/>
              </a:defRPr>
            </a:lvl5pPr>
            <a:lvl6pPr>
              <a:defRPr sz="6000" b="1">
                <a:solidFill>
                  <a:srgbClr val="007D76"/>
                </a:solidFill>
                <a:latin typeface="Arial"/>
                <a:ea typeface="Arial"/>
                <a:cs typeface="Arial"/>
              </a:defRPr>
            </a:lvl6pPr>
            <a:lvl7pPr>
              <a:defRPr sz="6000" b="1">
                <a:solidFill>
                  <a:srgbClr val="007D76"/>
                </a:solidFill>
                <a:latin typeface="Arial"/>
                <a:ea typeface="Arial"/>
                <a:cs typeface="Arial"/>
              </a:defRPr>
            </a:lvl7pPr>
            <a:lvl8pPr>
              <a:defRPr sz="6000" b="1">
                <a:solidFill>
                  <a:srgbClr val="007D76"/>
                </a:solidFill>
                <a:latin typeface="Arial"/>
                <a:ea typeface="Arial"/>
                <a:cs typeface="Arial"/>
              </a:defRPr>
            </a:lvl8pPr>
            <a:lvl9pPr>
              <a:defRPr sz="6000" b="1">
                <a:solidFill>
                  <a:srgbClr val="007D76"/>
                </a:solidFill>
                <a:latin typeface="Arial"/>
                <a:ea typeface="Arial"/>
                <a:cs typeface="Arial"/>
              </a:defRPr>
            </a:lvl9pPr>
          </a:lstStyle>
          <a:p xmlns:a="http://schemas.openxmlformats.org/drawingml/2006/main">
            <a:pPr>
              <a:defRPr sz="6000" b="1">
                <a:solidFill>
                  <a:srgbClr val="007D76"/>
                </a:solidFill>
                <a:latin typeface="Arial"/>
                <a:ea typeface="Arial"/>
                <a:cs typeface="Arial"/>
              </a:defRPr>
            </a:pPr>
            <a:r>
              <a:rPr sz="6000" b="1">
                <a:solidFill>
                  <a:srgbClr val="007D76"/>
                </a:solidFill>
                <a:latin typeface="Arial"/>
                <a:ea typeface="Arial"/>
                <a:cs typeface="Arial"/>
              </a:rPr>
              <a:t>86,400</a:t>
            </a:r>
          </a:p>
        </p:txBody>
      </p:sp>
      <p:sp>
        <p:nvSpPr>
          <p:cNvPr id="6" name="">
            <a:extLst xmlns:a="http://schemas.openxmlformats.org/drawingml/2006/main">
              <a:ext uri="{FF2B5EF4-FFF2-40B4-BE49-F238E27FC236}">
                <a16:creationId xmlns:a16="http://schemas.microsoft.com/office/drawing/2014/main" id="{198673D8-2CF2-44D9-8C64-DCEA9B458F3C}"/>
              </a:ext>
            </a:extLst>
          </p:cNvPr>
          <p:cNvSpPr>
            <a:spLocks xmlns:a="http://schemas.openxmlformats.org/drawingml/2006/main" noGrp="1"/>
          </p:cNvSpPr>
          <p:nvPr/>
        </p:nvSpPr>
        <p:spPr>
          <a:xfrm xmlns:a="http://schemas.openxmlformats.org/drawingml/2006/main">
            <a:off x="695325" y="2714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02E36"/>
                </a:solidFill>
                <a:latin typeface="Arial"/>
                <a:ea typeface="Arial"/>
                <a:cs typeface="Arial"/>
              </a:defRPr>
            </a:defPPr>
            <a:lvl1pPr>
              <a:defRPr sz="2550" b="0">
                <a:solidFill>
                  <a:srgbClr val="102E36"/>
                </a:solidFill>
                <a:latin typeface="Arial"/>
                <a:ea typeface="Arial"/>
                <a:cs typeface="Arial"/>
              </a:defRPr>
            </a:lvl1pPr>
            <a:lvl2pPr>
              <a:defRPr sz="2550" b="0">
                <a:solidFill>
                  <a:srgbClr val="102E36"/>
                </a:solidFill>
                <a:latin typeface="Arial"/>
                <a:ea typeface="Arial"/>
                <a:cs typeface="Arial"/>
              </a:defRPr>
            </a:lvl2pPr>
            <a:lvl3pPr>
              <a:defRPr sz="2550" b="0">
                <a:solidFill>
                  <a:srgbClr val="102E36"/>
                </a:solidFill>
                <a:latin typeface="Arial"/>
                <a:ea typeface="Arial"/>
                <a:cs typeface="Arial"/>
              </a:defRPr>
            </a:lvl3pPr>
            <a:lvl4pPr>
              <a:defRPr sz="2550" b="0">
                <a:solidFill>
                  <a:srgbClr val="102E36"/>
                </a:solidFill>
                <a:latin typeface="Arial"/>
                <a:ea typeface="Arial"/>
                <a:cs typeface="Arial"/>
              </a:defRPr>
            </a:lvl4pPr>
            <a:lvl5pPr>
              <a:defRPr sz="2550" b="0">
                <a:solidFill>
                  <a:srgbClr val="102E36"/>
                </a:solidFill>
                <a:latin typeface="Arial"/>
                <a:ea typeface="Arial"/>
                <a:cs typeface="Arial"/>
              </a:defRPr>
            </a:lvl5pPr>
            <a:lvl6pPr>
              <a:defRPr sz="2550" b="0">
                <a:solidFill>
                  <a:srgbClr val="102E36"/>
                </a:solidFill>
                <a:latin typeface="Arial"/>
                <a:ea typeface="Arial"/>
                <a:cs typeface="Arial"/>
              </a:defRPr>
            </a:lvl6pPr>
            <a:lvl7pPr>
              <a:defRPr sz="2550" b="0">
                <a:solidFill>
                  <a:srgbClr val="102E36"/>
                </a:solidFill>
                <a:latin typeface="Arial"/>
                <a:ea typeface="Arial"/>
                <a:cs typeface="Arial"/>
              </a:defRPr>
            </a:lvl7pPr>
            <a:lvl8pPr>
              <a:defRPr sz="2550" b="0">
                <a:solidFill>
                  <a:srgbClr val="102E36"/>
                </a:solidFill>
                <a:latin typeface="Arial"/>
                <a:ea typeface="Arial"/>
                <a:cs typeface="Arial"/>
              </a:defRPr>
            </a:lvl8pPr>
            <a:lvl9pPr>
              <a:defRPr sz="2550" b="0">
                <a:solidFill>
                  <a:srgbClr val="102E36"/>
                </a:solidFill>
                <a:latin typeface="Arial"/>
                <a:ea typeface="Arial"/>
                <a:cs typeface="Arial"/>
              </a:defRPr>
            </a:lvl9pPr>
          </a:lstStyle>
          <a:p xmlns:a="http://schemas.openxmlformats.org/drawingml/2006/main">
            <a:pPr>
              <a:defRPr sz="2550" b="0">
                <a:solidFill>
                  <a:srgbClr val="102E36"/>
                </a:solidFill>
                <a:latin typeface="Arial"/>
                <a:ea typeface="Arial"/>
                <a:cs typeface="Arial"/>
              </a:defRPr>
            </a:pPr>
            <a:r>
              <a:rPr sz="2550" b="0">
                <a:solidFill>
                  <a:srgbClr val="102E36"/>
                </a:solidFill>
                <a:latin typeface="Arial"/>
                <a:ea typeface="Arial"/>
                <a:cs typeface="Arial"/>
              </a:rPr>
              <a:t>measured primary control windows</a:t>
            </a:r>
          </a:p>
        </p:txBody>
      </p:sp>
      <p:sp>
        <p:nvSpPr>
          <p:cNvPr id="7" name="">
            <a:extLst xmlns:a="http://schemas.openxmlformats.org/drawingml/2006/main">
              <a:ext uri="{FF2B5EF4-FFF2-40B4-BE49-F238E27FC236}">
                <a16:creationId xmlns:a16="http://schemas.microsoft.com/office/drawing/2014/main" id="{DF55D732-6509-4269-A6EA-18480B11AD52}"/>
              </a:ext>
            </a:extLst>
          </p:cNvPr>
          <p:cNvSpPr>
            <a:spLocks xmlns:a="http://schemas.openxmlformats.org/drawingml/2006/main" noGrp="1"/>
          </p:cNvSpPr>
          <p:nvPr/>
        </p:nvSpPr>
        <p:spPr>
          <a:xfrm xmlns:a="http://schemas.openxmlformats.org/drawingml/2006/main">
            <a:off x="647700" y="37338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8 scenarios × 10 held-out seeds × 120 windows × 9 controllers</a:t>
            </a:r>
          </a:p>
        </p:txBody>
      </p:sp>
      <p:sp>
        <p:nvSpPr>
          <p:cNvPr id="8" name="">
            <a:extLst xmlns:a="http://schemas.openxmlformats.org/drawingml/2006/main">
              <a:ext uri="{FF2B5EF4-FFF2-40B4-BE49-F238E27FC236}">
                <a16:creationId xmlns:a16="http://schemas.microsoft.com/office/drawing/2014/main" id="{923F7303-290A-4514-B5E1-CE623264A5F4}"/>
              </a:ext>
            </a:extLst>
          </p:cNvPr>
          <p:cNvSpPr>
            <a:spLocks xmlns:a="http://schemas.openxmlformats.org/drawingml/2006/main" noGrp="1"/>
          </p:cNvSpPr>
          <p:nvPr/>
        </p:nvSpPr>
        <p:spPr>
          <a:xfrm xmlns:a="http://schemas.openxmlformats.org/drawingml/2006/main">
            <a:off x="647700" y="446722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10 Mbps per path · 0.5 Mbit buffer · 5-second action windows</a:t>
            </a:r>
          </a:p>
        </p:txBody>
      </p:sp>
      <p:sp>
        <p:nvSpPr>
          <p:cNvPr id="9" name="">
            <a:extLst xmlns:a="http://schemas.openxmlformats.org/drawingml/2006/main">
              <a:ext uri="{FF2B5EF4-FFF2-40B4-BE49-F238E27FC236}">
                <a16:creationId xmlns:a16="http://schemas.microsoft.com/office/drawing/2014/main" id="{54FE4DCA-C679-4B72-9ADB-DBCFA6473295}"/>
              </a:ext>
            </a:extLst>
          </p:cNvPr>
          <p:cNvSpPr>
            <a:spLocks xmlns:a="http://schemas.openxmlformats.org/drawingml/2006/main" noGrp="1"/>
          </p:cNvSpPr>
          <p:nvPr/>
        </p:nvSpPr>
        <p:spPr>
          <a:xfrm xmlns:a="http://schemas.openxmlformats.org/drawingml/2006/main">
            <a:off x="647700" y="52006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9,600 generated aggregate flow records exported as CSV</a:t>
            </a:r>
          </a:p>
        </p:txBody>
      </p:sp>
    </p:spTree>
    <p:extLst>
      <p:ext uri="{BB962C8B-B14F-4D97-AF65-F5344CB8AC3E}">
        <p14:creationId xmlns:p14="http://schemas.microsoft.com/office/powerpoint/2010/main" val="1060657435"/>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0E59345-9A43-4A94-99D1-70B74321BA12}"/>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Experimental comparisons and evidence boundaries</a:t>
            </a:r>
          </a:p>
        </p:txBody>
      </p:sp>
      <p:sp>
        <p:nvSpPr>
          <p:cNvPr id="3" name="">
            <a:extLst xmlns:a="http://schemas.openxmlformats.org/drawingml/2006/main">
              <a:ext uri="{FF2B5EF4-FFF2-40B4-BE49-F238E27FC236}">
                <a16:creationId xmlns:a16="http://schemas.microsoft.com/office/drawing/2014/main" id="{BAB57179-B067-47C5-94AB-98C311202740}"/>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06 / SELF-X</a:t>
            </a:r>
          </a:p>
        </p:txBody>
      </p:sp>
      <p:sp>
        <p:nvSpPr>
          <p:cNvPr id="4" name="">
            <a:extLst xmlns:a="http://schemas.openxmlformats.org/drawingml/2006/main">
              <a:ext uri="{FF2B5EF4-FFF2-40B4-BE49-F238E27FC236}">
                <a16:creationId xmlns:a16="http://schemas.microsoft.com/office/drawing/2014/main" id="{3EBA221E-FA70-4EAF-A651-CE6D43928B41}"/>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Every primary controller receives the same demand for each scenario and seed</a:t>
            </a:r>
          </a:p>
        </p:txBody>
      </p:sp>
      <p:graphicFrame>
        <p:nvGraphicFramePr>
          <p:cNvPr id="5" name="">
            <a:extLst xmlns:a="http://schemas.openxmlformats.org/drawingml/2006/main">
              <a:ext uri="{FF2B5EF4-FFF2-40B4-BE49-F238E27FC236}">
                <a16:creationId xmlns:a16="http://schemas.microsoft.com/office/drawing/2014/main" id="{605E2B32-36BE-40B6-BD3C-895E1DC6363B}"/>
              </a:ext>
            </a:extLst>
          </p:cNvPr>
          <p:cNvGraphicFramePr/>
          <p:nvPr/>
        </p:nvGraphicFramePr>
        <p:xfrm>
          <a:off xmlns:a="http://schemas.openxmlformats.org/drawingml/2006/main" x="609600" y="1714500"/>
          <a:ext xmlns:a="http://schemas.openxmlformats.org/drawingml/2006/main" cx="10972800" cy="3571875"/>
        </p:xfrm>
        <a:graphic xmlns:a="http://schemas.openxmlformats.org/drawingml/2006/main">
          <a:graphicData uri="http://schemas.openxmlformats.org/drawingml/2006/table">
            <a:tbl>
              <a:tblPr/>
              <a:tblGrid>
                <a:gridCol w="2714625"/>
                <a:gridCol w="3476625"/>
                <a:gridCol w="4781550"/>
              </a:tblGrid>
              <a:tr h="714375">
                <a:tc>
                  <a:txBody>
                    <a:bodyPr/>
                    <a:lstStyle/>
                    <a:p>
                      <a:r>
                        <a:rPr sz="1800" b="1">
                          <a:solidFill>
                            <a:srgbClr val="102E36"/>
                          </a:solidFill>
                          <a:latin typeface="Arial"/>
                          <a:ea typeface="Arial"/>
                          <a:cs typeface="Arial"/>
                        </a:rPr>
                        <a:t>Study</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Sample</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Interpretation</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714375">
                <a:tc>
                  <a:txBody>
                    <a:bodyPr/>
                    <a:lstStyle/>
                    <a:p>
                      <a:r>
                        <a:rPr sz="1800">
                          <a:solidFill>
                            <a:srgbClr val="102E36"/>
                          </a:solidFill>
                          <a:latin typeface="Arial"/>
                          <a:ea typeface="Arial"/>
                          <a:cs typeface="Arial"/>
                        </a:rPr>
                        <a:t>Primary held-out suite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86,400 windows; 10 seeds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Ordinary workload comparison</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00">
                          <a:solidFill>
                            <a:srgbClr val="102E36"/>
                          </a:solidFill>
                          <a:latin typeface="Arial"/>
                          <a:ea typeface="Arial"/>
                          <a:cs typeface="Arial"/>
                        </a:rPr>
                        <a:t>Near-capacity diagnostic</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19,200 windows; 10 seeds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Post-hoc mechanism stress test</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00">
                          <a:solidFill>
                            <a:srgbClr val="102E36"/>
                          </a:solidFill>
                          <a:latin typeface="Arial"/>
                          <a:ea typeface="Arial"/>
                          <a:cs typeface="Arial"/>
                        </a:rPr>
                        <a:t>Fresh Gemini pilot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72 cycles; 2 seeds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System latency and integration</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00">
                          <a:solidFill>
                            <a:srgbClr val="102E36"/>
                          </a:solidFill>
                          <a:latin typeface="Arial"/>
                          <a:ea typeface="Arial"/>
                          <a:cs typeface="Arial"/>
                        </a:rPr>
                        <a:t>Free model sweep</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8/17 valid checks</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Availability, not control quality</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7452ABDD-4222-40E6-A6FD-08B5E0CBD8C0}"/>
              </a:ext>
            </a:extLst>
          </p:cNvPr>
          <p:cNvSpPr>
            <a:spLocks xmlns:a="http://schemas.openxmlformats.org/drawingml/2006/main" noGrp="1"/>
          </p:cNvSpPr>
          <p:nvPr/>
        </p:nvSpPr>
        <p:spPr>
          <a:xfrm xmlns:a="http://schemas.openxmlformats.org/drawingml/2006/main">
            <a:off x="647700" y="55816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H1 isolates the base guard. O1 has privileged simulator access.</a:t>
            </a:r>
          </a:p>
        </p:txBody>
      </p:sp>
    </p:spTree>
    <p:extLst>
      <p:ext uri="{BB962C8B-B14F-4D97-AF65-F5344CB8AC3E}">
        <p14:creationId xmlns:p14="http://schemas.microsoft.com/office/powerpoint/2010/main" val="278871665"/>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21789B5-3D58-4218-8D5B-EED9ADC215F7}"/>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Primary scenario delay results</a:t>
            </a:r>
          </a:p>
        </p:txBody>
      </p:sp>
      <p:sp>
        <p:nvSpPr>
          <p:cNvPr id="3" name="">
            <a:extLst xmlns:a="http://schemas.openxmlformats.org/drawingml/2006/main">
              <a:ext uri="{FF2B5EF4-FFF2-40B4-BE49-F238E27FC236}">
                <a16:creationId xmlns:a16="http://schemas.microsoft.com/office/drawing/2014/main" id="{380636A3-0507-417A-B043-DBE5A4DAFFB3}"/>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07 / SELF-X</a:t>
            </a:r>
          </a:p>
        </p:txBody>
      </p:sp>
      <p:sp>
        <p:nvSpPr>
          <p:cNvPr id="4" name="">
            <a:extLst xmlns:a="http://schemas.openxmlformats.org/drawingml/2006/main">
              <a:ext uri="{FF2B5EF4-FFF2-40B4-BE49-F238E27FC236}">
                <a16:creationId xmlns:a16="http://schemas.microsoft.com/office/drawing/2014/main" id="{8DE65E30-98F3-4D2F-8E54-BDBB1891AAE6}"/>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Mean modeled delay in milliseconds; 1,200 windows per cell</a:t>
            </a:r>
          </a:p>
        </p:txBody>
      </p:sp>
      <p:graphicFrame>
        <p:nvGraphicFramePr>
          <p:cNvPr id="5" name="">
            <a:extLst xmlns:a="http://schemas.openxmlformats.org/drawingml/2006/main">
              <a:ext uri="{FF2B5EF4-FFF2-40B4-BE49-F238E27FC236}">
                <a16:creationId xmlns:a16="http://schemas.microsoft.com/office/drawing/2014/main" id="{8D0CECE8-DBA2-45B5-90C9-206805DFBDAB}"/>
              </a:ext>
            </a:extLst>
          </p:cNvPr>
          <p:cNvGraphicFramePr/>
          <p:nvPr/>
        </p:nvGraphicFramePr>
        <p:xfrm>
          <a:off xmlns:a="http://schemas.openxmlformats.org/drawingml/2006/main" x="609600" y="1676400"/>
          <a:ext xmlns:a="http://schemas.openxmlformats.org/drawingml/2006/main" cx="10972800" cy="4095750"/>
        </p:xfrm>
        <a:graphic xmlns:a="http://schemas.openxmlformats.org/drawingml/2006/main">
          <a:graphicData uri="http://schemas.openxmlformats.org/drawingml/2006/table">
            <a:tbl>
              <a:tblPr/>
              <a:tblGrid>
                <a:gridCol w="1543050"/>
                <a:gridCol w="1047750"/>
                <a:gridCol w="1047750"/>
                <a:gridCol w="1047750"/>
                <a:gridCol w="1047750"/>
                <a:gridCol w="1047750"/>
                <a:gridCol w="1047750"/>
                <a:gridCol w="1047750"/>
                <a:gridCol w="1047750"/>
                <a:gridCol w="1047750"/>
              </a:tblGrid>
              <a:tr h="455083">
                <a:tc>
                  <a:txBody>
                    <a:bodyPr/>
                    <a:lstStyle/>
                    <a:p>
                      <a:r>
                        <a:rPr sz="1575" b="1">
                          <a:solidFill>
                            <a:srgbClr val="102E36"/>
                          </a:solidFill>
                          <a:latin typeface="Arial"/>
                          <a:ea typeface="Arial"/>
                          <a:cs typeface="Arial"/>
                        </a:rPr>
                        <a:t>Scenario</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A0</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B1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B2</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A2</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H1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A3</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O1</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575" b="1">
                          <a:solidFill>
                            <a:srgbClr val="102E36"/>
                          </a:solidFill>
                          <a:latin typeface="Arial"/>
                          <a:ea typeface="Arial"/>
                          <a:cs typeface="Arial"/>
                        </a:rPr>
                        <a:t>A4</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55083">
                <a:tc>
                  <a:txBody>
                    <a:bodyPr/>
                    <a:lstStyle/>
                    <a:p>
                      <a:r>
                        <a:rPr sz="1575">
                          <a:solidFill>
                            <a:srgbClr val="102E36"/>
                          </a:solidFill>
                          <a:latin typeface="Arial"/>
                          <a:ea typeface="Arial"/>
                          <a:cs typeface="Arial"/>
                        </a:rPr>
                        <a:t>Mixed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30.42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27.58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28.97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24.27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25.10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24.49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24.77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24.39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24.49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Flash</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26.58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10.38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18.34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9.83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11.75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9.91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10.98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9.83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9.91</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Alt busy</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22.36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22.36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22.36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12.95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12.95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13.34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13.15</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Shift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27.03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15.10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20.52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9.01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8.59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Overload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35.79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Light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8.00</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Recurring</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30.30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22.70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26.42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17.79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17.89</a:t>
                      </a:r>
                    </a:p>
                  </a:txBody>
                  <a:tcPr marL="95250" marR="95250" marT="57150" marB="57150">
                    <a:lnR w="9525">
                      <a:solidFill>
                        <a:srgbClr val="D9E3DF"/>
                      </a:solidFill>
                      <a:prstDash val="solid"/>
                    </a:lnR>
                    <a:lnB w="9525">
                      <a:solidFill>
                        <a:srgbClr val="D9E3DF"/>
                      </a:solidFill>
                      <a:prstDash val="solid"/>
                    </a:lnB>
                    <a:solidFill>
                      <a:srgbClr val="F6F8F3"/>
                    </a:solidFill>
                  </a:tcPr>
                </a:tc>
              </a:tr>
              <a:tr h="455083">
                <a:tc>
                  <a:txBody>
                    <a:bodyPr/>
                    <a:lstStyle/>
                    <a:p>
                      <a:r>
                        <a:rPr sz="1575">
                          <a:solidFill>
                            <a:srgbClr val="102E36"/>
                          </a:solidFill>
                          <a:latin typeface="Arial"/>
                          <a:ea typeface="Arial"/>
                          <a:cs typeface="Arial"/>
                        </a:rPr>
                        <a:t>Volatile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27.54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22.97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25.41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19.22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20.42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19.40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19.55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19.48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575">
                          <a:solidFill>
                            <a:srgbClr val="102E36"/>
                          </a:solidFill>
                          <a:latin typeface="Arial"/>
                          <a:ea typeface="Arial"/>
                          <a:cs typeface="Arial"/>
                        </a:rPr>
                        <a:t>19.40</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3561D63D-48CD-43C6-AE81-9F707BF81101}"/>
              </a:ext>
            </a:extLst>
          </p:cNvPr>
          <p:cNvSpPr>
            <a:spLocks xmlns:a="http://schemas.openxmlformats.org/drawingml/2006/main" noGrp="1"/>
          </p:cNvSpPr>
          <p:nvPr/>
        </p:nvSpPr>
        <p:spPr>
          <a:xfrm xmlns:a="http://schemas.openxmlformats.org/drawingml/2006/main">
            <a:off x="647700" y="58578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A4 matches H1; it removes A3 regressions on mixed, flash and volatile traffic.</a:t>
            </a:r>
          </a:p>
        </p:txBody>
      </p:sp>
    </p:spTree>
    <p:extLst>
      <p:ext uri="{BB962C8B-B14F-4D97-AF65-F5344CB8AC3E}">
        <p14:creationId xmlns:p14="http://schemas.microsoft.com/office/powerpoint/2010/main" val="1085993693"/>
      </p:ext>
    </p:extLst>
  </p:cSld>
</p:sld>
</file>

<file path=ppt/slides/slide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24812A0-B3A8-483F-AF32-C3FF8A522D7E}"/>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Overall primary modeled delay</a:t>
            </a:r>
          </a:p>
        </p:txBody>
      </p:sp>
      <p:sp>
        <p:nvSpPr>
          <p:cNvPr id="3" name="">
            <a:extLst xmlns:a="http://schemas.openxmlformats.org/drawingml/2006/main">
              <a:ext uri="{FF2B5EF4-FFF2-40B4-BE49-F238E27FC236}">
                <a16:creationId xmlns:a16="http://schemas.microsoft.com/office/drawing/2014/main" id="{A3918841-7CBB-4012-A578-A24A204445C3}"/>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08 / SELF-X</a:t>
            </a:r>
          </a:p>
        </p:txBody>
      </p:sp>
      <p:sp>
        <p:nvSpPr>
          <p:cNvPr id="4" name="">
            <a:extLst xmlns:a="http://schemas.openxmlformats.org/drawingml/2006/main">
              <a:ext uri="{FF2B5EF4-FFF2-40B4-BE49-F238E27FC236}">
                <a16:creationId xmlns:a16="http://schemas.microsoft.com/office/drawing/2014/main" id="{294FB6E4-7DF4-4FD9-AB20-CC8BF0627C7B}"/>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Equal weighting across eight primary scenarios and ten paired seeds</a:t>
            </a:r>
          </a:p>
        </p:txBody>
      </p:sp>
      <p:graphicFrame>
        <p:nvGraphicFramePr>
          <p:cNvPr id="5" name="Chart">
            <a:extLst xmlns:a="http://schemas.openxmlformats.org/drawingml/2006/main">
              <a:ext uri="{FF2B5EF4-FFF2-40B4-BE49-F238E27FC236}">
                <a16:creationId xmlns:a16="http://schemas.microsoft.com/office/drawing/2014/main" id="{8F68191B-E58E-461C-90A2-FF3ABE596583}"/>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d6a5c19aafa94d8c"/>
          </a:graphicData>
        </a:graphic>
      </p:graphicFrame>
      <p:sp>
        <p:nvSpPr>
          <p:cNvPr id="6" name="">
            <a:extLst xmlns:a="http://schemas.openxmlformats.org/drawingml/2006/main">
              <a:ext uri="{FF2B5EF4-FFF2-40B4-BE49-F238E27FC236}">
                <a16:creationId xmlns:a16="http://schemas.microsoft.com/office/drawing/2014/main" id="{954DBA24-408A-4E5D-895A-C8365358C417}"/>
              </a:ext>
            </a:extLst>
          </p:cNvPr>
          <p:cNvSpPr>
            <a:spLocks xmlns:a="http://schemas.openxmlformats.org/drawingml/2006/main" noGrp="1"/>
          </p:cNvSpPr>
          <p:nvPr/>
        </p:nvSpPr>
        <p:spPr>
          <a:xfrm xmlns:a="http://schemas.openxmlformats.org/drawingml/2006/main">
            <a:off x="685800" y="55054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A4: 17.154 ms. Previous A3: 17.341 ms.</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H1 has the same primary network outcome as A4.</a:t>
            </a:r>
          </a:p>
        </p:txBody>
      </p:sp>
    </p:spTree>
    <p:extLst>
      <p:ext uri="{BB962C8B-B14F-4D97-AF65-F5344CB8AC3E}">
        <p14:creationId xmlns:p14="http://schemas.microsoft.com/office/powerpoint/2010/main" val="1892363328"/>
      </p:ext>
    </p:extLst>
  </p:cSld>
</p:sld>
</file>

<file path=ppt/slides/slide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14157D4-5899-4666-AC32-6D38777C5DA3}"/>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Paired adaptive memory effects</a:t>
            </a:r>
          </a:p>
        </p:txBody>
      </p:sp>
      <p:sp>
        <p:nvSpPr>
          <p:cNvPr id="3" name="">
            <a:extLst xmlns:a="http://schemas.openxmlformats.org/drawingml/2006/main">
              <a:ext uri="{FF2B5EF4-FFF2-40B4-BE49-F238E27FC236}">
                <a16:creationId xmlns:a16="http://schemas.microsoft.com/office/drawing/2014/main" id="{2EFBE9A4-C1BF-41B6-96FF-111F6E35DB23}"/>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09 / SELF-X</a:t>
            </a:r>
          </a:p>
        </p:txBody>
      </p:sp>
      <p:sp>
        <p:nvSpPr>
          <p:cNvPr id="4" name="">
            <a:extLst xmlns:a="http://schemas.openxmlformats.org/drawingml/2006/main">
              <a:ext uri="{FF2B5EF4-FFF2-40B4-BE49-F238E27FC236}">
                <a16:creationId xmlns:a16="http://schemas.microsoft.com/office/drawing/2014/main" id="{9BF2C2D5-8C4D-43D3-9B08-07A134248875}"/>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A4 minus A3; negative delay differences favor A4</a:t>
            </a:r>
          </a:p>
        </p:txBody>
      </p:sp>
      <p:graphicFrame>
        <p:nvGraphicFramePr>
          <p:cNvPr id="5" name="">
            <a:extLst xmlns:a="http://schemas.openxmlformats.org/drawingml/2006/main">
              <a:ext uri="{FF2B5EF4-FFF2-40B4-BE49-F238E27FC236}">
                <a16:creationId xmlns:a16="http://schemas.microsoft.com/office/drawing/2014/main" id="{3C726F52-B6EC-4794-A897-5A1CFB252F29}"/>
              </a:ext>
            </a:extLst>
          </p:cNvPr>
          <p:cNvGraphicFramePr/>
          <p:nvPr/>
        </p:nvGraphicFramePr>
        <p:xfrm>
          <a:off xmlns:a="http://schemas.openxmlformats.org/drawingml/2006/main" x="609600" y="1685925"/>
          <a:ext xmlns:a="http://schemas.openxmlformats.org/drawingml/2006/main" cx="10972800" cy="4000500"/>
        </p:xfrm>
        <a:graphic xmlns:a="http://schemas.openxmlformats.org/drawingml/2006/main">
          <a:graphicData uri="http://schemas.openxmlformats.org/drawingml/2006/table">
            <a:tbl>
              <a:tblPr/>
              <a:tblGrid>
                <a:gridCol w="2524125"/>
                <a:gridCol w="3476625"/>
                <a:gridCol w="4972050"/>
              </a:tblGrid>
              <a:tr h="444500">
                <a:tc>
                  <a:txBody>
                    <a:bodyPr/>
                    <a:lstStyle/>
                    <a:p>
                      <a:r>
                        <a:rPr sz="1800" b="1">
                          <a:solidFill>
                            <a:srgbClr val="102E36"/>
                          </a:solidFill>
                          <a:latin typeface="Arial"/>
                          <a:ea typeface="Arial"/>
                          <a:cs typeface="Arial"/>
                        </a:rPr>
                        <a:t>Scenario</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Delay difference ms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00" b="1">
                          <a:solidFill>
                            <a:srgbClr val="102E36"/>
                          </a:solidFill>
                          <a:latin typeface="Arial"/>
                          <a:ea typeface="Arial"/>
                          <a:cs typeface="Arial"/>
                        </a:rPr>
                        <a:t>Paired 95% interval</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44500">
                <a:tc>
                  <a:txBody>
                    <a:bodyPr/>
                    <a:lstStyle/>
                    <a:p>
                      <a:r>
                        <a:rPr sz="1800">
                          <a:solidFill>
                            <a:srgbClr val="102E36"/>
                          </a:solidFill>
                          <a:latin typeface="Arial"/>
                          <a:ea typeface="Arial"/>
                          <a:cs typeface="Arial"/>
                        </a:rPr>
                        <a:t>Mixed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-0.280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[-0.511, -0.106]</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Flash</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-1.072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[-2.231,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Alt busy</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Shift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Overload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Light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Recurring</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[0.000, 0.000]</a:t>
                      </a:r>
                    </a:p>
                  </a:txBody>
                  <a:tcPr marL="95250" marR="95250" marT="57150" marB="57150">
                    <a:lnR w="9525">
                      <a:solidFill>
                        <a:srgbClr val="D9E3DF"/>
                      </a:solidFill>
                      <a:prstDash val="solid"/>
                    </a:lnR>
                    <a:lnB w="9525">
                      <a:solidFill>
                        <a:srgbClr val="D9E3DF"/>
                      </a:solidFill>
                      <a:prstDash val="solid"/>
                    </a:lnB>
                    <a:solidFill>
                      <a:srgbClr val="F6F8F3"/>
                    </a:solidFill>
                  </a:tcPr>
                </a:tc>
              </a:tr>
              <a:tr h="444500">
                <a:tc>
                  <a:txBody>
                    <a:bodyPr/>
                    <a:lstStyle/>
                    <a:p>
                      <a:r>
                        <a:rPr sz="1800">
                          <a:solidFill>
                            <a:srgbClr val="102E36"/>
                          </a:solidFill>
                          <a:latin typeface="Arial"/>
                          <a:ea typeface="Arial"/>
                          <a:cs typeface="Arial"/>
                        </a:rPr>
                        <a:t>Volatile</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-0.145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[-0.319, -0.005]</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8E711929-7A71-4BBB-ABEB-8FD78E9C2B3F}"/>
              </a:ext>
            </a:extLst>
          </p:cNvPr>
          <p:cNvSpPr>
            <a:spLocks xmlns:a="http://schemas.openxmlformats.org/drawingml/2006/main" noGrp="1"/>
          </p:cNvSpPr>
          <p:nvPr/>
        </p:nvSpPr>
        <p:spPr>
          <a:xfrm xmlns:a="http://schemas.openxmlformats.org/drawingml/2006/main">
            <a:off x="647700" y="5810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Exploratory comparisons; intervals do not correct for multiple testing.</a:t>
            </a:r>
          </a:p>
        </p:txBody>
      </p:sp>
    </p:spTree>
    <p:extLst>
      <p:ext uri="{BB962C8B-B14F-4D97-AF65-F5344CB8AC3E}">
        <p14:creationId xmlns:p14="http://schemas.microsoft.com/office/powerpoint/2010/main" val="189826934"/>
      </p:ext>
    </p:extLst>
  </p:cSld>
</p:sld>
</file>

<file path=ppt/slides/slide10.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ADF61B-D170-45BE-BDE6-FBE4155368E9}"/>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The guard-only memory ablation</a:t>
            </a:r>
          </a:p>
        </p:txBody>
      </p:sp>
      <p:sp>
        <p:nvSpPr>
          <p:cNvPr id="3" name="">
            <a:extLst xmlns:a="http://schemas.openxmlformats.org/drawingml/2006/main">
              <a:ext uri="{FF2B5EF4-FFF2-40B4-BE49-F238E27FC236}">
                <a16:creationId xmlns:a16="http://schemas.microsoft.com/office/drawing/2014/main" id="{AB61388C-AC1D-4787-8FA7-A7D0F2015A31}"/>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10 / SELF-X</a:t>
            </a:r>
          </a:p>
        </p:txBody>
      </p:sp>
      <p:sp>
        <p:nvSpPr>
          <p:cNvPr id="4" name="">
            <a:extLst xmlns:a="http://schemas.openxmlformats.org/drawingml/2006/main">
              <a:ext uri="{FF2B5EF4-FFF2-40B4-BE49-F238E27FC236}">
                <a16:creationId xmlns:a16="http://schemas.microsoft.com/office/drawing/2014/main" id="{36E1C271-3B95-4856-B264-B5CE8AA34178}"/>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The primary experiment does not show an additional gain over H1</a:t>
            </a:r>
          </a:p>
        </p:txBody>
      </p:sp>
      <p:graphicFrame>
        <p:nvGraphicFramePr>
          <p:cNvPr id="5" name="Chart">
            <a:extLst xmlns:a="http://schemas.openxmlformats.org/drawingml/2006/main">
              <a:ext uri="{FF2B5EF4-FFF2-40B4-BE49-F238E27FC236}">
                <a16:creationId xmlns:a16="http://schemas.microsoft.com/office/drawing/2014/main" id="{595D5095-057F-4D47-8C2D-7A47933DE879}"/>
              </a:ext>
            </a:extLst>
          </p:cNvPr>
          <p:cNvGraphicFramePr/>
          <p:nvPr/>
        </p:nvGraphicFramePr>
        <p:xfrm>
          <a:off xmlns:a="http://schemas.openxmlformats.org/drawingml/2006/main" x="809625" y="1809750"/>
          <a:ext xmlns:a="http://schemas.openxmlformats.org/drawingml/2006/main" cx="10668000" cy="3333750"/>
        </p:xfrm>
        <a:graphic xmlns:a="http://schemas.openxmlformats.org/drawingml/2006/main">
          <a:graphicData uri="http://schemas.openxmlformats.org/drawingml/2006/chart">
            <c:chart xmlns:r="http://schemas.openxmlformats.org/officeDocument/2006/relationships" xmlns:c="http://schemas.openxmlformats.org/drawingml/2006/chart" r:id="R77471c401c0d4cba"/>
          </a:graphicData>
        </a:graphic>
      </p:graphicFrame>
      <p:sp>
        <p:nvSpPr>
          <p:cNvPr id="6" name="">
            <a:extLst xmlns:a="http://schemas.openxmlformats.org/drawingml/2006/main">
              <a:ext uri="{FF2B5EF4-FFF2-40B4-BE49-F238E27FC236}">
                <a16:creationId xmlns:a16="http://schemas.microsoft.com/office/drawing/2014/main" id="{2FABAADF-1AB2-4B45-A583-BA80B45687CF}"/>
              </a:ext>
            </a:extLst>
          </p:cNvPr>
          <p:cNvSpPr>
            <a:spLocks xmlns:a="http://schemas.openxmlformats.org/drawingml/2006/main" noGrp="1"/>
          </p:cNvSpPr>
          <p:nvPr/>
        </p:nvSpPr>
        <p:spPr>
          <a:xfrm xmlns:a="http://schemas.openxmlformats.org/drawingml/2006/main">
            <a:off x="647700" y="5619750"/>
            <a:ext cx="10810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A4 and H1 chose the same installed actions in all 9,600 primary windows.</a:t>
            </a:r>
          </a:p>
        </p:txBody>
      </p:sp>
    </p:spTree>
    <p:extLst>
      <p:ext uri="{BB962C8B-B14F-4D97-AF65-F5344CB8AC3E}">
        <p14:creationId xmlns:p14="http://schemas.microsoft.com/office/powerpoint/2010/main" val="1883418902"/>
      </p:ext>
    </p:extLst>
  </p:cSld>
</p:sld>
</file>

<file path=ppt/slides/slide1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261A25F-802A-4C8A-B728-F61CE6950B25}"/>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Delay goodput loss and feasibility</a:t>
            </a:r>
          </a:p>
        </p:txBody>
      </p:sp>
      <p:sp>
        <p:nvSpPr>
          <p:cNvPr id="3" name="">
            <a:extLst xmlns:a="http://schemas.openxmlformats.org/drawingml/2006/main">
              <a:ext uri="{FF2B5EF4-FFF2-40B4-BE49-F238E27FC236}">
                <a16:creationId xmlns:a16="http://schemas.microsoft.com/office/drawing/2014/main" id="{66515ECE-2335-49F6-87F6-E2BBD2B41DE8}"/>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11 / SELF-X</a:t>
            </a:r>
          </a:p>
        </p:txBody>
      </p:sp>
      <p:sp>
        <p:nvSpPr>
          <p:cNvPr id="4" name="">
            <a:extLst xmlns:a="http://schemas.openxmlformats.org/drawingml/2006/main">
              <a:ext uri="{FF2B5EF4-FFF2-40B4-BE49-F238E27FC236}">
                <a16:creationId xmlns:a16="http://schemas.microsoft.com/office/drawing/2014/main" id="{3173F9BB-06CF-4F9C-A863-FD2923BC1F5E}"/>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Loss includes deliberate rate-meter drops; all values are simulated</a:t>
            </a:r>
          </a:p>
        </p:txBody>
      </p:sp>
      <p:graphicFrame>
        <p:nvGraphicFramePr>
          <p:cNvPr id="5" name="">
            <a:extLst xmlns:a="http://schemas.openxmlformats.org/drawingml/2006/main">
              <a:ext uri="{FF2B5EF4-FFF2-40B4-BE49-F238E27FC236}">
                <a16:creationId xmlns:a16="http://schemas.microsoft.com/office/drawing/2014/main" id="{1E2DBFB4-AC78-4209-80B1-1BE9220C7637}"/>
              </a:ext>
            </a:extLst>
          </p:cNvPr>
          <p:cNvGraphicFramePr/>
          <p:nvPr/>
        </p:nvGraphicFramePr>
        <p:xfrm>
          <a:off xmlns:a="http://schemas.openxmlformats.org/drawingml/2006/main" x="609600" y="1676400"/>
          <a:ext xmlns:a="http://schemas.openxmlformats.org/drawingml/2006/main" cx="10972800" cy="4000500"/>
        </p:xfrm>
        <a:graphic xmlns:a="http://schemas.openxmlformats.org/drawingml/2006/main">
          <a:graphicData uri="http://schemas.openxmlformats.org/drawingml/2006/table">
            <a:tbl>
              <a:tblPr/>
              <a:tblGrid>
                <a:gridCol w="952500"/>
                <a:gridCol w="2286000"/>
                <a:gridCol w="2714625"/>
                <a:gridCol w="2714625"/>
                <a:gridCol w="2305050"/>
              </a:tblGrid>
              <a:tr h="400050">
                <a:tc>
                  <a:txBody>
                    <a:bodyPr/>
                    <a:lstStyle/>
                    <a:p>
                      <a:r>
                        <a:rPr sz="1725" b="1">
                          <a:solidFill>
                            <a:srgbClr val="102E36"/>
                          </a:solidFill>
                          <a:latin typeface="Arial"/>
                          <a:ea typeface="Arial"/>
                          <a:cs typeface="Arial"/>
                        </a:rPr>
                        <a:t>ID</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Delay ms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Goodput Mbps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Total loss %</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Vetoes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00050">
                <a:tc>
                  <a:txBody>
                    <a:bodyPr/>
                    <a:lstStyle/>
                    <a:p>
                      <a:r>
                        <a:rPr sz="1725">
                          <a:solidFill>
                            <a:srgbClr val="102E36"/>
                          </a:solidFill>
                          <a:latin typeface="Arial"/>
                          <a:ea typeface="Arial"/>
                          <a:cs typeface="Arial"/>
                        </a:rPr>
                        <a:t>A0</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26.003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12.904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8.162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B1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20.611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13.058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6.986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B2</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23.227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12.983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7.561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2585</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17.062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12.902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7.913</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A2</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17.554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12.848</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8.349</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347</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H1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17.154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12.990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7.382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A3</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17.341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12.974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7.510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O1</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17.204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13.001</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7.322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r h="400050">
                <a:tc>
                  <a:txBody>
                    <a:bodyPr/>
                    <a:lstStyle/>
                    <a:p>
                      <a:r>
                        <a:rPr sz="1725">
                          <a:solidFill>
                            <a:srgbClr val="102E36"/>
                          </a:solidFill>
                          <a:latin typeface="Arial"/>
                          <a:ea typeface="Arial"/>
                          <a:cs typeface="Arial"/>
                        </a:rPr>
                        <a:t>A4</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17.154</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12.990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7.382</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B52D43FD-A9F4-47C9-A29A-075FE522511C}"/>
              </a:ext>
            </a:extLst>
          </p:cNvPr>
          <p:cNvSpPr>
            <a:spLocks xmlns:a="http://schemas.openxmlformats.org/drawingml/2006/main" noGrp="1"/>
          </p:cNvSpPr>
          <p:nvPr/>
        </p:nvSpPr>
        <p:spPr>
          <a:xfrm xmlns:a="http://schemas.openxmlformats.org/drawingml/2006/main">
            <a:off x="647700" y="581025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A4 has zero vetoes. Feasibility and performance are separate outcomes.</a:t>
            </a:r>
          </a:p>
        </p:txBody>
      </p:sp>
    </p:spTree>
    <p:extLst>
      <p:ext uri="{BB962C8B-B14F-4D97-AF65-F5344CB8AC3E}">
        <p14:creationId xmlns:p14="http://schemas.microsoft.com/office/powerpoint/2010/main" val="495675084"/>
      </p:ext>
    </p:extLst>
  </p:cSld>
</p:sld>
</file>

<file path=ppt/slides/slide1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FDAF5C2-5074-485C-9211-E59D4732A15B}"/>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Near-capacity memory sensitivity</a:t>
            </a:r>
          </a:p>
        </p:txBody>
      </p:sp>
      <p:sp>
        <p:nvSpPr>
          <p:cNvPr id="3" name="">
            <a:extLst xmlns:a="http://schemas.openxmlformats.org/drawingml/2006/main">
              <a:ext uri="{FF2B5EF4-FFF2-40B4-BE49-F238E27FC236}">
                <a16:creationId xmlns:a16="http://schemas.microsoft.com/office/drawing/2014/main" id="{43B7CF6E-A941-4020-82C6-34E95C1C97A1}"/>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12 / SELF-X</a:t>
            </a:r>
          </a:p>
        </p:txBody>
      </p:sp>
      <p:sp>
        <p:nvSpPr>
          <p:cNvPr id="4" name="">
            <a:extLst xmlns:a="http://schemas.openxmlformats.org/drawingml/2006/main">
              <a:ext uri="{FF2B5EF4-FFF2-40B4-BE49-F238E27FC236}">
                <a16:creationId xmlns:a16="http://schemas.microsoft.com/office/drawing/2014/main" id="{140A5CFD-06F3-4EC0-BF52-84542CF79056}"/>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Constructed post-hoc diagnostic; excluded from the primary average</a:t>
            </a:r>
          </a:p>
        </p:txBody>
      </p:sp>
      <p:graphicFrame>
        <p:nvGraphicFramePr>
          <p:cNvPr id="5" name="Chart">
            <a:extLst xmlns:a="http://schemas.openxmlformats.org/drawingml/2006/main">
              <a:ext uri="{FF2B5EF4-FFF2-40B4-BE49-F238E27FC236}">
                <a16:creationId xmlns:a16="http://schemas.microsoft.com/office/drawing/2014/main" id="{61C023AC-BC93-46A8-9507-ACA510A170DC}"/>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eb5e0c8f2eb44858"/>
          </a:graphicData>
        </a:graphic>
      </p:graphicFrame>
      <p:sp>
        <p:nvSpPr>
          <p:cNvPr id="6" name="">
            <a:extLst xmlns:a="http://schemas.openxmlformats.org/drawingml/2006/main">
              <a:ext uri="{FF2B5EF4-FFF2-40B4-BE49-F238E27FC236}">
                <a16:creationId xmlns:a16="http://schemas.microsoft.com/office/drawing/2014/main" id="{184FDF88-E4F7-41FE-8FD0-CF7A049476E7}"/>
              </a:ext>
            </a:extLst>
          </p:cNvPr>
          <p:cNvSpPr>
            <a:spLocks xmlns:a="http://schemas.openxmlformats.org/drawingml/2006/main" noGrp="1"/>
          </p:cNvSpPr>
          <p:nvPr/>
        </p:nvSpPr>
        <p:spPr>
          <a:xfrm xmlns:a="http://schemas.openxmlformats.org/drawingml/2006/main">
            <a:off x="685800" y="552450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Total loss (%) versus primary excess above 10 Mbps.</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A4 retains more traffic while allowing higher queue delay.</a:t>
            </a:r>
          </a:p>
        </p:txBody>
      </p:sp>
    </p:spTree>
    <p:extLst>
      <p:ext uri="{BB962C8B-B14F-4D97-AF65-F5344CB8AC3E}">
        <p14:creationId xmlns:p14="http://schemas.microsoft.com/office/powerpoint/2010/main" val="1421543794"/>
      </p:ext>
    </p:extLst>
  </p:cSld>
</p:sld>
</file>

<file path=ppt/slides/slide1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CBF7A4E-BCC3-4AC1-B1D2-5FC66DA32761}"/>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Learning after harmful throttling</a:t>
            </a:r>
          </a:p>
        </p:txBody>
      </p:sp>
      <p:sp>
        <p:nvSpPr>
          <p:cNvPr id="3" name="">
            <a:extLst xmlns:a="http://schemas.openxmlformats.org/drawingml/2006/main">
              <a:ext uri="{FF2B5EF4-FFF2-40B4-BE49-F238E27FC236}">
                <a16:creationId xmlns:a16="http://schemas.microsoft.com/office/drawing/2014/main" id="{B2A0A882-B5DC-42F8-931A-E7B8D090580D}"/>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13 / SELF-X</a:t>
            </a:r>
          </a:p>
        </p:txBody>
      </p:sp>
      <p:sp>
        <p:nvSpPr>
          <p:cNvPr id="4" name="">
            <a:extLst xmlns:a="http://schemas.openxmlformats.org/drawingml/2006/main">
              <a:ext uri="{FF2B5EF4-FFF2-40B4-BE49-F238E27FC236}">
                <a16:creationId xmlns:a16="http://schemas.microsoft.com/office/drawing/2014/main" id="{43D5A72C-694C-48B0-A5D7-762AF1A6147D}"/>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0.0001 Mbps excess diagnostic; all cold-start windows retained</a:t>
            </a:r>
          </a:p>
        </p:txBody>
      </p:sp>
      <p:graphicFrame>
        <p:nvGraphicFramePr>
          <p:cNvPr id="5" name="Chart">
            <a:extLst xmlns:a="http://schemas.openxmlformats.org/drawingml/2006/main">
              <a:ext uri="{FF2B5EF4-FFF2-40B4-BE49-F238E27FC236}">
                <a16:creationId xmlns:a16="http://schemas.microsoft.com/office/drawing/2014/main" id="{6A58500F-AFD1-47BA-A25E-50542F687156}"/>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c1447b08fd874be4"/>
          </a:graphicData>
        </a:graphic>
      </p:graphicFrame>
      <p:sp>
        <p:nvSpPr>
          <p:cNvPr id="6" name="">
            <a:extLst xmlns:a="http://schemas.openxmlformats.org/drawingml/2006/main">
              <a:ext uri="{FF2B5EF4-FFF2-40B4-BE49-F238E27FC236}">
                <a16:creationId xmlns:a16="http://schemas.microsoft.com/office/drawing/2014/main" id="{9E4DE00B-725C-4F12-A73C-0638C857F20D}"/>
              </a:ext>
            </a:extLst>
          </p:cNvPr>
          <p:cNvSpPr>
            <a:spLocks xmlns:a="http://schemas.openxmlformats.org/drawingml/2006/main" noGrp="1"/>
          </p:cNvSpPr>
          <p:nvPr/>
        </p:nvSpPr>
        <p:spPr>
          <a:xfrm xmlns:a="http://schemas.openxmlformats.org/drawingml/2006/main">
            <a:off x="685800" y="55054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Bars: A4 minus H1 cumulative reward; positive favors A4.</a:t>
            </a:r>
          </a:p>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Window 120 raw means: A4 -0.004; H1 -0.163.</a:t>
            </a:r>
          </a:p>
        </p:txBody>
      </p:sp>
    </p:spTree>
    <p:extLst>
      <p:ext uri="{BB962C8B-B14F-4D97-AF65-F5344CB8AC3E}">
        <p14:creationId xmlns:p14="http://schemas.microsoft.com/office/powerpoint/2010/main" val="636101593"/>
      </p:ext>
    </p:extLst>
  </p:cSld>
</p:sld>
</file>

<file path=ppt/slides/slide1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005AC86-BCC2-454D-BD1B-306325540F68}"/>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Measured full-cycle Gemini latency</a:t>
            </a:r>
          </a:p>
        </p:txBody>
      </p:sp>
      <p:sp>
        <p:nvSpPr>
          <p:cNvPr id="3" name="">
            <a:extLst xmlns:a="http://schemas.openxmlformats.org/drawingml/2006/main">
              <a:ext uri="{FF2B5EF4-FFF2-40B4-BE49-F238E27FC236}">
                <a16:creationId xmlns:a16="http://schemas.microsoft.com/office/drawing/2014/main" id="{EE16C57E-4662-4B24-9D9D-58593E2EC439}"/>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14 / SELF-X</a:t>
            </a:r>
          </a:p>
        </p:txBody>
      </p:sp>
      <p:sp>
        <p:nvSpPr>
          <p:cNvPr id="4" name="">
            <a:extLst xmlns:a="http://schemas.openxmlformats.org/drawingml/2006/main">
              <a:ext uri="{FF2B5EF4-FFF2-40B4-BE49-F238E27FC236}">
                <a16:creationId xmlns:a16="http://schemas.microsoft.com/office/drawing/2014/main" id="{1B430502-C47C-46E3-A2E9-23ACEF0982E4}"/>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Two fresh seeds; 24 cycles per mode; pacing and reflection included</a:t>
            </a:r>
          </a:p>
        </p:txBody>
      </p:sp>
      <p:graphicFrame>
        <p:nvGraphicFramePr>
          <p:cNvPr id="5" name="Chart">
            <a:extLst xmlns:a="http://schemas.openxmlformats.org/drawingml/2006/main">
              <a:ext uri="{FF2B5EF4-FFF2-40B4-BE49-F238E27FC236}">
                <a16:creationId xmlns:a16="http://schemas.microsoft.com/office/drawing/2014/main" id="{139271D9-EEF2-47EA-9F69-05550D7BD742}"/>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5acd569f6d484c54"/>
          </a:graphicData>
        </a:graphic>
      </p:graphicFrame>
      <p:sp>
        <p:nvSpPr>
          <p:cNvPr id="6" name="">
            <a:extLst xmlns:a="http://schemas.openxmlformats.org/drawingml/2006/main">
              <a:ext uri="{FF2B5EF4-FFF2-40B4-BE49-F238E27FC236}">
                <a16:creationId xmlns:a16="http://schemas.microsoft.com/office/drawing/2014/main" id="{DC1D0D41-324D-4DD5-AFBF-110AEF0D27EC}"/>
              </a:ext>
            </a:extLst>
          </p:cNvPr>
          <p:cNvSpPr>
            <a:spLocks xmlns:a="http://schemas.openxmlformats.org/drawingml/2006/main" noGrp="1"/>
          </p:cNvSpPr>
          <p:nvPr/>
        </p:nvSpPr>
        <p:spPr>
          <a:xfrm xmlns:a="http://schemas.openxmlformats.org/drawingml/2006/main">
            <a:off x="685800" y="550545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Compact mean reduction: 49.5%. Hybrid: 74.7%.</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This measures the whole system, including fewer requests and local reuse.</a:t>
            </a:r>
          </a:p>
        </p:txBody>
      </p:sp>
    </p:spTree>
    <p:extLst>
      <p:ext uri="{BB962C8B-B14F-4D97-AF65-F5344CB8AC3E}">
        <p14:creationId xmlns:p14="http://schemas.microsoft.com/office/powerpoint/2010/main" val="1300583545"/>
      </p:ext>
    </p:extLst>
  </p:cSld>
</p:sld>
</file>

<file path=ppt/slides/slide1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F0F95CB-DFB9-4FC8-BD66-5F478B09B480}"/>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Provider calls and decision origins</a:t>
            </a:r>
          </a:p>
        </p:txBody>
      </p:sp>
      <p:sp>
        <p:nvSpPr>
          <p:cNvPr id="3" name="">
            <a:extLst xmlns:a="http://schemas.openxmlformats.org/drawingml/2006/main">
              <a:ext uri="{FF2B5EF4-FFF2-40B4-BE49-F238E27FC236}">
                <a16:creationId xmlns:a16="http://schemas.microsoft.com/office/drawing/2014/main" id="{A116D3EA-8BD7-48C9-8C95-3467B62F9391}"/>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15 / SELF-X</a:t>
            </a:r>
          </a:p>
        </p:txBody>
      </p:sp>
      <p:sp>
        <p:nvSpPr>
          <p:cNvPr id="4" name="">
            <a:extLst xmlns:a="http://schemas.openxmlformats.org/drawingml/2006/main">
              <a:ext uri="{FF2B5EF4-FFF2-40B4-BE49-F238E27FC236}">
                <a16:creationId xmlns:a16="http://schemas.microsoft.com/office/drawing/2014/main" id="{0721ED01-9101-4AFB-AE24-7C2B1C80A531}"/>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Fresh API responses remain separate from local cache and bypass decisions</a:t>
            </a:r>
          </a:p>
        </p:txBody>
      </p:sp>
      <p:graphicFrame>
        <p:nvGraphicFramePr>
          <p:cNvPr id="5" name="Chart">
            <a:extLst xmlns:a="http://schemas.openxmlformats.org/drawingml/2006/main">
              <a:ext uri="{FF2B5EF4-FFF2-40B4-BE49-F238E27FC236}">
                <a16:creationId xmlns:a16="http://schemas.microsoft.com/office/drawing/2014/main" id="{98A66798-F4A0-4352-8C48-1B37ABFBA7FF}"/>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9736334c3f0446b9"/>
          </a:graphicData>
        </a:graphic>
      </p:graphicFrame>
      <p:sp>
        <p:nvSpPr>
          <p:cNvPr id="6" name="">
            <a:extLst xmlns:a="http://schemas.openxmlformats.org/drawingml/2006/main">
              <a:ext uri="{FF2B5EF4-FFF2-40B4-BE49-F238E27FC236}">
                <a16:creationId xmlns:a16="http://schemas.microsoft.com/office/drawing/2014/main" id="{F7F66DEE-C6CC-4257-AAB8-E45941AF1826}"/>
              </a:ext>
            </a:extLst>
          </p:cNvPr>
          <p:cNvSpPr>
            <a:spLocks xmlns:a="http://schemas.openxmlformats.org/drawingml/2006/main" noGrp="1"/>
          </p:cNvSpPr>
          <p:nvPr/>
        </p:nvSpPr>
        <p:spPr>
          <a:xfrm xmlns:a="http://schemas.openxmlformats.org/drawingml/2006/main">
            <a:off x="685800" y="5543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Actual provider requests: 48 → 24 → 12.</a:t>
            </a:r>
          </a:p>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Local measured reflection makes no provider request.</a:t>
            </a:r>
          </a:p>
        </p:txBody>
      </p:sp>
    </p:spTree>
    <p:extLst>
      <p:ext uri="{BB962C8B-B14F-4D97-AF65-F5344CB8AC3E}">
        <p14:creationId xmlns:p14="http://schemas.microsoft.com/office/powerpoint/2010/main" val="976463524"/>
      </p:ext>
    </p:extLst>
  </p:cSld>
</p:sld>
</file>

<file path=ppt/slides/slide1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EBB4AAF-0CBA-4158-9E1F-A14112E9FF56}"/>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Live pilot network outcomes</a:t>
            </a:r>
          </a:p>
        </p:txBody>
      </p:sp>
      <p:sp>
        <p:nvSpPr>
          <p:cNvPr id="3" name="">
            <a:extLst xmlns:a="http://schemas.openxmlformats.org/drawingml/2006/main">
              <a:ext uri="{FF2B5EF4-FFF2-40B4-BE49-F238E27FC236}">
                <a16:creationId xmlns:a16="http://schemas.microsoft.com/office/drawing/2014/main" id="{F2774E22-7F4C-42CA-8DA6-8758DFFCFB9D}"/>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16 / SELF-X</a:t>
            </a:r>
          </a:p>
        </p:txBody>
      </p:sp>
      <p:sp>
        <p:nvSpPr>
          <p:cNvPr id="4" name="">
            <a:extLst xmlns:a="http://schemas.openxmlformats.org/drawingml/2006/main">
              <a:ext uri="{FF2B5EF4-FFF2-40B4-BE49-F238E27FC236}">
                <a16:creationId xmlns:a16="http://schemas.microsoft.com/office/drawing/2014/main" id="{B13294FC-A207-4E8A-883D-60A5EB667510}"/>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Faster execution must be assessed together with action quality</a:t>
            </a:r>
          </a:p>
        </p:txBody>
      </p:sp>
      <p:graphicFrame>
        <p:nvGraphicFramePr>
          <p:cNvPr id="5" name="">
            <a:extLst xmlns:a="http://schemas.openxmlformats.org/drawingml/2006/main">
              <a:ext uri="{FF2B5EF4-FFF2-40B4-BE49-F238E27FC236}">
                <a16:creationId xmlns:a16="http://schemas.microsoft.com/office/drawing/2014/main" id="{DA1DC6A3-9EE3-4A8F-85FB-D23C7E60CDF0}"/>
              </a:ext>
            </a:extLst>
          </p:cNvPr>
          <p:cNvGraphicFramePr/>
          <p:nvPr/>
        </p:nvGraphicFramePr>
        <p:xfrm>
          <a:off xmlns:a="http://schemas.openxmlformats.org/drawingml/2006/main" x="609600" y="1857375"/>
          <a:ext xmlns:a="http://schemas.openxmlformats.org/drawingml/2006/main" cx="10972800" cy="2857500"/>
        </p:xfrm>
        <a:graphic xmlns:a="http://schemas.openxmlformats.org/drawingml/2006/main">
          <a:graphicData uri="http://schemas.openxmlformats.org/drawingml/2006/table">
            <a:tbl>
              <a:tblPr/>
              <a:tblGrid>
                <a:gridCol w="1857375"/>
                <a:gridCol w="2190750"/>
                <a:gridCol w="2667000"/>
                <a:gridCol w="2476500"/>
                <a:gridCol w="1781175"/>
              </a:tblGrid>
              <a:tr h="714375">
                <a:tc>
                  <a:txBody>
                    <a:bodyPr/>
                    <a:lstStyle/>
                    <a:p>
                      <a:r>
                        <a:rPr sz="1875" b="1">
                          <a:solidFill>
                            <a:srgbClr val="102E36"/>
                          </a:solidFill>
                          <a:latin typeface="Arial"/>
                          <a:ea typeface="Arial"/>
                          <a:cs typeface="Arial"/>
                        </a:rPr>
                        <a:t>Mode</a:t>
                      </a:r>
                    </a:p>
                  </a:txBody>
                  <a:tcPr marL="95250" marR="9525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Delay ms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Goodput Mbps</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Total loss %</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875" b="1">
                          <a:solidFill>
                            <a:srgbClr val="102E36"/>
                          </a:solidFill>
                          <a:latin typeface="Arial"/>
                          <a:ea typeface="Arial"/>
                          <a:cs typeface="Arial"/>
                        </a:rPr>
                        <a:t>Reward</a:t>
                      </a:r>
                    </a:p>
                  </a:txBody>
                  <a:tcPr marL="95250" marR="9525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714375">
                <a:tc>
                  <a:txBody>
                    <a:bodyPr/>
                    <a:lstStyle/>
                    <a:p>
                      <a:r>
                        <a:rPr sz="1875">
                          <a:solidFill>
                            <a:srgbClr val="102E36"/>
                          </a:solidFill>
                          <a:latin typeface="Arial"/>
                          <a:ea typeface="Arial"/>
                          <a:cs typeface="Arial"/>
                        </a:rPr>
                        <a:t>Two calls</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22.760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12.720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6.986</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0.111</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75">
                          <a:solidFill>
                            <a:srgbClr val="102E36"/>
                          </a:solidFill>
                          <a:latin typeface="Arial"/>
                          <a:ea typeface="Arial"/>
                          <a:cs typeface="Arial"/>
                        </a:rPr>
                        <a:t>Compact</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17.915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12.637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7.470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0.137</a:t>
                      </a:r>
                    </a:p>
                  </a:txBody>
                  <a:tcPr marL="95250" marR="95250" marT="57150" marB="57150">
                    <a:lnR w="9525">
                      <a:solidFill>
                        <a:srgbClr val="D9E3DF"/>
                      </a:solidFill>
                      <a:prstDash val="solid"/>
                    </a:lnR>
                    <a:lnB w="9525">
                      <a:solidFill>
                        <a:srgbClr val="D9E3DF"/>
                      </a:solidFill>
                      <a:prstDash val="solid"/>
                    </a:lnB>
                    <a:solidFill>
                      <a:srgbClr val="F6F8F3"/>
                    </a:solidFill>
                  </a:tcPr>
                </a:tc>
              </a:tr>
              <a:tr h="714375">
                <a:tc>
                  <a:txBody>
                    <a:bodyPr/>
                    <a:lstStyle/>
                    <a:p>
                      <a:r>
                        <a:rPr sz="1875">
                          <a:solidFill>
                            <a:srgbClr val="102E36"/>
                          </a:solidFill>
                          <a:latin typeface="Arial"/>
                          <a:ea typeface="Arial"/>
                          <a:cs typeface="Arial"/>
                        </a:rPr>
                        <a:t>Hybrid</a:t>
                      </a:r>
                    </a:p>
                  </a:txBody>
                  <a:tcPr marL="95250" marR="9525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17.915</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12.637</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7.470</a:t>
                      </a:r>
                    </a:p>
                  </a:txBody>
                  <a:tcPr marL="95250" marR="95250" marT="57150" marB="57150">
                    <a:lnR w="9525">
                      <a:solidFill>
                        <a:srgbClr val="D9E3DF"/>
                      </a:solidFill>
                      <a:prstDash val="solid"/>
                    </a:lnR>
                    <a:lnB w="9525">
                      <a:solidFill>
                        <a:srgbClr val="D9E3DF"/>
                      </a:solidFill>
                      <a:prstDash val="solid"/>
                    </a:lnB>
                    <a:solidFill>
                      <a:srgbClr val="F6F8F3"/>
                    </a:solidFill>
                  </a:tcPr>
                </a:tc>
                <a:tc>
                  <a:txBody>
                    <a:bodyPr/>
                    <a:lstStyle/>
                    <a:p>
                      <a:r>
                        <a:rPr sz="1875">
                          <a:solidFill>
                            <a:srgbClr val="102E36"/>
                          </a:solidFill>
                          <a:latin typeface="Arial"/>
                          <a:ea typeface="Arial"/>
                          <a:cs typeface="Arial"/>
                        </a:rPr>
                        <a:t>0.137</a:t>
                      </a:r>
                    </a:p>
                  </a:txBody>
                  <a:tcPr marL="95250" marR="9525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82179B44-85FA-4A5D-ABB3-4E5AB9983A31}"/>
              </a:ext>
            </a:extLst>
          </p:cNvPr>
          <p:cNvSpPr>
            <a:spLocks xmlns:a="http://schemas.openxmlformats.org/drawingml/2006/main" noGrp="1"/>
          </p:cNvSpPr>
          <p:nvPr/>
        </p:nvSpPr>
        <p:spPr>
          <a:xfrm xmlns:a="http://schemas.openxmlformats.org/drawingml/2006/main">
            <a:off x="666750" y="5267325"/>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Hybrid loss minus legacy: 0.484 percentage points.</a:t>
            </a:r>
          </a:p>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A latency reduction does not establish a uniform network-quality gain.</a:t>
            </a:r>
          </a:p>
        </p:txBody>
      </p:sp>
    </p:spTree>
    <p:extLst>
      <p:ext uri="{BB962C8B-B14F-4D97-AF65-F5344CB8AC3E}">
        <p14:creationId xmlns:p14="http://schemas.microsoft.com/office/powerpoint/2010/main" val="789789872"/>
      </p:ext>
    </p:extLst>
  </p:cSld>
</p:sld>
</file>

<file path=ppt/slides/slide1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75C580A-3A13-411C-8240-BF2B22BFC68C}"/>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Five-second deadline misses</a:t>
            </a:r>
          </a:p>
        </p:txBody>
      </p:sp>
      <p:sp>
        <p:nvSpPr>
          <p:cNvPr id="3" name="">
            <a:extLst xmlns:a="http://schemas.openxmlformats.org/drawingml/2006/main">
              <a:ext uri="{FF2B5EF4-FFF2-40B4-BE49-F238E27FC236}">
                <a16:creationId xmlns:a16="http://schemas.microsoft.com/office/drawing/2014/main" id="{474441D3-A6C7-4B5D-A40F-39E1A9782E7F}"/>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17 / SELF-X</a:t>
            </a:r>
          </a:p>
        </p:txBody>
      </p:sp>
      <p:sp>
        <p:nvSpPr>
          <p:cNvPr id="4" name="">
            <a:extLst xmlns:a="http://schemas.openxmlformats.org/drawingml/2006/main">
              <a:ext uri="{FF2B5EF4-FFF2-40B4-BE49-F238E27FC236}">
                <a16:creationId xmlns:a16="http://schemas.microsoft.com/office/drawing/2014/main" id="{D7B8BB2D-FACF-4679-95C9-8D5429ACA634}"/>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Observed tail latency remains a practical limitation</a:t>
            </a:r>
          </a:p>
        </p:txBody>
      </p:sp>
      <p:graphicFrame>
        <p:nvGraphicFramePr>
          <p:cNvPr id="5" name="Chart">
            <a:extLst xmlns:a="http://schemas.openxmlformats.org/drawingml/2006/main">
              <a:ext uri="{FF2B5EF4-FFF2-40B4-BE49-F238E27FC236}">
                <a16:creationId xmlns:a16="http://schemas.microsoft.com/office/drawing/2014/main" id="{B8F865F8-9FE0-49B9-A0A4-F3E972C10623}"/>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0a6d00e218ab43d2"/>
          </a:graphicData>
        </a:graphic>
      </p:graphicFrame>
      <p:sp>
        <p:nvSpPr>
          <p:cNvPr id="6" name="">
            <a:extLst xmlns:a="http://schemas.openxmlformats.org/drawingml/2006/main">
              <a:ext uri="{FF2B5EF4-FFF2-40B4-BE49-F238E27FC236}">
                <a16:creationId xmlns:a16="http://schemas.microsoft.com/office/drawing/2014/main" id="{4985C901-91ED-442F-B19D-B659E3E7548E}"/>
              </a:ext>
            </a:extLst>
          </p:cNvPr>
          <p:cNvSpPr>
            <a:spLocks xmlns:a="http://schemas.openxmlformats.org/drawingml/2006/main" noGrp="1"/>
          </p:cNvSpPr>
          <p:nvPr/>
        </p:nvSpPr>
        <p:spPr>
          <a:xfrm xmlns:a="http://schemas.openxmlformats.org/drawingml/2006/main">
            <a:off x="666750" y="55340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P95 full cycle: Two calls 8.83 s · Compact 4.56 s · Hybrid 5.71 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The pilot does not establish a production deadline guarantee.</a:t>
            </a:r>
          </a:p>
        </p:txBody>
      </p:sp>
    </p:spTree>
    <p:extLst>
      <p:ext uri="{BB962C8B-B14F-4D97-AF65-F5344CB8AC3E}">
        <p14:creationId xmlns:p14="http://schemas.microsoft.com/office/powerpoint/2010/main" val="439723037"/>
      </p:ext>
    </p:extLst>
  </p:cSld>
</p:sld>
</file>

<file path=ppt/slides/slide1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5B8F7CB-3CAB-4F44-B90D-8E00EEF69344}"/>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Local memory computation overhead</a:t>
            </a:r>
          </a:p>
        </p:txBody>
      </p:sp>
      <p:sp>
        <p:nvSpPr>
          <p:cNvPr id="3" name="">
            <a:extLst xmlns:a="http://schemas.openxmlformats.org/drawingml/2006/main">
              <a:ext uri="{FF2B5EF4-FFF2-40B4-BE49-F238E27FC236}">
                <a16:creationId xmlns:a16="http://schemas.microsoft.com/office/drawing/2014/main" id="{3E76F27C-F772-43B7-9BC8-FB28E911AADB}"/>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18 / SELF-X</a:t>
            </a:r>
          </a:p>
        </p:txBody>
      </p:sp>
      <p:sp>
        <p:nvSpPr>
          <p:cNvPr id="4" name="">
            <a:extLst xmlns:a="http://schemas.openxmlformats.org/drawingml/2006/main">
              <a:ext uri="{FF2B5EF4-FFF2-40B4-BE49-F238E27FC236}">
                <a16:creationId xmlns:a16="http://schemas.microsoft.com/office/drawing/2014/main" id="{BE62C572-5B00-483E-A45A-FDEBFBD74922}"/>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Measured in .venv; excludes the final batched memory flush</a:t>
            </a:r>
          </a:p>
        </p:txBody>
      </p:sp>
      <p:graphicFrame>
        <p:nvGraphicFramePr>
          <p:cNvPr id="5" name="Chart">
            <a:extLst xmlns:a="http://schemas.openxmlformats.org/drawingml/2006/main">
              <a:ext uri="{FF2B5EF4-FFF2-40B4-BE49-F238E27FC236}">
                <a16:creationId xmlns:a16="http://schemas.microsoft.com/office/drawing/2014/main" id="{F0B33B0B-28EF-45E2-A77D-EDD2E9062F42}"/>
              </a:ext>
            </a:extLst>
          </p:cNvPr>
          <p:cNvGraphicFramePr/>
          <p:nvPr/>
        </p:nvGraphicFramePr>
        <p:xfrm>
          <a:off xmlns:a="http://schemas.openxmlformats.org/drawingml/2006/main" x="952500" y="1809750"/>
          <a:ext xmlns:a="http://schemas.openxmlformats.org/drawingml/2006/main" cx="10382250" cy="3333750"/>
        </p:xfrm>
        <a:graphic xmlns:a="http://schemas.openxmlformats.org/drawingml/2006/main">
          <a:graphicData uri="http://schemas.openxmlformats.org/drawingml/2006/chart">
            <c:chart xmlns:r="http://schemas.openxmlformats.org/officeDocument/2006/relationships" xmlns:c="http://schemas.openxmlformats.org/drawingml/2006/chart" r:id="Rb352c29d7f64403a"/>
          </a:graphicData>
        </a:graphic>
      </p:graphicFrame>
      <p:sp>
        <p:nvSpPr>
          <p:cNvPr id="6" name="">
            <a:extLst xmlns:a="http://schemas.openxmlformats.org/drawingml/2006/main">
              <a:ext uri="{FF2B5EF4-FFF2-40B4-BE49-F238E27FC236}">
                <a16:creationId xmlns:a16="http://schemas.microsoft.com/office/drawing/2014/main" id="{365B9C99-B9CD-431E-A7B3-DCB76E05EC96}"/>
              </a:ext>
            </a:extLst>
          </p:cNvPr>
          <p:cNvSpPr>
            <a:spLocks xmlns:a="http://schemas.openxmlformats.org/drawingml/2006/main" noGrp="1"/>
          </p:cNvSpPr>
          <p:nvPr/>
        </p:nvSpPr>
        <p:spPr>
          <a:xfrm xmlns:a="http://schemas.openxmlformats.org/drawingml/2006/main">
            <a:off x="685800" y="550545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Primary suite wall time: 39.92 seconds.</a:t>
            </a:r>
          </a:p>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A4 mean: 0.657 ms; P95: 1.310 ms.</a:t>
            </a:r>
          </a:p>
        </p:txBody>
      </p:sp>
    </p:spTree>
    <p:extLst>
      <p:ext uri="{BB962C8B-B14F-4D97-AF65-F5344CB8AC3E}">
        <p14:creationId xmlns:p14="http://schemas.microsoft.com/office/powerpoint/2010/main" val="685709627"/>
      </p:ext>
    </p:extLst>
  </p:cSld>
</p:sld>
</file>

<file path=ppt/slides/slide1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BB3E22C-BADC-45F1-A685-7126DEC686F5}"/>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02E36"/>
                </a:solidFill>
                <a:latin typeface="Arial"/>
                <a:ea typeface="Arial"/>
                <a:cs typeface="Arial"/>
              </a:defRPr>
            </a:defPPr>
            <a:lvl1pPr>
              <a:defRPr sz="3150" b="0">
                <a:solidFill>
                  <a:srgbClr val="102E36"/>
                </a:solidFill>
                <a:latin typeface="Arial"/>
                <a:ea typeface="Arial"/>
                <a:cs typeface="Arial"/>
              </a:defRPr>
            </a:lvl1pPr>
            <a:lvl2pPr>
              <a:defRPr sz="3150" b="0">
                <a:solidFill>
                  <a:srgbClr val="102E36"/>
                </a:solidFill>
                <a:latin typeface="Arial"/>
                <a:ea typeface="Arial"/>
                <a:cs typeface="Arial"/>
              </a:defRPr>
            </a:lvl2pPr>
            <a:lvl3pPr>
              <a:defRPr sz="3150" b="0">
                <a:solidFill>
                  <a:srgbClr val="102E36"/>
                </a:solidFill>
                <a:latin typeface="Arial"/>
                <a:ea typeface="Arial"/>
                <a:cs typeface="Arial"/>
              </a:defRPr>
            </a:lvl3pPr>
            <a:lvl4pPr>
              <a:defRPr sz="3150" b="0">
                <a:solidFill>
                  <a:srgbClr val="102E36"/>
                </a:solidFill>
                <a:latin typeface="Arial"/>
                <a:ea typeface="Arial"/>
                <a:cs typeface="Arial"/>
              </a:defRPr>
            </a:lvl4pPr>
            <a:lvl5pPr>
              <a:defRPr sz="3150" b="0">
                <a:solidFill>
                  <a:srgbClr val="102E36"/>
                </a:solidFill>
                <a:latin typeface="Arial"/>
                <a:ea typeface="Arial"/>
                <a:cs typeface="Arial"/>
              </a:defRPr>
            </a:lvl5pPr>
            <a:lvl6pPr>
              <a:defRPr sz="3150" b="0">
                <a:solidFill>
                  <a:srgbClr val="102E36"/>
                </a:solidFill>
                <a:latin typeface="Arial"/>
                <a:ea typeface="Arial"/>
                <a:cs typeface="Arial"/>
              </a:defRPr>
            </a:lvl6pPr>
            <a:lvl7pPr>
              <a:defRPr sz="3150" b="0">
                <a:solidFill>
                  <a:srgbClr val="102E36"/>
                </a:solidFill>
                <a:latin typeface="Arial"/>
                <a:ea typeface="Arial"/>
                <a:cs typeface="Arial"/>
              </a:defRPr>
            </a:lvl7pPr>
            <a:lvl8pPr>
              <a:defRPr sz="3150" b="0">
                <a:solidFill>
                  <a:srgbClr val="102E36"/>
                </a:solidFill>
                <a:latin typeface="Arial"/>
                <a:ea typeface="Arial"/>
                <a:cs typeface="Arial"/>
              </a:defRPr>
            </a:lvl8pPr>
            <a:lvl9pPr>
              <a:defRPr sz="3150" b="0">
                <a:solidFill>
                  <a:srgbClr val="102E36"/>
                </a:solidFill>
                <a:latin typeface="Arial"/>
                <a:ea typeface="Arial"/>
                <a:cs typeface="Arial"/>
              </a:defRPr>
            </a:lvl9pPr>
          </a:lstStyle>
          <a:p xmlns:a="http://schemas.openxmlformats.org/drawingml/2006/main">
            <a:pPr>
              <a:defRPr sz="3150" b="0">
                <a:solidFill>
                  <a:srgbClr val="102E36"/>
                </a:solidFill>
                <a:latin typeface="Arial"/>
                <a:ea typeface="Arial"/>
                <a:cs typeface="Arial"/>
              </a:defRPr>
            </a:pPr>
            <a:r>
              <a:rPr sz="3150" b="0">
                <a:solidFill>
                  <a:srgbClr val="102E36"/>
                </a:solidFill>
                <a:latin typeface="Arial"/>
                <a:ea typeface="Arial"/>
                <a:cs typeface="Arial"/>
              </a:rPr>
              <a:t>Validation and remaining limits</a:t>
            </a:r>
          </a:p>
        </p:txBody>
      </p:sp>
      <p:sp>
        <p:nvSpPr>
          <p:cNvPr id="3" name="">
            <a:extLst xmlns:a="http://schemas.openxmlformats.org/drawingml/2006/main">
              <a:ext uri="{FF2B5EF4-FFF2-40B4-BE49-F238E27FC236}">
                <a16:creationId xmlns:a16="http://schemas.microsoft.com/office/drawing/2014/main" id="{3710410D-9A2E-4B1E-A96F-85E6C5089339}"/>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19 / SELF-X</a:t>
            </a:r>
          </a:p>
        </p:txBody>
      </p:sp>
      <p:sp>
        <p:nvSpPr>
          <p:cNvPr id="4" name="">
            <a:extLst xmlns:a="http://schemas.openxmlformats.org/drawingml/2006/main">
              <a:ext uri="{FF2B5EF4-FFF2-40B4-BE49-F238E27FC236}">
                <a16:creationId xmlns:a16="http://schemas.microsoft.com/office/drawing/2014/main" id="{499C24F5-04FA-437F-9B59-084C69B71B16}"/>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60777B"/>
                </a:solidFill>
                <a:latin typeface="Arial"/>
                <a:ea typeface="Arial"/>
                <a:cs typeface="Arial"/>
              </a:defRPr>
            </a:defPPr>
            <a:lvl1pPr>
              <a:defRPr sz="1050" b="0">
                <a:solidFill>
                  <a:srgbClr val="60777B"/>
                </a:solidFill>
                <a:latin typeface="Arial"/>
                <a:ea typeface="Arial"/>
                <a:cs typeface="Arial"/>
              </a:defRPr>
            </a:lvl1pPr>
            <a:lvl2pPr>
              <a:defRPr sz="1050" b="0">
                <a:solidFill>
                  <a:srgbClr val="60777B"/>
                </a:solidFill>
                <a:latin typeface="Arial"/>
                <a:ea typeface="Arial"/>
                <a:cs typeface="Arial"/>
              </a:defRPr>
            </a:lvl2pPr>
            <a:lvl3pPr>
              <a:defRPr sz="1050" b="0">
                <a:solidFill>
                  <a:srgbClr val="60777B"/>
                </a:solidFill>
                <a:latin typeface="Arial"/>
                <a:ea typeface="Arial"/>
                <a:cs typeface="Arial"/>
              </a:defRPr>
            </a:lvl3pPr>
            <a:lvl4pPr>
              <a:defRPr sz="1050" b="0">
                <a:solidFill>
                  <a:srgbClr val="60777B"/>
                </a:solidFill>
                <a:latin typeface="Arial"/>
                <a:ea typeface="Arial"/>
                <a:cs typeface="Arial"/>
              </a:defRPr>
            </a:lvl4pPr>
            <a:lvl5pPr>
              <a:defRPr sz="1050" b="0">
                <a:solidFill>
                  <a:srgbClr val="60777B"/>
                </a:solidFill>
                <a:latin typeface="Arial"/>
                <a:ea typeface="Arial"/>
                <a:cs typeface="Arial"/>
              </a:defRPr>
            </a:lvl5pPr>
            <a:lvl6pPr>
              <a:defRPr sz="1050" b="0">
                <a:solidFill>
                  <a:srgbClr val="60777B"/>
                </a:solidFill>
                <a:latin typeface="Arial"/>
                <a:ea typeface="Arial"/>
                <a:cs typeface="Arial"/>
              </a:defRPr>
            </a:lvl6pPr>
            <a:lvl7pPr>
              <a:defRPr sz="1050" b="0">
                <a:solidFill>
                  <a:srgbClr val="60777B"/>
                </a:solidFill>
                <a:latin typeface="Arial"/>
                <a:ea typeface="Arial"/>
                <a:cs typeface="Arial"/>
              </a:defRPr>
            </a:lvl7pPr>
            <a:lvl8pPr>
              <a:defRPr sz="1050" b="0">
                <a:solidFill>
                  <a:srgbClr val="60777B"/>
                </a:solidFill>
                <a:latin typeface="Arial"/>
                <a:ea typeface="Arial"/>
                <a:cs typeface="Arial"/>
              </a:defRPr>
            </a:lvl8pPr>
            <a:lvl9pPr>
              <a:defRPr sz="1050" b="0">
                <a:solidFill>
                  <a:srgbClr val="60777B"/>
                </a:solidFill>
                <a:latin typeface="Arial"/>
                <a:ea typeface="Arial"/>
                <a:cs typeface="Arial"/>
              </a:defRPr>
            </a:lvl9pPr>
          </a:lstStyle>
          <a:p xmlns:a="http://schemas.openxmlformats.org/drawingml/2006/main">
            <a:pPr>
              <a:defRPr sz="1050" b="0">
                <a:solidFill>
                  <a:srgbClr val="60777B"/>
                </a:solidFill>
                <a:latin typeface="Arial"/>
                <a:ea typeface="Arial"/>
                <a:cs typeface="Arial"/>
              </a:defRPr>
            </a:pPr>
            <a:r>
              <a:rPr sz="1050" b="0">
                <a:solidFill>
                  <a:srgbClr val="60777B"/>
                </a:solidFill>
                <a:latin typeface="Arial"/>
                <a:ea typeface="Arial"/>
                <a:cs typeface="Arial"/>
              </a:rPr>
              <a:t>All project modifications and evidence remain inside selfx</a:t>
            </a:r>
          </a:p>
        </p:txBody>
      </p:sp>
      <p:sp>
        <p:nvSpPr>
          <p:cNvPr id="5" name="">
            <a:extLst xmlns:a="http://schemas.openxmlformats.org/drawingml/2006/main">
              <a:ext uri="{FF2B5EF4-FFF2-40B4-BE49-F238E27FC236}">
                <a16:creationId xmlns:a16="http://schemas.microsoft.com/office/drawing/2014/main" id="{33667C18-164D-4041-ACAD-C1A9F958AF71}"/>
              </a:ext>
            </a:extLst>
          </p:cNvPr>
          <p:cNvSpPr>
            <a:spLocks xmlns:a="http://schemas.openxmlformats.org/drawingml/2006/main" noGrp="1"/>
          </p:cNvSpPr>
          <p:nvPr/>
        </p:nvSpPr>
        <p:spPr>
          <a:xfrm xmlns:a="http://schemas.openxmlformats.org/drawingml/2006/main">
            <a:off x="647700" y="1695450"/>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47 passed, 4 subtests passed in 4.21s in the isolated virtual environment.</a:t>
            </a:r>
          </a:p>
        </p:txBody>
      </p:sp>
      <p:sp>
        <p:nvSpPr>
          <p:cNvPr id="6" name="">
            <a:extLst xmlns:a="http://schemas.openxmlformats.org/drawingml/2006/main">
              <a:ext uri="{FF2B5EF4-FFF2-40B4-BE49-F238E27FC236}">
                <a16:creationId xmlns:a16="http://schemas.microsoft.com/office/drawing/2014/main" id="{1530612C-256D-40B1-9FBA-57A54183C686}"/>
              </a:ext>
            </a:extLst>
          </p:cNvPr>
          <p:cNvSpPr>
            <a:spLocks xmlns:a="http://schemas.openxmlformats.org/drawingml/2006/main" noGrp="1"/>
          </p:cNvSpPr>
          <p:nvPr/>
        </p:nvSpPr>
        <p:spPr>
          <a:xfrm xmlns:a="http://schemas.openxmlformats.org/drawingml/2006/main">
            <a:off x="647700" y="2733675"/>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8/17 compact free-model schema checks returned valid actions.</a:t>
            </a:r>
          </a:p>
        </p:txBody>
      </p:sp>
      <p:sp>
        <p:nvSpPr>
          <p:cNvPr id="7" name="">
            <a:extLst xmlns:a="http://schemas.openxmlformats.org/drawingml/2006/main">
              <a:ext uri="{FF2B5EF4-FFF2-40B4-BE49-F238E27FC236}">
                <a16:creationId xmlns:a16="http://schemas.microsoft.com/office/drawing/2014/main" id="{CB6371E5-3F5B-438F-A39F-6B9A6E3C3E44}"/>
              </a:ext>
            </a:extLst>
          </p:cNvPr>
          <p:cNvSpPr>
            <a:spLocks xmlns:a="http://schemas.openxmlformats.org/drawingml/2006/main" noGrp="1"/>
          </p:cNvSpPr>
          <p:nvPr/>
        </p:nvSpPr>
        <p:spPr>
          <a:xfrm xmlns:a="http://schemas.openxmlformats.org/drawingml/2006/main">
            <a:off x="647700" y="3771900"/>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Primary memory matches H1; targeted benefits have a delay tradeoff.</a:t>
            </a:r>
          </a:p>
        </p:txBody>
      </p:sp>
      <p:sp>
        <p:nvSpPr>
          <p:cNvPr id="8" name="">
            <a:extLst xmlns:a="http://schemas.openxmlformats.org/drawingml/2006/main">
              <a:ext uri="{FF2B5EF4-FFF2-40B4-BE49-F238E27FC236}">
                <a16:creationId xmlns:a16="http://schemas.microsoft.com/office/drawing/2014/main" id="{0D436D8F-3AAA-479F-9566-59EBDEBAF73A}"/>
              </a:ext>
            </a:extLst>
          </p:cNvPr>
          <p:cNvSpPr>
            <a:spLocks xmlns:a="http://schemas.openxmlformats.org/drawingml/2006/main" noGrp="1"/>
          </p:cNvSpPr>
          <p:nvPr/>
        </p:nvSpPr>
        <p:spPr>
          <a:xfrm xmlns:a="http://schemas.openxmlformats.org/drawingml/2006/main">
            <a:off x="647700" y="4810125"/>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Network metrics are simulated; Linux packet deployment remains unvalidated.</a:t>
            </a:r>
          </a:p>
        </p:txBody>
      </p:sp>
    </p:spTree>
    <p:extLst>
      <p:ext uri="{BB962C8B-B14F-4D97-AF65-F5344CB8AC3E}">
        <p14:creationId xmlns:p14="http://schemas.microsoft.com/office/powerpoint/2010/main" val="320364099"/>
      </p:ext>
    </p:extLst>
  </p:cSld>
</p:sld>
</file>

<file path=ppt/slides/slide20.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F87B10E-895F-474D-9989-6F41B3606A62}"/>
              </a:ext>
            </a:extLst>
          </p:cNvPr>
          <p:cNvSpPr>
            <a:spLocks xmlns:a="http://schemas.openxmlformats.org/drawingml/2006/main" noGrp="1"/>
          </p:cNvSpPr>
          <p:nvPr/>
        </p:nvSpPr>
        <p:spPr>
          <a:xfrm xmlns:a="http://schemas.openxmlformats.org/drawingml/2006/main">
            <a:off x="609600"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FFFFFF"/>
                </a:solidFill>
                <a:latin typeface="Arial"/>
                <a:ea typeface="Arial"/>
                <a:cs typeface="Arial"/>
              </a:defRPr>
            </a:defPPr>
            <a:lvl1pPr>
              <a:defRPr sz="3150" b="0">
                <a:solidFill>
                  <a:srgbClr val="FFFFFF"/>
                </a:solidFill>
                <a:latin typeface="Arial"/>
                <a:ea typeface="Arial"/>
                <a:cs typeface="Arial"/>
              </a:defRPr>
            </a:lvl1pPr>
            <a:lvl2pPr>
              <a:defRPr sz="3150" b="0">
                <a:solidFill>
                  <a:srgbClr val="FFFFFF"/>
                </a:solidFill>
                <a:latin typeface="Arial"/>
                <a:ea typeface="Arial"/>
                <a:cs typeface="Arial"/>
              </a:defRPr>
            </a:lvl2pPr>
            <a:lvl3pPr>
              <a:defRPr sz="3150" b="0">
                <a:solidFill>
                  <a:srgbClr val="FFFFFF"/>
                </a:solidFill>
                <a:latin typeface="Arial"/>
                <a:ea typeface="Arial"/>
                <a:cs typeface="Arial"/>
              </a:defRPr>
            </a:lvl3pPr>
            <a:lvl4pPr>
              <a:defRPr sz="3150" b="0">
                <a:solidFill>
                  <a:srgbClr val="FFFFFF"/>
                </a:solidFill>
                <a:latin typeface="Arial"/>
                <a:ea typeface="Arial"/>
                <a:cs typeface="Arial"/>
              </a:defRPr>
            </a:lvl4pPr>
            <a:lvl5pPr>
              <a:defRPr sz="3150" b="0">
                <a:solidFill>
                  <a:srgbClr val="FFFFFF"/>
                </a:solidFill>
                <a:latin typeface="Arial"/>
                <a:ea typeface="Arial"/>
                <a:cs typeface="Arial"/>
              </a:defRPr>
            </a:lvl5pPr>
            <a:lvl6pPr>
              <a:defRPr sz="3150" b="0">
                <a:solidFill>
                  <a:srgbClr val="FFFFFF"/>
                </a:solidFill>
                <a:latin typeface="Arial"/>
                <a:ea typeface="Arial"/>
                <a:cs typeface="Arial"/>
              </a:defRPr>
            </a:lvl6pPr>
            <a:lvl7pPr>
              <a:defRPr sz="3150" b="0">
                <a:solidFill>
                  <a:srgbClr val="FFFFFF"/>
                </a:solidFill>
                <a:latin typeface="Arial"/>
                <a:ea typeface="Arial"/>
                <a:cs typeface="Arial"/>
              </a:defRPr>
            </a:lvl7pPr>
            <a:lvl8pPr>
              <a:defRPr sz="3150" b="0">
                <a:solidFill>
                  <a:srgbClr val="FFFFFF"/>
                </a:solidFill>
                <a:latin typeface="Arial"/>
                <a:ea typeface="Arial"/>
                <a:cs typeface="Arial"/>
              </a:defRPr>
            </a:lvl8pPr>
            <a:lvl9pPr>
              <a:defRPr sz="3150" b="0">
                <a:solidFill>
                  <a:srgbClr val="FFFFFF"/>
                </a:solidFill>
                <a:latin typeface="Arial"/>
                <a:ea typeface="Arial"/>
                <a:cs typeface="Arial"/>
              </a:defRPr>
            </a:lvl9pPr>
          </a:lstStyle>
          <a:p xmlns:a="http://schemas.openxmlformats.org/drawingml/2006/main">
            <a:pPr>
              <a:defRPr sz="3150" b="0">
                <a:solidFill>
                  <a:srgbClr val="FFFFFF"/>
                </a:solidFill>
                <a:latin typeface="Arial"/>
                <a:ea typeface="Arial"/>
                <a:cs typeface="Arial"/>
              </a:defRPr>
            </a:pPr>
            <a:r>
              <a:rPr sz="3150" b="0">
                <a:solidFill>
                  <a:srgbClr val="FFFFFF"/>
                </a:solidFill>
                <a:latin typeface="Arial"/>
                <a:ea typeface="Arial"/>
                <a:cs typeface="Arial"/>
              </a:rPr>
              <a:t>Reproduce and inspect the results</a:t>
            </a:r>
          </a:p>
        </p:txBody>
      </p:sp>
      <p:sp>
        <p:nvSpPr>
          <p:cNvPr id="3" name="">
            <a:extLst xmlns:a="http://schemas.openxmlformats.org/drawingml/2006/main">
              <a:ext uri="{FF2B5EF4-FFF2-40B4-BE49-F238E27FC236}">
                <a16:creationId xmlns:a16="http://schemas.microsoft.com/office/drawing/2014/main" id="{FAFB560E-AAC9-4B5A-9343-90B9EF445FB4}"/>
              </a:ext>
            </a:extLst>
          </p:cNvPr>
          <p:cNvSpPr>
            <a:spLocks xmlns:a="http://schemas.openxmlformats.org/drawingml/2006/main" noGrp="1"/>
          </p:cNvSpPr>
          <p:nvPr/>
        </p:nvSpPr>
        <p:spPr>
          <a:xfrm xmlns:a="http://schemas.openxmlformats.org/drawingml/2006/main">
            <a:off x="609600" y="6381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20 / SELF-X</a:t>
            </a:r>
          </a:p>
        </p:txBody>
      </p:sp>
      <p:sp>
        <p:nvSpPr>
          <p:cNvPr id="4" name="">
            <a:extLst xmlns:a="http://schemas.openxmlformats.org/drawingml/2006/main">
              <a:ext uri="{FF2B5EF4-FFF2-40B4-BE49-F238E27FC236}">
                <a16:creationId xmlns:a16="http://schemas.microsoft.com/office/drawing/2014/main" id="{34F6BD64-1AEC-4D49-B587-0352ED596134}"/>
              </a:ext>
            </a:extLst>
          </p:cNvPr>
          <p:cNvSpPr>
            <a:spLocks xmlns:a="http://schemas.openxmlformats.org/drawingml/2006/main" noGrp="1"/>
          </p:cNvSpPr>
          <p:nvPr/>
        </p:nvSpPr>
        <p:spPr>
          <a:xfrm xmlns:a="http://schemas.openxmlformats.org/drawingml/2006/main">
            <a:off x="4000500" y="63531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A7C0BA"/>
                </a:solidFill>
                <a:latin typeface="Arial"/>
                <a:ea typeface="Arial"/>
                <a:cs typeface="Arial"/>
              </a:defRPr>
            </a:defPPr>
            <a:lvl1pPr>
              <a:defRPr sz="1050" b="0">
                <a:solidFill>
                  <a:srgbClr val="A7C0BA"/>
                </a:solidFill>
                <a:latin typeface="Arial"/>
                <a:ea typeface="Arial"/>
                <a:cs typeface="Arial"/>
              </a:defRPr>
            </a:lvl1pPr>
            <a:lvl2pPr>
              <a:defRPr sz="1050" b="0">
                <a:solidFill>
                  <a:srgbClr val="A7C0BA"/>
                </a:solidFill>
                <a:latin typeface="Arial"/>
                <a:ea typeface="Arial"/>
                <a:cs typeface="Arial"/>
              </a:defRPr>
            </a:lvl2pPr>
            <a:lvl3pPr>
              <a:defRPr sz="1050" b="0">
                <a:solidFill>
                  <a:srgbClr val="A7C0BA"/>
                </a:solidFill>
                <a:latin typeface="Arial"/>
                <a:ea typeface="Arial"/>
                <a:cs typeface="Arial"/>
              </a:defRPr>
            </a:lvl3pPr>
            <a:lvl4pPr>
              <a:defRPr sz="1050" b="0">
                <a:solidFill>
                  <a:srgbClr val="A7C0BA"/>
                </a:solidFill>
                <a:latin typeface="Arial"/>
                <a:ea typeface="Arial"/>
                <a:cs typeface="Arial"/>
              </a:defRPr>
            </a:lvl4pPr>
            <a:lvl5pPr>
              <a:defRPr sz="1050" b="0">
                <a:solidFill>
                  <a:srgbClr val="A7C0BA"/>
                </a:solidFill>
                <a:latin typeface="Arial"/>
                <a:ea typeface="Arial"/>
                <a:cs typeface="Arial"/>
              </a:defRPr>
            </a:lvl5pPr>
            <a:lvl6pPr>
              <a:defRPr sz="1050" b="0">
                <a:solidFill>
                  <a:srgbClr val="A7C0BA"/>
                </a:solidFill>
                <a:latin typeface="Arial"/>
                <a:ea typeface="Arial"/>
                <a:cs typeface="Arial"/>
              </a:defRPr>
            </a:lvl6pPr>
            <a:lvl7pPr>
              <a:defRPr sz="1050" b="0">
                <a:solidFill>
                  <a:srgbClr val="A7C0BA"/>
                </a:solidFill>
                <a:latin typeface="Arial"/>
                <a:ea typeface="Arial"/>
                <a:cs typeface="Arial"/>
              </a:defRPr>
            </a:lvl7pPr>
            <a:lvl8pPr>
              <a:defRPr sz="1050" b="0">
                <a:solidFill>
                  <a:srgbClr val="A7C0BA"/>
                </a:solidFill>
                <a:latin typeface="Arial"/>
                <a:ea typeface="Arial"/>
                <a:cs typeface="Arial"/>
              </a:defRPr>
            </a:lvl8pPr>
            <a:lvl9pPr>
              <a:defRPr sz="1050" b="0">
                <a:solidFill>
                  <a:srgbClr val="A7C0BA"/>
                </a:solidFill>
                <a:latin typeface="Arial"/>
                <a:ea typeface="Arial"/>
                <a:cs typeface="Arial"/>
              </a:defRPr>
            </a:lvl9pPr>
          </a:lstStyle>
          <a:p xmlns:a="http://schemas.openxmlformats.org/drawingml/2006/main">
            <a:pPr>
              <a:defRPr sz="1050" b="0">
                <a:solidFill>
                  <a:srgbClr val="A7C0BA"/>
                </a:solidFill>
                <a:latin typeface="Arial"/>
                <a:ea typeface="Arial"/>
                <a:cs typeface="Arial"/>
              </a:defRPr>
            </a:pPr>
            <a:r>
              <a:rPr sz="1050" b="0">
                <a:solidFill>
                  <a:srgbClr val="A7C0BA"/>
                </a:solidFill>
                <a:latin typeface="Arial"/>
                <a:ea typeface="Arial"/>
                <a:cs typeface="Arial"/>
              </a:rPr>
              <a:t>Run every command from the selfx folder</a:t>
            </a:r>
          </a:p>
        </p:txBody>
      </p:sp>
      <p:sp>
        <p:nvSpPr>
          <p:cNvPr id="5" name="">
            <a:extLst xmlns:a="http://schemas.openxmlformats.org/drawingml/2006/main">
              <a:ext uri="{FF2B5EF4-FFF2-40B4-BE49-F238E27FC236}">
                <a16:creationId xmlns:a16="http://schemas.microsoft.com/office/drawing/2014/main" id="{355EFF3E-1953-4637-A008-4D84E1A54CA0}"/>
              </a:ext>
            </a:extLst>
          </p:cNvPr>
          <p:cNvSpPr>
            <a:spLocks xmlns:a="http://schemas.openxmlformats.org/drawingml/2006/main" noGrp="1"/>
          </p:cNvSpPr>
          <p:nvPr/>
        </p:nvSpPr>
        <p:spPr>
          <a:xfrm xmlns:a="http://schemas.openxmlformats.org/drawingml/2006/main">
            <a:off x="685800" y="1752600"/>
            <a:ext cx="10668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FFFFFF"/>
                </a:solidFill>
                <a:latin typeface="Arial"/>
                <a:ea typeface="Arial"/>
                <a:cs typeface="Arial"/>
              </a:defRPr>
            </a:defPPr>
            <a:lvl1pPr>
              <a:defRPr sz="2850" b="0">
                <a:solidFill>
                  <a:srgbClr val="FFFFFF"/>
                </a:solidFill>
                <a:latin typeface="Arial"/>
                <a:ea typeface="Arial"/>
                <a:cs typeface="Arial"/>
              </a:defRPr>
            </a:lvl1pPr>
            <a:lvl2pPr>
              <a:defRPr sz="2850" b="0">
                <a:solidFill>
                  <a:srgbClr val="FFFFFF"/>
                </a:solidFill>
                <a:latin typeface="Arial"/>
                <a:ea typeface="Arial"/>
                <a:cs typeface="Arial"/>
              </a:defRPr>
            </a:lvl2pPr>
            <a:lvl3pPr>
              <a:defRPr sz="2850" b="0">
                <a:solidFill>
                  <a:srgbClr val="FFFFFF"/>
                </a:solidFill>
                <a:latin typeface="Arial"/>
                <a:ea typeface="Arial"/>
                <a:cs typeface="Arial"/>
              </a:defRPr>
            </a:lvl3pPr>
            <a:lvl4pPr>
              <a:defRPr sz="2850" b="0">
                <a:solidFill>
                  <a:srgbClr val="FFFFFF"/>
                </a:solidFill>
                <a:latin typeface="Arial"/>
                <a:ea typeface="Arial"/>
                <a:cs typeface="Arial"/>
              </a:defRPr>
            </a:lvl4pPr>
            <a:lvl5pPr>
              <a:defRPr sz="2850" b="0">
                <a:solidFill>
                  <a:srgbClr val="FFFFFF"/>
                </a:solidFill>
                <a:latin typeface="Arial"/>
                <a:ea typeface="Arial"/>
                <a:cs typeface="Arial"/>
              </a:defRPr>
            </a:lvl5pPr>
            <a:lvl6pPr>
              <a:defRPr sz="2850" b="0">
                <a:solidFill>
                  <a:srgbClr val="FFFFFF"/>
                </a:solidFill>
                <a:latin typeface="Arial"/>
                <a:ea typeface="Arial"/>
                <a:cs typeface="Arial"/>
              </a:defRPr>
            </a:lvl6pPr>
            <a:lvl7pPr>
              <a:defRPr sz="2850" b="0">
                <a:solidFill>
                  <a:srgbClr val="FFFFFF"/>
                </a:solidFill>
                <a:latin typeface="Arial"/>
                <a:ea typeface="Arial"/>
                <a:cs typeface="Arial"/>
              </a:defRPr>
            </a:lvl7pPr>
            <a:lvl8pPr>
              <a:defRPr sz="2850" b="0">
                <a:solidFill>
                  <a:srgbClr val="FFFFFF"/>
                </a:solidFill>
                <a:latin typeface="Arial"/>
                <a:ea typeface="Arial"/>
                <a:cs typeface="Arial"/>
              </a:defRPr>
            </a:lvl8pPr>
            <a:lvl9pPr>
              <a:defRPr sz="2850" b="0">
                <a:solidFill>
                  <a:srgbClr val="FFFFFF"/>
                </a:solidFill>
                <a:latin typeface="Arial"/>
                <a:ea typeface="Arial"/>
                <a:cs typeface="Arial"/>
              </a:defRPr>
            </a:lvl9pPr>
          </a:lstStyle>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all</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latency</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dashboard -Port 8766</a:t>
            </a:r>
          </a:p>
        </p:txBody>
      </p:sp>
      <p:sp>
        <p:nvSpPr>
          <p:cNvPr id="6" name="">
            <a:extLst xmlns:a="http://schemas.openxmlformats.org/drawingml/2006/main">
              <a:ext uri="{FF2B5EF4-FFF2-40B4-BE49-F238E27FC236}">
                <a16:creationId xmlns:a16="http://schemas.microsoft.com/office/drawing/2014/main" id="{F4287C5C-EFC0-4333-B0C0-5ABFD2478279}"/>
              </a:ext>
            </a:extLst>
          </p:cNvPr>
          <p:cNvSpPr>
            <a:spLocks xmlns:a="http://schemas.openxmlformats.org/drawingml/2006/main" noGrp="1"/>
          </p:cNvSpPr>
          <p:nvPr/>
        </p:nvSpPr>
        <p:spPr>
          <a:xfrm xmlns:a="http://schemas.openxmlformats.org/drawingml/2006/main">
            <a:off x="685800" y="4200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B7D6CD"/>
                </a:solidFill>
                <a:latin typeface="Arial"/>
                <a:ea typeface="Arial"/>
                <a:cs typeface="Arial"/>
              </a:defRPr>
            </a:defPPr>
            <a:lvl1pPr>
              <a:defRPr sz="2175" b="0">
                <a:solidFill>
                  <a:srgbClr val="B7D6CD"/>
                </a:solidFill>
                <a:latin typeface="Arial"/>
                <a:ea typeface="Arial"/>
                <a:cs typeface="Arial"/>
              </a:defRPr>
            </a:lvl1pPr>
            <a:lvl2pPr>
              <a:defRPr sz="2175" b="0">
                <a:solidFill>
                  <a:srgbClr val="B7D6CD"/>
                </a:solidFill>
                <a:latin typeface="Arial"/>
                <a:ea typeface="Arial"/>
                <a:cs typeface="Arial"/>
              </a:defRPr>
            </a:lvl2pPr>
            <a:lvl3pPr>
              <a:defRPr sz="2175" b="0">
                <a:solidFill>
                  <a:srgbClr val="B7D6CD"/>
                </a:solidFill>
                <a:latin typeface="Arial"/>
                <a:ea typeface="Arial"/>
                <a:cs typeface="Arial"/>
              </a:defRPr>
            </a:lvl3pPr>
            <a:lvl4pPr>
              <a:defRPr sz="2175" b="0">
                <a:solidFill>
                  <a:srgbClr val="B7D6CD"/>
                </a:solidFill>
                <a:latin typeface="Arial"/>
                <a:ea typeface="Arial"/>
                <a:cs typeface="Arial"/>
              </a:defRPr>
            </a:lvl4pPr>
            <a:lvl5pPr>
              <a:defRPr sz="2175" b="0">
                <a:solidFill>
                  <a:srgbClr val="B7D6CD"/>
                </a:solidFill>
                <a:latin typeface="Arial"/>
                <a:ea typeface="Arial"/>
                <a:cs typeface="Arial"/>
              </a:defRPr>
            </a:lvl5pPr>
            <a:lvl6pPr>
              <a:defRPr sz="2175" b="0">
                <a:solidFill>
                  <a:srgbClr val="B7D6CD"/>
                </a:solidFill>
                <a:latin typeface="Arial"/>
                <a:ea typeface="Arial"/>
                <a:cs typeface="Arial"/>
              </a:defRPr>
            </a:lvl6pPr>
            <a:lvl7pPr>
              <a:defRPr sz="2175" b="0">
                <a:solidFill>
                  <a:srgbClr val="B7D6CD"/>
                </a:solidFill>
                <a:latin typeface="Arial"/>
                <a:ea typeface="Arial"/>
                <a:cs typeface="Arial"/>
              </a:defRPr>
            </a:lvl7pPr>
            <a:lvl8pPr>
              <a:defRPr sz="2175" b="0">
                <a:solidFill>
                  <a:srgbClr val="B7D6CD"/>
                </a:solidFill>
                <a:latin typeface="Arial"/>
                <a:ea typeface="Arial"/>
                <a:cs typeface="Arial"/>
              </a:defRPr>
            </a:lvl8pPr>
            <a:lvl9pPr>
              <a:defRPr sz="2175" b="0">
                <a:solidFill>
                  <a:srgbClr val="B7D6CD"/>
                </a:solidFill>
                <a:latin typeface="Arial"/>
                <a:ea typeface="Arial"/>
                <a:cs typeface="Arial"/>
              </a:defRPr>
            </a:lvl9pPr>
          </a:lstStyle>
          <a:p xmlns:a="http://schemas.openxmlformats.org/drawingml/2006/main">
            <a:pPr>
              <a:defRPr sz="2175" b="0">
                <a:solidFill>
                  <a:srgbClr val="B7D6CD"/>
                </a:solidFill>
                <a:latin typeface="Arial"/>
                <a:ea typeface="Arial"/>
                <a:cs typeface="Arial"/>
              </a:defRPr>
            </a:pPr>
            <a:r>
              <a:rPr sz="2175" b="0">
                <a:solidFill>
                  <a:srgbClr val="B7D6CD"/>
                </a:solidFill>
                <a:latin typeface="Arial"/>
                <a:ea typeface="Arial"/>
                <a:cs typeface="Arial"/>
              </a:rPr>
              <a:t>output/benchmarks/v3 → CSV, traffic, API audits and 15 PNG/SVG figures</a:t>
            </a:r>
          </a:p>
        </p:txBody>
      </p:sp>
      <p:sp>
        <p:nvSpPr>
          <p:cNvPr id="7" name="">
            <a:extLst xmlns:a="http://schemas.openxmlformats.org/drawingml/2006/main">
              <a:ext uri="{FF2B5EF4-FFF2-40B4-BE49-F238E27FC236}">
                <a16:creationId xmlns:a16="http://schemas.microsoft.com/office/drawing/2014/main" id="{4FFEE186-7535-4DF6-811B-2ED797CB745F}"/>
              </a:ext>
            </a:extLst>
          </p:cNvPr>
          <p:cNvSpPr>
            <a:spLocks xmlns:a="http://schemas.openxmlformats.org/drawingml/2006/main" noGrp="1"/>
          </p:cNvSpPr>
          <p:nvPr/>
        </p:nvSpPr>
        <p:spPr>
          <a:xfrm xmlns:a="http://schemas.openxmlformats.org/drawingml/2006/main">
            <a:off x="685800" y="52197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7D6CD"/>
                </a:solidFill>
                <a:latin typeface="Arial"/>
                <a:ea typeface="Arial"/>
                <a:cs typeface="Arial"/>
              </a:defRPr>
            </a:defPPr>
            <a:lvl1pPr>
              <a:defRPr sz="2025" b="0">
                <a:solidFill>
                  <a:srgbClr val="B7D6CD"/>
                </a:solidFill>
                <a:latin typeface="Arial"/>
                <a:ea typeface="Arial"/>
                <a:cs typeface="Arial"/>
              </a:defRPr>
            </a:lvl1pPr>
            <a:lvl2pPr>
              <a:defRPr sz="2025" b="0">
                <a:solidFill>
                  <a:srgbClr val="B7D6CD"/>
                </a:solidFill>
                <a:latin typeface="Arial"/>
                <a:ea typeface="Arial"/>
                <a:cs typeface="Arial"/>
              </a:defRPr>
            </a:lvl2pPr>
            <a:lvl3pPr>
              <a:defRPr sz="2025" b="0">
                <a:solidFill>
                  <a:srgbClr val="B7D6CD"/>
                </a:solidFill>
                <a:latin typeface="Arial"/>
                <a:ea typeface="Arial"/>
                <a:cs typeface="Arial"/>
              </a:defRPr>
            </a:lvl3pPr>
            <a:lvl4pPr>
              <a:defRPr sz="2025" b="0">
                <a:solidFill>
                  <a:srgbClr val="B7D6CD"/>
                </a:solidFill>
                <a:latin typeface="Arial"/>
                <a:ea typeface="Arial"/>
                <a:cs typeface="Arial"/>
              </a:defRPr>
            </a:lvl4pPr>
            <a:lvl5pPr>
              <a:defRPr sz="2025" b="0">
                <a:solidFill>
                  <a:srgbClr val="B7D6CD"/>
                </a:solidFill>
                <a:latin typeface="Arial"/>
                <a:ea typeface="Arial"/>
                <a:cs typeface="Arial"/>
              </a:defRPr>
            </a:lvl5pPr>
            <a:lvl6pPr>
              <a:defRPr sz="2025" b="0">
                <a:solidFill>
                  <a:srgbClr val="B7D6CD"/>
                </a:solidFill>
                <a:latin typeface="Arial"/>
                <a:ea typeface="Arial"/>
                <a:cs typeface="Arial"/>
              </a:defRPr>
            </a:lvl6pPr>
            <a:lvl7pPr>
              <a:defRPr sz="2025" b="0">
                <a:solidFill>
                  <a:srgbClr val="B7D6CD"/>
                </a:solidFill>
                <a:latin typeface="Arial"/>
                <a:ea typeface="Arial"/>
                <a:cs typeface="Arial"/>
              </a:defRPr>
            </a:lvl7pPr>
            <a:lvl8pPr>
              <a:defRPr sz="2025" b="0">
                <a:solidFill>
                  <a:srgbClr val="B7D6CD"/>
                </a:solidFill>
                <a:latin typeface="Arial"/>
                <a:ea typeface="Arial"/>
                <a:cs typeface="Arial"/>
              </a:defRPr>
            </a:lvl8pPr>
            <a:lvl9pPr>
              <a:defRPr sz="2025" b="0">
                <a:solidFill>
                  <a:srgbClr val="B7D6CD"/>
                </a:solidFill>
                <a:latin typeface="Arial"/>
                <a:ea typeface="Arial"/>
                <a:cs typeface="Arial"/>
              </a:defRPr>
            </a:lvl9pPr>
          </a:lstStyle>
          <a:p xmlns:a="http://schemas.openxmlformats.org/drawingml/2006/main">
            <a:pPr>
              <a:defRPr sz="2025" b="0">
                <a:solidFill>
                  <a:srgbClr val="B7D6CD"/>
                </a:solidFill>
                <a:latin typeface="Arial"/>
                <a:ea typeface="Arial"/>
                <a:cs typeface="Arial"/>
              </a:defRPr>
            </a:pPr>
            <a:r>
              <a:rPr sz="2025" b="0">
                <a:solidFill>
                  <a:srgbClr val="B7D6CD"/>
                </a:solidFill>
                <a:latin typeface="Arial"/>
                <a:ea typeface="Arial"/>
                <a:cs typeface="Arial"/>
              </a:rPr>
              <a:t>Editable report and presentation · Report, slide and graph PDFs</a:t>
            </a:r>
          </a:p>
        </p:txBody>
      </p:sp>
    </p:spTree>
    <p:extLst>
      <p:ext uri="{BB962C8B-B14F-4D97-AF65-F5344CB8AC3E}">
        <p14:creationId xmlns:p14="http://schemas.microsoft.com/office/powerpoint/2010/main" val="19455896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2026-10-20T08:07:30.9170000Z</dcterms:created>
  <dcterms:modified xsi:type="dcterms:W3CDTF">2026-10-20T08:07:30.9170000Z</dcterms:modified>
</coreProperties>
</file>