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3.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4.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5.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fb7a2c83c254d05" /><Relationship Type="http://schemas.openxmlformats.org/officeDocument/2006/relationships/extended-properties" Target="/docProps/app.xml" Id="Ree4f9e5223024a94" /><Relationship Type="http://schemas.openxmlformats.org/officeDocument/2006/relationships/officeDocument" Target="/ppt/presentation.xml" Id="R0fb40004462440e1" /></Relationships>
</file>

<file path=ppt/presentation.xml><?xml version="1.0" encoding="utf-8"?>
<p:presentation xmlns:p="http://schemas.openxmlformats.org/presentationml/2006/main">
  <p:sldMasterIdLst>
    <p:sldMasterId xmlns:r="http://schemas.openxmlformats.org/officeDocument/2006/relationships" id="2147483648" r:id="R6141b00dd05a4436"/>
  </p:sldMasterIdLst>
  <p:notesMasterIdLst>
    <p:notesMasterId xmlns:r="http://schemas.openxmlformats.org/officeDocument/2006/relationships" r:id="Raba840e2b44a4851"/>
  </p:notesMasterIdLst>
  <p:sldIdLst>
    <p:sldId xmlns:r="http://schemas.openxmlformats.org/officeDocument/2006/relationships" id="256" r:id="R2c42e18ba63e49ad"/>
    <p:sldId xmlns:r="http://schemas.openxmlformats.org/officeDocument/2006/relationships" id="257" r:id="R65d4b2c61ec143a2"/>
    <p:sldId xmlns:r="http://schemas.openxmlformats.org/officeDocument/2006/relationships" id="258" r:id="R473ebf4dd7cc448d"/>
    <p:sldId xmlns:r="http://schemas.openxmlformats.org/officeDocument/2006/relationships" id="259" r:id="R06499ce1974b4033"/>
    <p:sldId xmlns:r="http://schemas.openxmlformats.org/officeDocument/2006/relationships" id="260" r:id="Rc87751921cfe4cfd"/>
    <p:sldId xmlns:r="http://schemas.openxmlformats.org/officeDocument/2006/relationships" id="261" r:id="Rbd6f693639264bf1"/>
    <p:sldId xmlns:r="http://schemas.openxmlformats.org/officeDocument/2006/relationships" id="262" r:id="R536f9889c817400e"/>
    <p:sldId xmlns:r="http://schemas.openxmlformats.org/officeDocument/2006/relationships" id="263" r:id="R6172bc13cce54ae2"/>
    <p:sldId xmlns:r="http://schemas.openxmlformats.org/officeDocument/2006/relationships" id="264" r:id="Re4eb1a4516cb447c"/>
    <p:sldId xmlns:r="http://schemas.openxmlformats.org/officeDocument/2006/relationships" id="265" r:id="Rc34942d083164608"/>
    <p:sldId xmlns:r="http://schemas.openxmlformats.org/officeDocument/2006/relationships" id="266" r:id="R1738f83a5fb24204"/>
    <p:sldId xmlns:r="http://schemas.openxmlformats.org/officeDocument/2006/relationships" id="267" r:id="R0bed3e4aa0f54dd5"/>
    <p:sldId xmlns:r="http://schemas.openxmlformats.org/officeDocument/2006/relationships" id="268" r:id="R7eb0b38f0dbd404b"/>
    <p:sldId xmlns:r="http://schemas.openxmlformats.org/officeDocument/2006/relationships" id="269" r:id="R6a9bd377f0bd460f"/>
    <p:sldId xmlns:r="http://schemas.openxmlformats.org/officeDocument/2006/relationships" id="270" r:id="R8a6f476709aa4cc8"/>
    <p:sldId xmlns:r="http://schemas.openxmlformats.org/officeDocument/2006/relationships" id="271" r:id="Rd8cd016b78864500"/>
    <p:sldId xmlns:r="http://schemas.openxmlformats.org/officeDocument/2006/relationships" id="272" r:id="R16cc76f11a514533"/>
    <p:sldId xmlns:r="http://schemas.openxmlformats.org/officeDocument/2006/relationships" id="273" r:id="R7aae29e2eeeb4c88"/>
    <p:sldId xmlns:r="http://schemas.openxmlformats.org/officeDocument/2006/relationships" id="274" r:id="Ra07e5876fc99436f"/>
    <p:sldId xmlns:r="http://schemas.openxmlformats.org/officeDocument/2006/relationships" id="275" r:id="Rdf36a6d993274a1a"/>
    <p:sldId xmlns:r="http://schemas.openxmlformats.org/officeDocument/2006/relationships" id="276" r:id="Raa056fed775f4951"/>
    <p:sldId xmlns:r="http://schemas.openxmlformats.org/officeDocument/2006/relationships" id="277" r:id="Rb2988aa2e70f4c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e4c41d83db496a" /><Relationship Type="http://schemas.openxmlformats.org/officeDocument/2006/relationships/slideMaster" Target="/ppt/slideMasters/slideMaster1.xml" Id="R6141b00dd05a4436" /><Relationship Type="http://schemas.openxmlformats.org/officeDocument/2006/relationships/notesMaster" Target="/ppt/notesMasters/notesMaster1.xml" Id="Raba840e2b44a4851" /><Relationship Type="http://schemas.openxmlformats.org/officeDocument/2006/relationships/presProps" Target="/ppt/presProps.xml" Id="Ref701d3770134748" /><Relationship Type="http://schemas.openxmlformats.org/officeDocument/2006/relationships/tableStyles" Target="/ppt/tableStyles.xml" Id="R95c3b8746a8144c5" /><Relationship Type="http://schemas.openxmlformats.org/officeDocument/2006/relationships/slide" Target="/ppt/slides/slide1.xml" Id="R2c42e18ba63e49ad" /><Relationship Type="http://schemas.openxmlformats.org/officeDocument/2006/relationships/slide" Target="/ppt/slides/slide2.xml" Id="R65d4b2c61ec143a2" /><Relationship Type="http://schemas.openxmlformats.org/officeDocument/2006/relationships/slide" Target="/ppt/slides/slide3.xml" Id="R473ebf4dd7cc448d" /><Relationship Type="http://schemas.openxmlformats.org/officeDocument/2006/relationships/slide" Target="/ppt/slides/slide4.xml" Id="R06499ce1974b4033" /><Relationship Type="http://schemas.openxmlformats.org/officeDocument/2006/relationships/slide" Target="/ppt/slides/slide5.xml" Id="Rc87751921cfe4cfd" /><Relationship Type="http://schemas.openxmlformats.org/officeDocument/2006/relationships/slide" Target="/ppt/slides/slide6.xml" Id="Rbd6f693639264bf1" /><Relationship Type="http://schemas.openxmlformats.org/officeDocument/2006/relationships/slide" Target="/ppt/slides/slide7.xml" Id="R536f9889c817400e" /><Relationship Type="http://schemas.openxmlformats.org/officeDocument/2006/relationships/slide" Target="/ppt/slides/slide8.xml" Id="R6172bc13cce54ae2" /><Relationship Type="http://schemas.openxmlformats.org/officeDocument/2006/relationships/slide" Target="/ppt/slides/slide9.xml" Id="Re4eb1a4516cb447c" /><Relationship Type="http://schemas.openxmlformats.org/officeDocument/2006/relationships/slide" Target="/ppt/slides/slide10.xml" Id="Rc34942d083164608" /><Relationship Type="http://schemas.openxmlformats.org/officeDocument/2006/relationships/slide" Target="/ppt/slides/slide11.xml" Id="R1738f83a5fb24204" /><Relationship Type="http://schemas.openxmlformats.org/officeDocument/2006/relationships/slide" Target="/ppt/slides/slide12.xml" Id="R0bed3e4aa0f54dd5" /><Relationship Type="http://schemas.openxmlformats.org/officeDocument/2006/relationships/slide" Target="/ppt/slides/slide13.xml" Id="R7eb0b38f0dbd404b" /><Relationship Type="http://schemas.openxmlformats.org/officeDocument/2006/relationships/slide" Target="/ppt/slides/slide14.xml" Id="R6a9bd377f0bd460f" /><Relationship Type="http://schemas.openxmlformats.org/officeDocument/2006/relationships/slide" Target="/ppt/slides/slide15.xml" Id="R8a6f476709aa4cc8" /><Relationship Type="http://schemas.openxmlformats.org/officeDocument/2006/relationships/slide" Target="/ppt/slides/slide16.xml" Id="Rd8cd016b78864500" /><Relationship Type="http://schemas.openxmlformats.org/officeDocument/2006/relationships/slide" Target="/ppt/slides/slide17.xml" Id="R16cc76f11a514533" /><Relationship Type="http://schemas.openxmlformats.org/officeDocument/2006/relationships/slide" Target="/ppt/slides/slide18.xml" Id="R7aae29e2eeeb4c88" /><Relationship Type="http://schemas.openxmlformats.org/officeDocument/2006/relationships/slide" Target="/ppt/slides/slide19.xml" Id="Ra07e5876fc99436f" /><Relationship Type="http://schemas.openxmlformats.org/officeDocument/2006/relationships/slide" Target="/ppt/slides/slide20.xml" Id="Rdf36a6d993274a1a" /><Relationship Type="http://schemas.openxmlformats.org/officeDocument/2006/relationships/slide" Target="/ppt/slides/slide21.xml" Id="Raa056fed775f4951" /><Relationship Type="http://schemas.openxmlformats.org/officeDocument/2006/relationships/slide" Target="/ppt/slides/slide22.xml" Id="Rb2988aa2e70f4c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e60b67b19342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ef7f63093047a0" /><Relationship Type="http://schemas.openxmlformats.org/officeDocument/2006/relationships/notesMaster" Target="/ppt/notesMasters/notesMaster1.xml" Id="R5a223e08025d41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73bc8f08ec4f19" /><Relationship Type="http://schemas.openxmlformats.org/officeDocument/2006/relationships/notesMaster" Target="/ppt/notesMasters/notesMaster1.xml" Id="R3665a22b59094c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c251feecb246ca" /><Relationship Type="http://schemas.openxmlformats.org/officeDocument/2006/relationships/notesMaster" Target="/ppt/notesMasters/notesMaster1.xml" Id="R0defd70e03f14b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59decea9bf4c3c" /><Relationship Type="http://schemas.openxmlformats.org/officeDocument/2006/relationships/notesMaster" Target="/ppt/notesMasters/notesMaster1.xml" Id="R795d232cfc0e46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7aa802a4854bf4" /><Relationship Type="http://schemas.openxmlformats.org/officeDocument/2006/relationships/notesMaster" Target="/ppt/notesMasters/notesMaster1.xml" Id="R28d4425c6dfb49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5fe978d8894a8c" /><Relationship Type="http://schemas.openxmlformats.org/officeDocument/2006/relationships/notesMaster" Target="/ppt/notesMasters/notesMaster1.xml" Id="R93edcb28d51247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bb79e4fc924f68" /><Relationship Type="http://schemas.openxmlformats.org/officeDocument/2006/relationships/notesMaster" Target="/ppt/notesMasters/notesMaster1.xml" Id="R1aca00d4984948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04da6645d442a7" /><Relationship Type="http://schemas.openxmlformats.org/officeDocument/2006/relationships/notesMaster" Target="/ppt/notesMasters/notesMaster1.xml" Id="Rdadce14b7f754f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0038fd0fb714c33" /><Relationship Type="http://schemas.openxmlformats.org/officeDocument/2006/relationships/notesMaster" Target="/ppt/notesMasters/notesMaster1.xml" Id="R7ad1618e8a0543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dbdd68995c9469b" /><Relationship Type="http://schemas.openxmlformats.org/officeDocument/2006/relationships/notesMaster" Target="/ppt/notesMasters/notesMaster1.xml" Id="Rb3e719b3065d4ab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a4c98c8c8db4c14" /><Relationship Type="http://schemas.openxmlformats.org/officeDocument/2006/relationships/notesMaster" Target="/ppt/notesMasters/notesMaster1.xml" Id="R2387dca12ef34ad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612c9e89c9545f7" /><Relationship Type="http://schemas.openxmlformats.org/officeDocument/2006/relationships/notesMaster" Target="/ppt/notesMasters/notesMaster1.xml" Id="Rc6add6baac5642c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aa6cadc6b1c4ca7" /><Relationship Type="http://schemas.openxmlformats.org/officeDocument/2006/relationships/notesMaster" Target="/ppt/notesMasters/notesMaster1.xml" Id="R357130dc53804c6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d0b21e7b78f468d" /><Relationship Type="http://schemas.openxmlformats.org/officeDocument/2006/relationships/notesMaster" Target="/ppt/notesMasters/notesMaster1.xml" Id="R0ca0be450c38425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e06a085bcee4c7d" /><Relationship Type="http://schemas.openxmlformats.org/officeDocument/2006/relationships/notesMaster" Target="/ppt/notesMasters/notesMaster1.xml" Id="R33c44aa0abe24ed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591bef5cd8743e6" /><Relationship Type="http://schemas.openxmlformats.org/officeDocument/2006/relationships/notesMaster" Target="/ppt/notesMasters/notesMaster1.xml" Id="R1a30e13ec9df4b5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f8e643312e546d9" /><Relationship Type="http://schemas.openxmlformats.org/officeDocument/2006/relationships/notesMaster" Target="/ppt/notesMasters/notesMaster1.xml" Id="R3b8c4fc7ffd44e5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4b3c23b76404924" /><Relationship Type="http://schemas.openxmlformats.org/officeDocument/2006/relationships/notesMaster" Target="/ppt/notesMasters/notesMaster1.xml" Id="R57a214e2cbb94e7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951d64920d44490" /><Relationship Type="http://schemas.openxmlformats.org/officeDocument/2006/relationships/notesMaster" Target="/ppt/notesMasters/notesMaster1.xml" Id="R145f4c6a6a15474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efabb96ff7c4511" /><Relationship Type="http://schemas.openxmlformats.org/officeDocument/2006/relationships/notesMaster" Target="/ppt/notesMasters/notesMaster1.xml" Id="Rda55d053e17d438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b7aee2ba1064b3f" /><Relationship Type="http://schemas.openxmlformats.org/officeDocument/2006/relationships/notesMaster" Target="/ppt/notesMasters/notesMaster1.xml" Id="Re113c1ce12c4419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c8d435e57e34bc5" /><Relationship Type="http://schemas.openxmlformats.org/officeDocument/2006/relationships/notesMaster" Target="/ppt/notesMasters/notesMaster1.xml" Id="R0f5d8643e4b24b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submission. Network metrics are produced by a documented finite-buffer fluid model. Provider calls are real. The report distinguishes technical execution from an empirical improvement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selfx folder contained a Python SDN agent, reward, memory and evaluation code, without a website UI. The local dashboard adds a review and replay surface. The research question compares A2 with the same controller without memory, 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portable runner orchestrates shared modules directly. The retained Ryu adapter uses the original LangGraph pipeline. Invalid output or unsafe actions become visible no-op outcomes. Source: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diamond is an aggregate two-bottleneck fluid model with logical endpoints, not eight instantiated hosts. Each new window starts its elephant flow on the primary; actions expire per window and queues persist. The separate original Mininet topology remains linear and has no alternate 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Features: primary background/10, alternate background/10, elephant/10, primary queue/0.5, alternate queue/0.5, total primary load/10, constant 0.1; then L2 normalization. Lowest-reward pruning retains 30 episodes. A1 has disabled memory. Every seed and condition resets memory. Motivation: Shinn et al., Reflexion, https://arxiv.org/abs/2303.11366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Simulation validation rejects unknown switches, incomplete or mismatched flow identifiers and invalid output ports. Deterministic bounds are local safety constraints, not a proof of network stability or SLA compliance. Reference for separate Ryu flow/meter API: https://ryu.readthedocs.io/en/latest/app/ofctl_rest.html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traffic bytes and zero initial queues for every condition. SHA256 values are stored in summaries. Main offline experiment: 5×120×4=2400 windows, 600 simulated seconds per seed and condition. API pilots are smaller and are not real-time packet emulation. Paired seed-level Student-t intervals avoid treating windows as independent replicates.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experiment CSV and JSONL; network provenance: simulation. These are deterministic policy results, not LLM benchmark scores. A2 has lower delay than static A0 but higher delay than A1. The same-controller memory comparison is the central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experiment CSV and JSONL; network provenance: simulation. Pooled volume loss differs from the arithmetic mean of per-window loss; both statistics are retained in summary.json. A2 reuse sometimes proposes an infeasible action, which is vetoed.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submitted offline trace contains 62 vetoes for A2. Future studies could compare feasibility-aware retrieval, negative-example retention and recent-window memory. These are hypotheses requiring fresh experiments, not implemented claims of better results. Shinn et al., https://arxiv.org/abs/2303.11366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experiment CSV and JSONL; network provenance: simulation. Exact endpoint: gemini-3.5-flash-lite. All 288 paced calls succeeded; no decision fallback. A1 and A2 each contain 72 control windows and 72 reflections. The earlier unpaced quota failure is preserved separately. This small difference does not establish a robust performance advantage. Pacing plus two calls exceeds a five-second real-time deadline. Official sources: https://ai.google.dev/gemini-api/docs/models and https://ai.google.dev/gemini-api/docs/rate-limits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output/free_model_checks.json and output/experiments/openrouter/provider_calls.json. The catalog returned 17 zero-price :free IDs; 9 passed. Some errors were HTTP 403/429 or incomplete/non-JSON output. Router model identity varies and is recorded. Paid OpenRouter model IDs are blocked by the adapter. https://openrouter.ai/docs/guides/routing/routers/free-router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Shinn et al., Reflexion: https://arxiv.org/abs/2303.11366 . Rusek et al., RouteNet: https://arxiv.org/abs/1910.01508 . RouteNet reports worst-case mean relative error 15.4% for its KPI prediction evaluation; this is not a latency reduction and is not reproduced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Tests include the original graph, safety, memory, reward, counter and result writer tests plus portable simulation and dashboard checks. Browser validation covers decision navigation, offline replay, JavaScript errors and mobile overflow. Linux Mininet/Ryu deployment remains unvalidated on Windows.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TCP dynamics, scheduling, real NetFlow collection, packet RTT or p95 measurement is implemented in the portable model. Captured dataset calibration and generalization studies remain. Request quotas are external constraints. The scientific conclusion is limited to the implemented workload and topology.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output/benchmarks/v2/summary.json. Six scenarios: mixed demand, flash crowd, busy alternate, distribution shift, persistent overload and light load. Eight controllers × six scenarios × ten seeds × 120 windows = 57,600. B2 is a guarded ECMP-style stable flow hash motivated by RFC 2992, https://www.rfc-editor.org/rfc/rfc2992 . O1 has privileged simulator knowledge and is not a long-horizon upper bound.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output/benchmarks/v2/summary.json. IDs: A0 static; B1 least-loaded; B2 guarded ECMP-style; A1 original threshold; A2 original memory; H1 guarded no memory; A3 guarded balanced memory; O1 myopic model reference. Both paths saturated in persistent overload, so every controller has the same delay mean. Light load is a negative control. Uncertainty intervals and paired differences are in the report and atlas.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shared guard must be isolated from memory. A3 reuses only feasible current actions and balances positive, negative and recent episodes. It never evaluates simulator outcomes to select a policy action. The paired mixed-load bootstrap interval is [0.17126789333333364,0.830164216291667] ms. Resampling uses ten paired seed differences and 4,000 draws. Exploratory comparisons have no multiplicity 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output/benchmark_chart_data.json. Loss includes deliberate meter drops. Lower delay alone is insufficient; the report and atlas contain tradeoffs and empirical distributions. No claim of global learning or stability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measured perf_counter timings in output/benchmarks/v2/metrics.csv. Each controller uses identical batching for memory persistence to make local computation timing comparable. O1 evaluates several candidates and has a different information advantage. The benchmark atlas also shows P95 computation time and queue heatmaps.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output/experiments/gemini_venv/summary.json and provider_calls.json. One seed × twelve windows × A1/A2 × decision/reflection gives 48 calls. API timing includes request pacing. Network time is simulated independently. The earlier three-seed, 288-call pilot is retained. The refreshed free-model sweep currently passes 9/17 access/schema checks; that is not a network-control ranking.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API evidence can be inspected without new calls. New live experiments require credentials and remaining quota. All source and deliverable paths remain inside selfx. The package excludes .env, caches and local dependency folders.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72576bce554ed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c5aaee9a0a8489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e409c82001c42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e84438fc82940d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bce1d4ba6b479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38da89fcf604d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AC9B2E-D007-4BE1-B48B-7652E074A56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AC4F135-3232-44F3-8126-F86E85E8E7B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AF5EA5-1A9F-4178-8D38-7396E30622F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1E7846-76FF-45A0-98BE-A58EA35828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C2AA71F-4018-4560-BAD1-E74B3FC65F0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4ECB749-8EFD-4077-830B-C999043459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6EB444-177C-4D6D-9C3F-12ABB205B0C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A73CE5-4F06-4F30-88FA-0B8EBC2ED0F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4A3638-7E1A-44FE-97DA-18EE3803A3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FF3272-C3D6-4775-A7C0-39A7F82BD2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7491974ece4b1c" /><Relationship Type="http://schemas.openxmlformats.org/officeDocument/2006/relationships/slideLayout" Target="/ppt/slideLayouts/slideLayout1.xml" Id="Rcb561acfd6b74ad0" /><Relationship Type="http://schemas.openxmlformats.org/officeDocument/2006/relationships/slideLayout" Target="/ppt/slideLayouts/slideLayout2.xml" Id="R7d33cb17a99d4266" /><Relationship Type="http://schemas.openxmlformats.org/officeDocument/2006/relationships/slideLayout" Target="/ppt/slideLayouts/slideLayout3.xml" Id="Rc1577e33862a4bd1" /><Relationship Type="http://schemas.openxmlformats.org/officeDocument/2006/relationships/slideLayout" Target="/ppt/slideLayouts/slideLayout4.xml" Id="Rea7464753b994cce" /><Relationship Type="http://schemas.openxmlformats.org/officeDocument/2006/relationships/slideLayout" Target="/ppt/slideLayouts/slideLayout5.xml" Id="Ra8b676c7b9a044bf" /><Relationship Type="http://schemas.openxmlformats.org/officeDocument/2006/relationships/slideLayout" Target="/ppt/slideLayouts/slideLayout6.xml" Id="R29723689d1ad4c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561acfd6b74ad0"/>
    <p:sldLayoutId xmlns:r="http://schemas.openxmlformats.org/officeDocument/2006/relationships" id="2147483650" r:id="R7d33cb17a99d4266"/>
    <p:sldLayoutId xmlns:r="http://schemas.openxmlformats.org/officeDocument/2006/relationships" id="2147483651" r:id="Rc1577e33862a4bd1"/>
    <p:sldLayoutId xmlns:r="http://schemas.openxmlformats.org/officeDocument/2006/relationships" id="2147483652" r:id="Rea7464753b994cce"/>
    <p:sldLayoutId xmlns:r="http://schemas.openxmlformats.org/officeDocument/2006/relationships" id="2147483653" r:id="Ra8b676c7b9a044bf"/>
    <p:sldLayoutId xmlns:r="http://schemas.openxmlformats.org/officeDocument/2006/relationships" id="2147483654" r:id="R29723689d1ad4c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78533aec6414507" /><Relationship Type="http://schemas.openxmlformats.org/officeDocument/2006/relationships/notesSlide" Target="/ppt/notesSlides/notesSlide1.xml" Id="R5e8c6ba401e849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426a24a1e0645e4" /><Relationship Type="http://schemas.openxmlformats.org/officeDocument/2006/relationships/notesSlide" Target="/ppt/notesSlides/notesSlide2.xml" Id="Re69c3a190f5c49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4bca2384ef0432c" /><Relationship Type="http://schemas.openxmlformats.org/officeDocument/2006/relationships/notesSlide" Target="/ppt/notesSlides/notesSlide3.xml" Id="Rfaa4d883fe9945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afdba24f4374de4" /><Relationship Type="http://schemas.openxmlformats.org/officeDocument/2006/relationships/notesSlide" Target="/ppt/notesSlides/notesSlide4.xml" Id="R2f46640f108843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5939c327114efe" /><Relationship Type="http://schemas.openxmlformats.org/officeDocument/2006/relationships/notesSlide" Target="/ppt/notesSlides/notesSlide5.xml" Id="R5459f6cf5d6c47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724fe968b4f429d" /><Relationship Type="http://schemas.openxmlformats.org/officeDocument/2006/relationships/notesSlide" Target="/ppt/notesSlides/notesSlide6.xml" Id="R68d68bcee13645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9812794725046c1" /><Relationship Type="http://schemas.openxmlformats.org/officeDocument/2006/relationships/notesSlide" Target="/ppt/notesSlides/notesSlide7.xml" Id="Rf9d53ad14f7249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bb69d6c208e4858" /><Relationship Type="http://schemas.openxmlformats.org/officeDocument/2006/relationships/chart" Target="/ppt/slides/charts/chart1.xml" Id="Rdad05f794374460d" /><Relationship Type="http://schemas.openxmlformats.org/officeDocument/2006/relationships/notesSlide" Target="/ppt/notesSlides/notesSlide8.xml" Id="R3afdc2146dd146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08279f111be4761" /><Relationship Type="http://schemas.openxmlformats.org/officeDocument/2006/relationships/notesSlide" Target="/ppt/notesSlides/notesSlide9.xml" Id="R427b9b952816440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88f7de3ca2f41a3" /><Relationship Type="http://schemas.openxmlformats.org/officeDocument/2006/relationships/notesSlide" Target="/ppt/notesSlides/notesSlide10.xml" Id="Rb0af1282659346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db7b55c5dd84538" /><Relationship Type="http://schemas.openxmlformats.org/officeDocument/2006/relationships/chart" Target="/ppt/slides/charts/chart2.xml" Id="R0f099ecc72e84cc3" /><Relationship Type="http://schemas.openxmlformats.org/officeDocument/2006/relationships/notesSlide" Target="/ppt/notesSlides/notesSlide11.xml" Id="R7c794a99e9e942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56ca5a73f934cd7" /><Relationship Type="http://schemas.openxmlformats.org/officeDocument/2006/relationships/notesSlide" Target="/ppt/notesSlides/notesSlide12.xml" Id="R4723bf2f3f4d436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a69b02968a847f1" /><Relationship Type="http://schemas.openxmlformats.org/officeDocument/2006/relationships/notesSlide" Target="/ppt/notesSlides/notesSlide13.xml" Id="Rfe22b092bcc842a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a5858df42fe4300" /><Relationship Type="http://schemas.openxmlformats.org/officeDocument/2006/relationships/notesSlide" Target="/ppt/notesSlides/notesSlide14.xml" Id="Rfad923ff0292430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e3c9ae393ef4bdc" /><Relationship Type="http://schemas.openxmlformats.org/officeDocument/2006/relationships/notesSlide" Target="/ppt/notesSlides/notesSlide15.xml" Id="R1e5551858d68443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4333d70d6214bc8" /><Relationship Type="http://schemas.openxmlformats.org/officeDocument/2006/relationships/notesSlide" Target="/ppt/notesSlides/notesSlide16.xml" Id="Ref6a5234b18047f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61c82d402884bf1" /><Relationship Type="http://schemas.openxmlformats.org/officeDocument/2006/relationships/notesSlide" Target="/ppt/notesSlides/notesSlide17.xml" Id="Ra528f58f2e524a1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0656e17f7b94cf1" /><Relationship Type="http://schemas.openxmlformats.org/officeDocument/2006/relationships/chart" Target="/ppt/slides/charts/chart3.xml" Id="R9525e196ba614549" /><Relationship Type="http://schemas.openxmlformats.org/officeDocument/2006/relationships/notesSlide" Target="/ppt/notesSlides/notesSlide18.xml" Id="Rc192e81665e949f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dd1133b37d74286" /><Relationship Type="http://schemas.openxmlformats.org/officeDocument/2006/relationships/notesSlide" Target="/ppt/notesSlides/notesSlide19.xml" Id="R402f59785c5947b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aef1d237b0b4e8e" /><Relationship Type="http://schemas.openxmlformats.org/officeDocument/2006/relationships/chart" Target="/ppt/slides/charts/chart4.xml" Id="Rc40e7375396e41f4" /><Relationship Type="http://schemas.openxmlformats.org/officeDocument/2006/relationships/notesSlide" Target="/ppt/notesSlides/notesSlide20.xml" Id="R38fb45f3f0de4a5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7afc8d87424417a" /><Relationship Type="http://schemas.openxmlformats.org/officeDocument/2006/relationships/chart" Target="/ppt/slides/charts/chart5.xml" Id="R126259bd772a4de1" /><Relationship Type="http://schemas.openxmlformats.org/officeDocument/2006/relationships/notesSlide" Target="/ppt/notesSlides/notesSlide21.xml" Id="Rc1aa0ff779494a1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36534edb4894983" /><Relationship Type="http://schemas.openxmlformats.org/officeDocument/2006/relationships/notesSlide" Target="/ppt/notesSlides/notesSlide22.xml" Id="R78df67dbab3e4a6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Modeled latency (ms)</c:v>
          </c:tx>
          <c:spPr>
            <a:solidFill xmlns:a="http://schemas.openxmlformats.org/drawingml/2006/main">
              <a:srgbClr val="007D76"/>
            </a:solidFill>
          </c:spPr>
          <c:invertIfNegative val="0"/>
          <c:cat>
            <c:strRef>
              <c:f>'Chart Data'!$A$2:$A$5</c:f>
              <c:strCache>
                <c:ptCount val="4"/>
                <c:pt idx="0">
                  <c:v>A0</c:v>
                </c:pt>
                <c:pt idx="1">
                  <c:v>B1</c:v>
                </c:pt>
                <c:pt idx="2">
                  <c:v>A1</c:v>
                </c:pt>
                <c:pt idx="3">
                  <c:v>A2</c:v>
                </c:pt>
              </c:strCache>
            </c:strRef>
          </c:cat>
          <c:val>
            <c:numRef>
              <c:f>'Chart Data'!$B$2:$B$5</c:f>
              <c:numCache>
                <c:formatCode>0.0</c:formatCode>
                <c:ptCount val="4"/>
                <c:pt idx="0">
                  <c:v>30.296276</c:v>
                </c:pt>
                <c:pt idx="1">
                  <c:v>27.422635</c:v>
                </c:pt>
                <c:pt idx="2">
                  <c:v>23.858901</c:v>
                </c:pt>
                <c:pt idx="3">
                  <c:v>24.984365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Modeled latency (ms)</c:v>
          </c:tx>
          <c:spPr>
            <a:solidFill xmlns:a="http://schemas.openxmlformats.org/drawingml/2006/main">
              <a:srgbClr val="007D76"/>
            </a:solidFill>
          </c:spPr>
          <c:invertIfNegative val="0"/>
          <c:cat>
            <c:strRef>
              <c:f>'Chart Data'!$A$2:$A$5</c:f>
              <c:strCache>
                <c:ptCount val="4"/>
                <c:pt idx="0">
                  <c:v>A0</c:v>
                </c:pt>
                <c:pt idx="1">
                  <c:v>B1</c:v>
                </c:pt>
                <c:pt idx="2">
                  <c:v>A1</c:v>
                </c:pt>
                <c:pt idx="3">
                  <c:v>A2</c:v>
                </c:pt>
              </c:strCache>
            </c:strRef>
          </c:cat>
          <c:val>
            <c:numRef>
              <c:f>'Chart Data'!$B$2:$B$5</c:f>
              <c:numCache>
                <c:formatCode>0.0</c:formatCode>
                <c:ptCount val="4"/>
                <c:pt idx="0">
                  <c:v>30.006368</c:v>
                </c:pt>
                <c:pt idx="1">
                  <c:v>28.194362</c:v>
                </c:pt>
                <c:pt idx="2">
                  <c:v>28.201491</c:v>
                </c:pt>
                <c:pt idx="3">
                  <c:v>28.184873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9E3DF"/>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A2</c:v>
          </c:tx>
          <c:spPr>
            <a:solidFill xmlns:a="http://schemas.openxmlformats.org/drawingml/2006/main">
              <a:srgbClr val="D28244"/>
            </a:solidFill>
          </c:spPr>
          <c:invertIfNegative val="0"/>
          <c:cat>
            <c:strRef>
              <c:f>'Chart Data'!$A$2:$A$7</c:f>
              <c:strCache>
                <c:ptCount val="6"/>
                <c:pt idx="0">
                  <c:v>Mixed</c:v>
                </c:pt>
                <c:pt idx="1">
                  <c:v>Flash</c:v>
                </c:pt>
                <c:pt idx="2">
                  <c:v>Alt busy</c:v>
                </c:pt>
                <c:pt idx="3">
                  <c:v>Shift</c:v>
                </c:pt>
                <c:pt idx="4">
                  <c:v>Overload</c:v>
                </c:pt>
                <c:pt idx="5">
                  <c:v>Light</c:v>
                </c:pt>
              </c:strCache>
            </c:strRef>
          </c:cat>
          <c:val>
            <c:numRef>
              <c:f>'Chart Data'!$B$2:$B$7</c:f>
              <c:numCache>
                <c:formatCode>0.0</c:formatCode>
                <c:ptCount val="6"/>
                <c:pt idx="0">
                  <c:v>24.570904</c:v>
                </c:pt>
                <c:pt idx="1">
                  <c:v>11.596333</c:v>
                </c:pt>
                <c:pt idx="2">
                  <c:v>13.284184</c:v>
                </c:pt>
                <c:pt idx="3">
                  <c:v>8.566022</c:v>
                </c:pt>
                <c:pt idx="4">
                  <c:v>35.768569</c:v>
                </c:pt>
                <c:pt idx="5">
                  <c:v>8</c:v>
                </c:pt>
              </c:numCache>
            </c:numRef>
          </c:val>
        </c:ser>
        <c:ser>
          <c:idx val="1"/>
          <c:order val="1"/>
          <c:tx>
            <c:v>H1</c:v>
          </c:tx>
          <c:spPr>
            <a:solidFill xmlns:a="http://schemas.openxmlformats.org/drawingml/2006/main">
              <a:srgbClr val="234F7D"/>
            </a:solidFill>
          </c:spPr>
          <c:invertIfNegative val="0"/>
          <c:cat>
            <c:strRef>
              <c:f>'Chart Data'!$C$2:$C$7</c:f>
              <c:strCache>
                <c:ptCount val="6"/>
                <c:pt idx="0">
                  <c:v>Mixed</c:v>
                </c:pt>
                <c:pt idx="1">
                  <c:v>Flash</c:v>
                </c:pt>
                <c:pt idx="2">
                  <c:v>Alt busy</c:v>
                </c:pt>
                <c:pt idx="3">
                  <c:v>Shift</c:v>
                </c:pt>
                <c:pt idx="4">
                  <c:v>Overload</c:v>
                </c:pt>
                <c:pt idx="5">
                  <c:v>Light</c:v>
                </c:pt>
              </c:strCache>
            </c:strRef>
          </c:cat>
          <c:val>
            <c:numRef>
              <c:f>'Chart Data'!$D$2:$D$7</c:f>
              <c:numCache>
                <c:formatCode>0.0</c:formatCode>
                <c:ptCount val="6"/>
                <c:pt idx="0">
                  <c:v>23.898643</c:v>
                </c:pt>
                <c:pt idx="1">
                  <c:v>10.092264</c:v>
                </c:pt>
                <c:pt idx="2">
                  <c:v>13.513114</c:v>
                </c:pt>
                <c:pt idx="3">
                  <c:v>8.619691</c:v>
                </c:pt>
                <c:pt idx="4">
                  <c:v>35.768569</c:v>
                </c:pt>
                <c:pt idx="5">
                  <c:v>8</c:v>
                </c:pt>
              </c:numCache>
            </c:numRef>
          </c:val>
        </c:ser>
        <c:ser>
          <c:idx val="2"/>
          <c:order val="2"/>
          <c:tx>
            <c:v>A3</c:v>
          </c:tx>
          <c:spPr>
            <a:solidFill xmlns:a="http://schemas.openxmlformats.org/drawingml/2006/main">
              <a:srgbClr val="007D64"/>
            </a:solidFill>
          </c:spPr>
          <c:invertIfNegative val="0"/>
          <c:cat>
            <c:strRef>
              <c:f>'Chart Data'!$E$2:$E$7</c:f>
              <c:strCache>
                <c:ptCount val="6"/>
                <c:pt idx="0">
                  <c:v>Mixed</c:v>
                </c:pt>
                <c:pt idx="1">
                  <c:v>Flash</c:v>
                </c:pt>
                <c:pt idx="2">
                  <c:v>Alt busy</c:v>
                </c:pt>
                <c:pt idx="3">
                  <c:v>Shift</c:v>
                </c:pt>
                <c:pt idx="4">
                  <c:v>Overload</c:v>
                </c:pt>
                <c:pt idx="5">
                  <c:v>Light</c:v>
                </c:pt>
              </c:strCache>
            </c:strRef>
          </c:cat>
          <c:val>
            <c:numRef>
              <c:f>'Chart Data'!$F$2:$F$7</c:f>
              <c:numCache>
                <c:formatCode>0.0</c:formatCode>
                <c:ptCount val="6"/>
                <c:pt idx="0">
                  <c:v>24.37198</c:v>
                </c:pt>
                <c:pt idx="1">
                  <c:v>10.703168</c:v>
                </c:pt>
                <c:pt idx="2">
                  <c:v>13.513114</c:v>
                </c:pt>
                <c:pt idx="3">
                  <c:v>8.619691</c:v>
                </c:pt>
                <c:pt idx="4">
                  <c:v>35.768569</c:v>
                </c:pt>
                <c:pt idx="5">
                  <c:v>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75"/>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defRPr>
            </a:pPr>
          </a:p>
        </c:txPr>
        <c:crossAx val="48672768"/>
      </c:catAx>
      <c:valAx>
        <c:axId val="48672768"/>
        <c:scaling>
          <c:orientation val="minMax"/>
          <c:min val="0"/>
        </c:scaling>
        <c:delete val="0"/>
        <c:axPos val="l"/>
        <c:majorGridlines>
          <c:spPr>
            <a:ln xmlns:a="http://schemas.openxmlformats.org/drawingml/2006/main" w="9525">
              <a:solidFill>
                <a:srgbClr val="D9E3DF"/>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defRPr>
            </a:pPr>
          </a:p>
        </c:txPr>
        <c:crossAx val="48650112"/>
        <c:crossBetween val="between"/>
      </c:valAx>
      <c:spPr>
        <a:solidFill xmlns:a="http://schemas.openxmlformats.org/drawingml/2006/main">
          <a:srgbClr val="F6F8F3"/>
        </a:solidFill>
      </c:spPr>
    </c:plotArea>
    <c:legend>
      <c:legendPos val="t"/>
      <c:overlay val="0"/>
      <c:txPr>
        <a:bodyPr xmlns:a="http://schemas.openxmlformats.org/drawingml/2006/main" anchorCtr="1"/>
        <a:lstStyle xmlns:a="http://schemas.openxmlformats.org/drawingml/2006/main"/>
        <a:p xmlns:a="http://schemas.openxmlformats.org/drawingml/2006/main">
          <a:pPr>
            <a:defRPr sz="1650"/>
          </a:pPr>
        </a:p>
      </c:txPr>
    </c:legend>
    <c:plotVisOnly val="1"/>
  </c:chart>
  <c:spPr>
    <a:solidFill xmlns:a="http://schemas.openxmlformats.org/drawingml/2006/main">
      <a:srgbClr val="F6F8F3"/>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elapsed ms</c:v>
          </c:tx>
          <c:spPr>
            <a:solidFill xmlns:a="http://schemas.openxmlformats.org/drawingml/2006/main">
              <a:srgbClr val="007D76"/>
            </a:solidFill>
          </c:spPr>
          <c:invertIfNegative val="0"/>
          <c:cat>
            <c:strRef>
              <c:f>'Chart Data'!$A$2:$A$9</c:f>
              <c:strCache>
                <c:ptCount val="8"/>
                <c:pt idx="0">
                  <c:v>A0</c:v>
                </c:pt>
                <c:pt idx="1">
                  <c:v>B1</c:v>
                </c:pt>
                <c:pt idx="2">
                  <c:v>B2</c:v>
                </c:pt>
                <c:pt idx="3">
                  <c:v>A1</c:v>
                </c:pt>
                <c:pt idx="4">
                  <c:v>A2</c:v>
                </c:pt>
                <c:pt idx="5">
                  <c:v>H1</c:v>
                </c:pt>
                <c:pt idx="6">
                  <c:v>A3</c:v>
                </c:pt>
                <c:pt idx="7">
                  <c:v>O1</c:v>
                </c:pt>
              </c:strCache>
            </c:strRef>
          </c:cat>
          <c:val>
            <c:numRef>
              <c:f>'Chart Data'!$B$2:$B$9</c:f>
              <c:numCache>
                <c:formatCode>0.000</c:formatCode>
                <c:ptCount val="8"/>
                <c:pt idx="0">
                  <c:v>0.051929</c:v>
                </c:pt>
                <c:pt idx="1">
                  <c:v>0.052466</c:v>
                </c:pt>
                <c:pt idx="2">
                  <c:v>0.061321</c:v>
                </c:pt>
                <c:pt idx="3">
                  <c:v>0.059489</c:v>
                </c:pt>
                <c:pt idx="4">
                  <c:v>0.23195</c:v>
                </c:pt>
                <c:pt idx="5">
                  <c:v>0.05673</c:v>
                </c:pt>
                <c:pt idx="6">
                  <c:v>0.19703</c:v>
                </c:pt>
                <c:pt idx="7">
                  <c:v>0.116839</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defRPr>
            </a:pPr>
          </a:p>
        </c:txPr>
        <c:crossAx val="48672768"/>
      </c:catAx>
      <c:valAx>
        <c:axId val="48672768"/>
        <c:scaling>
          <c:orientation val="minMax"/>
          <c:min val="0"/>
        </c:scaling>
        <c:delete val="0"/>
        <c:axPos val="l"/>
        <c:majorGridlines>
          <c:spPr>
            <a:ln xmlns:a="http://schemas.openxmlformats.org/drawingml/2006/main" w="9525">
              <a:solidFill>
                <a:srgbClr val="D9E3DF"/>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Wall seconds per cycle</c:v>
          </c:tx>
          <c:spPr>
            <a:solidFill xmlns:a="http://schemas.openxmlformats.org/drawingml/2006/main">
              <a:srgbClr val="007D76"/>
            </a:solidFill>
          </c:spPr>
          <c:invertIfNegative val="0"/>
          <c:cat>
            <c:strRef>
              <c:f>'Chart Data'!$A$2:$A$4</c:f>
              <c:strCache>
                <c:ptCount val="3"/>
                <c:pt idx="0">
                  <c:v>A1 live cycle</c:v>
                </c:pt>
                <c:pt idx="1">
                  <c:v>A2 live cycle</c:v>
                </c:pt>
                <c:pt idx="2">
                  <c:v>5-second budget</c:v>
                </c:pt>
              </c:strCache>
            </c:strRef>
          </c:cat>
          <c:val>
            <c:numRef>
              <c:f>'Chart Data'!$B$2:$B$4</c:f>
              <c:numCache>
                <c:formatCode>0.00</c:formatCode>
                <c:ptCount val="3"/>
                <c:pt idx="0">
                  <c:v>8.134849</c:v>
                </c:pt>
                <c:pt idx="1">
                  <c:v>8.402498</c:v>
                </c:pt>
                <c:pt idx="2">
                  <c:v>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defRPr>
            </a:pPr>
          </a:p>
        </c:txPr>
        <c:crossAx val="48672768"/>
      </c:catAx>
      <c:valAx>
        <c:axId val="48672768"/>
        <c:scaling>
          <c:orientation val="minMax"/>
          <c:min val="0"/>
        </c:scaling>
        <c:delete val="0"/>
        <c:axPos val="l"/>
        <c:majorGridlines>
          <c:spPr>
            <a:ln xmlns:a="http://schemas.openxmlformats.org/drawingml/2006/main" w="9525">
              <a:solidFill>
                <a:srgbClr val="D9E3DF"/>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defRPr>
            </a:pPr>
          </a:p>
        </c:txPr>
        <c:crossAx val="48650112"/>
        <c:crossBetween val="between"/>
      </c:valAx>
      <c:spPr>
        <a:solidFill xmlns:a="http://schemas.openxmlformats.org/drawingml/2006/main">
          <a:srgbClr val="F6F8F3"/>
        </a:solidFill>
      </c:spPr>
    </c:plotArea>
    <c:plotVisOnly val="1"/>
  </c:chart>
  <c:spPr>
    <a:solidFill xmlns:a="http://schemas.openxmlformats.org/drawingml/2006/main">
      <a:srgbClr val="F6F8F3"/>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E36"/>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C7BEA44-003B-4018-8A5A-DB969B6C1AA8}"/>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7C0BA"/>
                </a:solidFill>
                <a:latin typeface="Arial"/>
                <a:ea typeface="Arial"/>
                <a:cs typeface="Arial"/>
              </a:defRPr>
            </a:defPPr>
            <a:lvl1pPr>
              <a:defRPr sz="1125" b="0">
                <a:solidFill>
                  <a:srgbClr val="A7C0BA"/>
                </a:solidFill>
                <a:latin typeface="Arial"/>
                <a:ea typeface="Arial"/>
                <a:cs typeface="Arial"/>
              </a:defRPr>
            </a:lvl1pPr>
            <a:lvl2pPr>
              <a:defRPr sz="1125" b="0">
                <a:solidFill>
                  <a:srgbClr val="A7C0BA"/>
                </a:solidFill>
                <a:latin typeface="Arial"/>
                <a:ea typeface="Arial"/>
                <a:cs typeface="Arial"/>
              </a:defRPr>
            </a:lvl2pPr>
            <a:lvl3pPr>
              <a:defRPr sz="1125" b="0">
                <a:solidFill>
                  <a:srgbClr val="A7C0BA"/>
                </a:solidFill>
                <a:latin typeface="Arial"/>
                <a:ea typeface="Arial"/>
                <a:cs typeface="Arial"/>
              </a:defRPr>
            </a:lvl3pPr>
            <a:lvl4pPr>
              <a:defRPr sz="1125" b="0">
                <a:solidFill>
                  <a:srgbClr val="A7C0BA"/>
                </a:solidFill>
                <a:latin typeface="Arial"/>
                <a:ea typeface="Arial"/>
                <a:cs typeface="Arial"/>
              </a:defRPr>
            </a:lvl4pPr>
            <a:lvl5pPr>
              <a:defRPr sz="1125" b="0">
                <a:solidFill>
                  <a:srgbClr val="A7C0BA"/>
                </a:solidFill>
                <a:latin typeface="Arial"/>
                <a:ea typeface="Arial"/>
                <a:cs typeface="Arial"/>
              </a:defRPr>
            </a:lvl5pPr>
            <a:lvl6pPr>
              <a:defRPr sz="1125" b="0">
                <a:solidFill>
                  <a:srgbClr val="A7C0BA"/>
                </a:solidFill>
                <a:latin typeface="Arial"/>
                <a:ea typeface="Arial"/>
                <a:cs typeface="Arial"/>
              </a:defRPr>
            </a:lvl6pPr>
            <a:lvl7pPr>
              <a:defRPr sz="1125" b="0">
                <a:solidFill>
                  <a:srgbClr val="A7C0BA"/>
                </a:solidFill>
                <a:latin typeface="Arial"/>
                <a:ea typeface="Arial"/>
                <a:cs typeface="Arial"/>
              </a:defRPr>
            </a:lvl7pPr>
            <a:lvl8pPr>
              <a:defRPr sz="1125" b="0">
                <a:solidFill>
                  <a:srgbClr val="A7C0BA"/>
                </a:solidFill>
                <a:latin typeface="Arial"/>
                <a:ea typeface="Arial"/>
                <a:cs typeface="Arial"/>
              </a:defRPr>
            </a:lvl8pPr>
            <a:lvl9pPr>
              <a:defRPr sz="1125" b="0">
                <a:solidFill>
                  <a:srgbClr val="A7C0BA"/>
                </a:solidFill>
                <a:latin typeface="Arial"/>
                <a:ea typeface="Arial"/>
                <a:cs typeface="Arial"/>
              </a:defRPr>
            </a:lvl9pPr>
          </a:lstStyle>
          <a:p xmlns:a="http://schemas.openxmlformats.org/drawingml/2006/main">
            <a:pPr>
              <a:defRPr sz="1125" b="0">
                <a:solidFill>
                  <a:srgbClr val="A7C0BA"/>
                </a:solidFill>
                <a:latin typeface="Arial"/>
                <a:ea typeface="Arial"/>
                <a:cs typeface="Arial"/>
              </a:defRPr>
            </a:pPr>
            <a:r>
              <a:rPr sz="1125" b="0">
                <a:solidFill>
                  <a:srgbClr val="A7C0BA"/>
                </a:solidFill>
                <a:latin typeface="Arial"/>
                <a:ea typeface="Arial"/>
                <a:cs typeface="Arial"/>
              </a:rPr>
              <a:t>01 / SELF-X</a:t>
            </a:r>
          </a:p>
        </p:txBody>
      </p:sp>
      <p:sp>
        <p:nvSpPr>
          <p:cNvPr id="3" name="">
            <a:extLst xmlns:a="http://schemas.openxmlformats.org/drawingml/2006/main">
              <a:ext uri="{FF2B5EF4-FFF2-40B4-BE49-F238E27FC236}">
                <a16:creationId xmlns:a16="http://schemas.microsoft.com/office/drawing/2014/main" id="{3FD0FC20-12B9-4A8D-87E5-5DBB129D0F0E}"/>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7C0BA"/>
                </a:solidFill>
                <a:latin typeface="Arial"/>
                <a:ea typeface="Arial"/>
                <a:cs typeface="Arial"/>
              </a:defRPr>
            </a:defPPr>
            <a:lvl1pPr>
              <a:defRPr sz="1125" b="0">
                <a:solidFill>
                  <a:srgbClr val="A7C0BA"/>
                </a:solidFill>
                <a:latin typeface="Arial"/>
                <a:ea typeface="Arial"/>
                <a:cs typeface="Arial"/>
              </a:defRPr>
            </a:lvl1pPr>
            <a:lvl2pPr>
              <a:defRPr sz="1125" b="0">
                <a:solidFill>
                  <a:srgbClr val="A7C0BA"/>
                </a:solidFill>
                <a:latin typeface="Arial"/>
                <a:ea typeface="Arial"/>
                <a:cs typeface="Arial"/>
              </a:defRPr>
            </a:lvl2pPr>
            <a:lvl3pPr>
              <a:defRPr sz="1125" b="0">
                <a:solidFill>
                  <a:srgbClr val="A7C0BA"/>
                </a:solidFill>
                <a:latin typeface="Arial"/>
                <a:ea typeface="Arial"/>
                <a:cs typeface="Arial"/>
              </a:defRPr>
            </a:lvl3pPr>
            <a:lvl4pPr>
              <a:defRPr sz="1125" b="0">
                <a:solidFill>
                  <a:srgbClr val="A7C0BA"/>
                </a:solidFill>
                <a:latin typeface="Arial"/>
                <a:ea typeface="Arial"/>
                <a:cs typeface="Arial"/>
              </a:defRPr>
            </a:lvl4pPr>
            <a:lvl5pPr>
              <a:defRPr sz="1125" b="0">
                <a:solidFill>
                  <a:srgbClr val="A7C0BA"/>
                </a:solidFill>
                <a:latin typeface="Arial"/>
                <a:ea typeface="Arial"/>
                <a:cs typeface="Arial"/>
              </a:defRPr>
            </a:lvl5pPr>
            <a:lvl6pPr>
              <a:defRPr sz="1125" b="0">
                <a:solidFill>
                  <a:srgbClr val="A7C0BA"/>
                </a:solidFill>
                <a:latin typeface="Arial"/>
                <a:ea typeface="Arial"/>
                <a:cs typeface="Arial"/>
              </a:defRPr>
            </a:lvl6pPr>
            <a:lvl7pPr>
              <a:defRPr sz="1125" b="0">
                <a:solidFill>
                  <a:srgbClr val="A7C0BA"/>
                </a:solidFill>
                <a:latin typeface="Arial"/>
                <a:ea typeface="Arial"/>
                <a:cs typeface="Arial"/>
              </a:defRPr>
            </a:lvl7pPr>
            <a:lvl8pPr>
              <a:defRPr sz="1125" b="0">
                <a:solidFill>
                  <a:srgbClr val="A7C0BA"/>
                </a:solidFill>
                <a:latin typeface="Arial"/>
                <a:ea typeface="Arial"/>
                <a:cs typeface="Arial"/>
              </a:defRPr>
            </a:lvl8pPr>
            <a:lvl9pPr>
              <a:defRPr sz="1125" b="0">
                <a:solidFill>
                  <a:srgbClr val="A7C0BA"/>
                </a:solidFill>
                <a:latin typeface="Arial"/>
                <a:ea typeface="Arial"/>
                <a:cs typeface="Arial"/>
              </a:defRPr>
            </a:lvl9pPr>
          </a:lstStyle>
          <a:p xmlns:a="http://schemas.openxmlformats.org/drawingml/2006/main">
            <a:pPr>
              <a:defRPr sz="1125" b="0">
                <a:solidFill>
                  <a:srgbClr val="A7C0BA"/>
                </a:solidFill>
                <a:latin typeface="Arial"/>
                <a:ea typeface="Arial"/>
                <a:cs typeface="Arial"/>
              </a:defRPr>
            </a:pPr>
            <a:r>
              <a:rPr sz="1125" b="0">
                <a:solidFill>
                  <a:srgbClr val="A7C0BA"/>
                </a:solidFill>
                <a:latin typeface="Arial"/>
                <a:ea typeface="Arial"/>
                <a:cs typeface="Arial"/>
              </a:rPr>
              <a:t>20 October 2026</a:t>
            </a:r>
          </a:p>
        </p:txBody>
      </p:sp>
      <p:sp>
        <p:nvSpPr>
          <p:cNvPr id="4" name="">
            <a:extLst xmlns:a="http://schemas.openxmlformats.org/drawingml/2006/main">
              <a:ext uri="{FF2B5EF4-FFF2-40B4-BE49-F238E27FC236}">
                <a16:creationId xmlns:a16="http://schemas.microsoft.com/office/drawing/2014/main" id="{8ECF58AE-7AA3-40A0-AB56-7656916BC7B6}"/>
              </a:ext>
            </a:extLst>
          </p:cNvPr>
          <p:cNvSpPr>
            <a:spLocks xmlns:a="http://schemas.openxmlformats.org/drawingml/2006/main" noGrp="1"/>
          </p:cNvSpPr>
          <p:nvPr/>
        </p:nvSpPr>
        <p:spPr>
          <a:xfrm xmlns:a="http://schemas.openxmlformats.org/drawingml/2006/main">
            <a:off x="628650" y="104775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500" b="1">
                <a:solidFill>
                  <a:srgbClr val="FFFFFF"/>
                </a:solidFill>
                <a:latin typeface="Arial"/>
                <a:ea typeface="Arial"/>
                <a:cs typeface="Arial"/>
              </a:defRPr>
            </a:defPPr>
            <a:lvl1pPr>
              <a:defRPr sz="7500" b="1">
                <a:solidFill>
                  <a:srgbClr val="FFFFFF"/>
                </a:solidFill>
                <a:latin typeface="Arial"/>
                <a:ea typeface="Arial"/>
                <a:cs typeface="Arial"/>
              </a:defRPr>
            </a:lvl1pPr>
            <a:lvl2pPr>
              <a:defRPr sz="7500" b="1">
                <a:solidFill>
                  <a:srgbClr val="FFFFFF"/>
                </a:solidFill>
                <a:latin typeface="Arial"/>
                <a:ea typeface="Arial"/>
                <a:cs typeface="Arial"/>
              </a:defRPr>
            </a:lvl2pPr>
            <a:lvl3pPr>
              <a:defRPr sz="7500" b="1">
                <a:solidFill>
                  <a:srgbClr val="FFFFFF"/>
                </a:solidFill>
                <a:latin typeface="Arial"/>
                <a:ea typeface="Arial"/>
                <a:cs typeface="Arial"/>
              </a:defRPr>
            </a:lvl3pPr>
            <a:lvl4pPr>
              <a:defRPr sz="7500" b="1">
                <a:solidFill>
                  <a:srgbClr val="FFFFFF"/>
                </a:solidFill>
                <a:latin typeface="Arial"/>
                <a:ea typeface="Arial"/>
                <a:cs typeface="Arial"/>
              </a:defRPr>
            </a:lvl4pPr>
            <a:lvl5pPr>
              <a:defRPr sz="7500" b="1">
                <a:solidFill>
                  <a:srgbClr val="FFFFFF"/>
                </a:solidFill>
                <a:latin typeface="Arial"/>
                <a:ea typeface="Arial"/>
                <a:cs typeface="Arial"/>
              </a:defRPr>
            </a:lvl5pPr>
            <a:lvl6pPr>
              <a:defRPr sz="7500" b="1">
                <a:solidFill>
                  <a:srgbClr val="FFFFFF"/>
                </a:solidFill>
                <a:latin typeface="Arial"/>
                <a:ea typeface="Arial"/>
                <a:cs typeface="Arial"/>
              </a:defRPr>
            </a:lvl6pPr>
            <a:lvl7pPr>
              <a:defRPr sz="7500" b="1">
                <a:solidFill>
                  <a:srgbClr val="FFFFFF"/>
                </a:solidFill>
                <a:latin typeface="Arial"/>
                <a:ea typeface="Arial"/>
                <a:cs typeface="Arial"/>
              </a:defRPr>
            </a:lvl7pPr>
            <a:lvl8pPr>
              <a:defRPr sz="7500" b="1">
                <a:solidFill>
                  <a:srgbClr val="FFFFFF"/>
                </a:solidFill>
                <a:latin typeface="Arial"/>
                <a:ea typeface="Arial"/>
                <a:cs typeface="Arial"/>
              </a:defRPr>
            </a:lvl8pPr>
            <a:lvl9pPr>
              <a:defRPr sz="7500" b="1">
                <a:solidFill>
                  <a:srgbClr val="FFFFFF"/>
                </a:solidFill>
                <a:latin typeface="Arial"/>
                <a:ea typeface="Arial"/>
                <a:cs typeface="Arial"/>
              </a:defRPr>
            </a:lvl9pPr>
          </a:lstStyle>
          <a:p xmlns:a="http://schemas.openxmlformats.org/drawingml/2006/main">
            <a:pPr>
              <a:defRPr sz="7500" b="1">
                <a:solidFill>
                  <a:srgbClr val="FFFFFF"/>
                </a:solidFill>
                <a:latin typeface="Arial"/>
                <a:ea typeface="Arial"/>
                <a:cs typeface="Arial"/>
              </a:defRPr>
            </a:pPr>
            <a:r>
              <a:rPr sz="7500" b="1">
                <a:solidFill>
                  <a:srgbClr val="FFFFFF"/>
                </a:solidFill>
                <a:latin typeface="Arial"/>
                <a:ea typeface="Arial"/>
                <a:cs typeface="Arial"/>
              </a:rPr>
              <a:t>SELF-X</a:t>
            </a:r>
          </a:p>
        </p:txBody>
      </p:sp>
      <p:sp>
        <p:nvSpPr>
          <p:cNvPr id="5" name="">
            <a:extLst xmlns:a="http://schemas.openxmlformats.org/drawingml/2006/main">
              <a:ext uri="{FF2B5EF4-FFF2-40B4-BE49-F238E27FC236}">
                <a16:creationId xmlns:a16="http://schemas.microsoft.com/office/drawing/2014/main" id="{510B9760-7764-48C8-B10A-438678BA65E5}"/>
              </a:ext>
            </a:extLst>
          </p:cNvPr>
          <p:cNvSpPr>
            <a:spLocks xmlns:a="http://schemas.openxmlformats.org/drawingml/2006/main" noGrp="1"/>
          </p:cNvSpPr>
          <p:nvPr/>
        </p:nvSpPr>
        <p:spPr>
          <a:xfrm xmlns:a="http://schemas.openxmlformats.org/drawingml/2006/main">
            <a:off x="666750" y="2781300"/>
            <a:ext cx="990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825" b="0">
                <a:solidFill>
                  <a:srgbClr val="FFFFFF"/>
                </a:solidFill>
                <a:latin typeface="Arial"/>
                <a:ea typeface="Arial"/>
                <a:cs typeface="Arial"/>
              </a:defRPr>
            </a:defPPr>
            <a:lvl1pPr>
              <a:defRPr sz="3825" b="0">
                <a:solidFill>
                  <a:srgbClr val="FFFFFF"/>
                </a:solidFill>
                <a:latin typeface="Arial"/>
                <a:ea typeface="Arial"/>
                <a:cs typeface="Arial"/>
              </a:defRPr>
            </a:lvl1pPr>
            <a:lvl2pPr>
              <a:defRPr sz="3825" b="0">
                <a:solidFill>
                  <a:srgbClr val="FFFFFF"/>
                </a:solidFill>
                <a:latin typeface="Arial"/>
                <a:ea typeface="Arial"/>
                <a:cs typeface="Arial"/>
              </a:defRPr>
            </a:lvl2pPr>
            <a:lvl3pPr>
              <a:defRPr sz="3825" b="0">
                <a:solidFill>
                  <a:srgbClr val="FFFFFF"/>
                </a:solidFill>
                <a:latin typeface="Arial"/>
                <a:ea typeface="Arial"/>
                <a:cs typeface="Arial"/>
              </a:defRPr>
            </a:lvl3pPr>
            <a:lvl4pPr>
              <a:defRPr sz="3825" b="0">
                <a:solidFill>
                  <a:srgbClr val="FFFFFF"/>
                </a:solidFill>
                <a:latin typeface="Arial"/>
                <a:ea typeface="Arial"/>
                <a:cs typeface="Arial"/>
              </a:defRPr>
            </a:lvl4pPr>
            <a:lvl5pPr>
              <a:defRPr sz="3825" b="0">
                <a:solidFill>
                  <a:srgbClr val="FFFFFF"/>
                </a:solidFill>
                <a:latin typeface="Arial"/>
                <a:ea typeface="Arial"/>
                <a:cs typeface="Arial"/>
              </a:defRPr>
            </a:lvl5pPr>
            <a:lvl6pPr>
              <a:defRPr sz="3825" b="0">
                <a:solidFill>
                  <a:srgbClr val="FFFFFF"/>
                </a:solidFill>
                <a:latin typeface="Arial"/>
                <a:ea typeface="Arial"/>
                <a:cs typeface="Arial"/>
              </a:defRPr>
            </a:lvl6pPr>
            <a:lvl7pPr>
              <a:defRPr sz="3825" b="0">
                <a:solidFill>
                  <a:srgbClr val="FFFFFF"/>
                </a:solidFill>
                <a:latin typeface="Arial"/>
                <a:ea typeface="Arial"/>
                <a:cs typeface="Arial"/>
              </a:defRPr>
            </a:lvl7pPr>
            <a:lvl8pPr>
              <a:defRPr sz="3825" b="0">
                <a:solidFill>
                  <a:srgbClr val="FFFFFF"/>
                </a:solidFill>
                <a:latin typeface="Arial"/>
                <a:ea typeface="Arial"/>
                <a:cs typeface="Arial"/>
              </a:defRPr>
            </a:lvl8pPr>
            <a:lvl9pPr>
              <a:defRPr sz="3825" b="0">
                <a:solidFill>
                  <a:srgbClr val="FFFFFF"/>
                </a:solidFill>
                <a:latin typeface="Arial"/>
                <a:ea typeface="Arial"/>
                <a:cs typeface="Arial"/>
              </a:defRPr>
            </a:lvl9pPr>
          </a:lstStyle>
          <a:p xmlns:a="http://schemas.openxmlformats.org/drawingml/2006/main">
            <a:pPr>
              <a:defRPr sz="3825" b="0">
                <a:solidFill>
                  <a:srgbClr val="FFFFFF"/>
                </a:solidFill>
                <a:latin typeface="Arial"/>
                <a:ea typeface="Arial"/>
                <a:cs typeface="Arial"/>
              </a:defRPr>
            </a:pPr>
            <a:r>
              <a:rPr sz="3825" b="0">
                <a:solidFill>
                  <a:srgbClr val="FFFFFF"/>
                </a:solidFill>
                <a:latin typeface="Arial"/>
                <a:ea typeface="Arial"/>
                <a:cs typeface="Arial"/>
              </a:rPr>
              <a:t>SDN control with</a:t>
            </a:r>
          </a:p>
          <a:p xmlns:a="http://schemas.openxmlformats.org/drawingml/2006/main">
            <a:pPr>
              <a:defRPr sz="3825" b="0">
                <a:solidFill>
                  <a:srgbClr val="FFFFFF"/>
                </a:solidFill>
                <a:latin typeface="Arial"/>
                <a:ea typeface="Arial"/>
                <a:cs typeface="Arial"/>
              </a:defRPr>
            </a:pPr>
            <a:r>
              <a:rPr sz="3825" b="0">
                <a:solidFill>
                  <a:srgbClr val="FFFFFF"/>
                </a:solidFill>
                <a:latin typeface="Arial"/>
                <a:ea typeface="Arial"/>
                <a:cs typeface="Arial"/>
              </a:rPr>
              <a:t>state embedding memory</a:t>
            </a:r>
          </a:p>
        </p:txBody>
      </p:sp>
      <p:sp>
        <p:nvSpPr>
          <p:cNvPr id="6" name="">
            <a:extLst xmlns:a="http://schemas.openxmlformats.org/drawingml/2006/main">
              <a:ext uri="{FF2B5EF4-FFF2-40B4-BE49-F238E27FC236}">
                <a16:creationId xmlns:a16="http://schemas.microsoft.com/office/drawing/2014/main" id="{F2488943-F8D0-41FB-A387-1EDDAA602C4F}"/>
              </a:ext>
            </a:extLst>
          </p:cNvPr>
          <p:cNvSpPr>
            <a:spLocks xmlns:a="http://schemas.openxmlformats.org/drawingml/2006/main" noGrp="1"/>
          </p:cNvSpPr>
          <p:nvPr/>
        </p:nvSpPr>
        <p:spPr>
          <a:xfrm xmlns:a="http://schemas.openxmlformats.org/drawingml/2006/main">
            <a:off x="685800" y="48958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B7D6CD"/>
                </a:solidFill>
                <a:latin typeface="Arial"/>
                <a:ea typeface="Arial"/>
                <a:cs typeface="Arial"/>
              </a:defRPr>
            </a:defPPr>
            <a:lvl1pPr>
              <a:defRPr sz="1950" b="0">
                <a:solidFill>
                  <a:srgbClr val="B7D6CD"/>
                </a:solidFill>
                <a:latin typeface="Arial"/>
                <a:ea typeface="Arial"/>
                <a:cs typeface="Arial"/>
              </a:defRPr>
            </a:lvl1pPr>
            <a:lvl2pPr>
              <a:defRPr sz="1950" b="0">
                <a:solidFill>
                  <a:srgbClr val="B7D6CD"/>
                </a:solidFill>
                <a:latin typeface="Arial"/>
                <a:ea typeface="Arial"/>
                <a:cs typeface="Arial"/>
              </a:defRPr>
            </a:lvl2pPr>
            <a:lvl3pPr>
              <a:defRPr sz="1950" b="0">
                <a:solidFill>
                  <a:srgbClr val="B7D6CD"/>
                </a:solidFill>
                <a:latin typeface="Arial"/>
                <a:ea typeface="Arial"/>
                <a:cs typeface="Arial"/>
              </a:defRPr>
            </a:lvl3pPr>
            <a:lvl4pPr>
              <a:defRPr sz="1950" b="0">
                <a:solidFill>
                  <a:srgbClr val="B7D6CD"/>
                </a:solidFill>
                <a:latin typeface="Arial"/>
                <a:ea typeface="Arial"/>
                <a:cs typeface="Arial"/>
              </a:defRPr>
            </a:lvl4pPr>
            <a:lvl5pPr>
              <a:defRPr sz="1950" b="0">
                <a:solidFill>
                  <a:srgbClr val="B7D6CD"/>
                </a:solidFill>
                <a:latin typeface="Arial"/>
                <a:ea typeface="Arial"/>
                <a:cs typeface="Arial"/>
              </a:defRPr>
            </a:lvl5pPr>
            <a:lvl6pPr>
              <a:defRPr sz="1950" b="0">
                <a:solidFill>
                  <a:srgbClr val="B7D6CD"/>
                </a:solidFill>
                <a:latin typeface="Arial"/>
                <a:ea typeface="Arial"/>
                <a:cs typeface="Arial"/>
              </a:defRPr>
            </a:lvl6pPr>
            <a:lvl7pPr>
              <a:defRPr sz="1950" b="0">
                <a:solidFill>
                  <a:srgbClr val="B7D6CD"/>
                </a:solidFill>
                <a:latin typeface="Arial"/>
                <a:ea typeface="Arial"/>
                <a:cs typeface="Arial"/>
              </a:defRPr>
            </a:lvl7pPr>
            <a:lvl8pPr>
              <a:defRPr sz="1950" b="0">
                <a:solidFill>
                  <a:srgbClr val="B7D6CD"/>
                </a:solidFill>
                <a:latin typeface="Arial"/>
                <a:ea typeface="Arial"/>
                <a:cs typeface="Arial"/>
              </a:defRPr>
            </a:lvl8pPr>
            <a:lvl9pPr>
              <a:defRPr sz="1950" b="0">
                <a:solidFill>
                  <a:srgbClr val="B7D6CD"/>
                </a:solidFill>
                <a:latin typeface="Arial"/>
                <a:ea typeface="Arial"/>
                <a:cs typeface="Arial"/>
              </a:defRPr>
            </a:lvl9pPr>
          </a:lstStyle>
          <a:p xmlns:a="http://schemas.openxmlformats.org/drawingml/2006/main">
            <a:pPr>
              <a:defRPr sz="1950" b="0">
                <a:solidFill>
                  <a:srgbClr val="B7D6CD"/>
                </a:solidFill>
                <a:latin typeface="Arial"/>
                <a:ea typeface="Arial"/>
                <a:cs typeface="Arial"/>
              </a:defRPr>
            </a:pPr>
            <a:r>
              <a:rPr sz="1950" b="0">
                <a:solidFill>
                  <a:srgbClr val="B7D6CD"/>
                </a:solidFill>
                <a:latin typeface="Arial"/>
                <a:ea typeface="Arial"/>
                <a:cs typeface="Arial"/>
              </a:rPr>
              <a:t>Measured simulation with live Gemini and free OpenRouter decisions</a:t>
            </a:r>
          </a:p>
        </p:txBody>
      </p:sp>
    </p:spTree>
    <p:extLst>
      <p:ext uri="{BB962C8B-B14F-4D97-AF65-F5344CB8AC3E}">
        <p14:creationId xmlns:p14="http://schemas.microsoft.com/office/powerpoint/2010/main" val="1371445268"/>
      </p:ext>
    </p:extLst>
  </p:cSld>
</p:sld>
</file>

<file path=ppt/slides/slide2.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D95D999-0B00-4EC4-860D-DED6F166713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Project purpose</a:t>
            </a:r>
          </a:p>
        </p:txBody>
      </p:sp>
      <p:sp>
        <p:nvSpPr>
          <p:cNvPr id="3" name="">
            <a:extLst xmlns:a="http://schemas.openxmlformats.org/drawingml/2006/main">
              <a:ext uri="{FF2B5EF4-FFF2-40B4-BE49-F238E27FC236}">
                <a16:creationId xmlns:a16="http://schemas.microsoft.com/office/drawing/2014/main" id="{9AE3770C-36DA-420E-846A-5CEB551ABAA8}"/>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02 / SELF-X</a:t>
            </a:r>
          </a:p>
        </p:txBody>
      </p:sp>
      <p:sp>
        <p:nvSpPr>
          <p:cNvPr id="4" name="">
            <a:extLst xmlns:a="http://schemas.openxmlformats.org/drawingml/2006/main">
              <a:ext uri="{FF2B5EF4-FFF2-40B4-BE49-F238E27FC236}">
                <a16:creationId xmlns:a16="http://schemas.microsoft.com/office/drawing/2014/main" id="{4633E1FD-A23B-4451-98C1-0029E47AB75C}"/>
              </a:ext>
            </a:extLst>
          </p:cNvPr>
          <p:cNvSpPr>
            <a:spLocks xmlns:a="http://schemas.openxmlformats.org/drawingml/2006/main" noGrp="1"/>
          </p:cNvSpPr>
          <p:nvPr/>
        </p:nvSpPr>
        <p:spPr>
          <a:xfrm xmlns:a="http://schemas.openxmlformats.org/drawingml/2006/main">
            <a:off x="628650" y="1752600"/>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0">
                <a:solidFill>
                  <a:srgbClr val="007D76"/>
                </a:solidFill>
                <a:latin typeface="Arial"/>
                <a:ea typeface="Arial"/>
                <a:cs typeface="Arial"/>
              </a:defRPr>
            </a:defPPr>
            <a:lvl1pPr>
              <a:defRPr sz="3225" b="0">
                <a:solidFill>
                  <a:srgbClr val="007D76"/>
                </a:solidFill>
                <a:latin typeface="Arial"/>
                <a:ea typeface="Arial"/>
                <a:cs typeface="Arial"/>
              </a:defRPr>
            </a:lvl1pPr>
            <a:lvl2pPr>
              <a:defRPr sz="3225" b="0">
                <a:solidFill>
                  <a:srgbClr val="007D76"/>
                </a:solidFill>
                <a:latin typeface="Arial"/>
                <a:ea typeface="Arial"/>
                <a:cs typeface="Arial"/>
              </a:defRPr>
            </a:lvl2pPr>
            <a:lvl3pPr>
              <a:defRPr sz="3225" b="0">
                <a:solidFill>
                  <a:srgbClr val="007D76"/>
                </a:solidFill>
                <a:latin typeface="Arial"/>
                <a:ea typeface="Arial"/>
                <a:cs typeface="Arial"/>
              </a:defRPr>
            </a:lvl3pPr>
            <a:lvl4pPr>
              <a:defRPr sz="3225" b="0">
                <a:solidFill>
                  <a:srgbClr val="007D76"/>
                </a:solidFill>
                <a:latin typeface="Arial"/>
                <a:ea typeface="Arial"/>
                <a:cs typeface="Arial"/>
              </a:defRPr>
            </a:lvl4pPr>
            <a:lvl5pPr>
              <a:defRPr sz="3225" b="0">
                <a:solidFill>
                  <a:srgbClr val="007D76"/>
                </a:solidFill>
                <a:latin typeface="Arial"/>
                <a:ea typeface="Arial"/>
                <a:cs typeface="Arial"/>
              </a:defRPr>
            </a:lvl5pPr>
            <a:lvl6pPr>
              <a:defRPr sz="3225" b="0">
                <a:solidFill>
                  <a:srgbClr val="007D76"/>
                </a:solidFill>
                <a:latin typeface="Arial"/>
                <a:ea typeface="Arial"/>
                <a:cs typeface="Arial"/>
              </a:defRPr>
            </a:lvl6pPr>
            <a:lvl7pPr>
              <a:defRPr sz="3225" b="0">
                <a:solidFill>
                  <a:srgbClr val="007D76"/>
                </a:solidFill>
                <a:latin typeface="Arial"/>
                <a:ea typeface="Arial"/>
                <a:cs typeface="Arial"/>
              </a:defRPr>
            </a:lvl7pPr>
            <a:lvl8pPr>
              <a:defRPr sz="3225" b="0">
                <a:solidFill>
                  <a:srgbClr val="007D76"/>
                </a:solidFill>
                <a:latin typeface="Arial"/>
                <a:ea typeface="Arial"/>
                <a:cs typeface="Arial"/>
              </a:defRPr>
            </a:lvl8pPr>
            <a:lvl9pPr>
              <a:defRPr sz="3225" b="0">
                <a:solidFill>
                  <a:srgbClr val="007D76"/>
                </a:solidFill>
                <a:latin typeface="Arial"/>
                <a:ea typeface="Arial"/>
                <a:cs typeface="Arial"/>
              </a:defRPr>
            </a:lvl9pPr>
          </a:lstStyle>
          <a:p xmlns:a="http://schemas.openxmlformats.org/drawingml/2006/main">
            <a:pPr>
              <a:defRPr sz="3225" b="0">
                <a:solidFill>
                  <a:srgbClr val="007D76"/>
                </a:solidFill>
                <a:latin typeface="Arial"/>
                <a:ea typeface="Arial"/>
                <a:cs typeface="Arial"/>
              </a:defRPr>
            </a:pPr>
            <a:r>
              <a:rPr sz="3225" b="0">
                <a:solidFill>
                  <a:srgbClr val="007D76"/>
                </a:solidFill>
                <a:latin typeface="Arial"/>
                <a:ea typeface="Arial"/>
                <a:cs typeface="Arial"/>
              </a:rPr>
              <a:t>Can a controller reuse its own experience</a:t>
            </a:r>
          </a:p>
          <a:p xmlns:a="http://schemas.openxmlformats.org/drawingml/2006/main">
            <a:pPr>
              <a:defRPr sz="3225" b="0">
                <a:solidFill>
                  <a:srgbClr val="007D76"/>
                </a:solidFill>
                <a:latin typeface="Arial"/>
                <a:ea typeface="Arial"/>
                <a:cs typeface="Arial"/>
              </a:defRPr>
            </a:pPr>
            <a:r>
              <a:rPr sz="3225" b="0">
                <a:solidFill>
                  <a:srgbClr val="007D76"/>
                </a:solidFill>
                <a:latin typeface="Arial"/>
                <a:ea typeface="Arial"/>
                <a:cs typeface="Arial"/>
              </a:rPr>
              <a:t>to manage repeated congestion?</a:t>
            </a:r>
          </a:p>
        </p:txBody>
      </p:sp>
      <p:sp>
        <p:nvSpPr>
          <p:cNvPr id="5" name="">
            <a:extLst xmlns:a="http://schemas.openxmlformats.org/drawingml/2006/main">
              <a:ext uri="{FF2B5EF4-FFF2-40B4-BE49-F238E27FC236}">
                <a16:creationId xmlns:a16="http://schemas.microsoft.com/office/drawing/2014/main" id="{0A0E76F3-3D4B-4946-8086-F5FEB2C4E535}"/>
              </a:ext>
            </a:extLst>
          </p:cNvPr>
          <p:cNvSpPr>
            <a:spLocks xmlns:a="http://schemas.openxmlformats.org/drawingml/2006/main" noGrp="1"/>
          </p:cNvSpPr>
          <p:nvPr/>
        </p:nvSpPr>
        <p:spPr>
          <a:xfrm xmlns:a="http://schemas.openxmlformats.org/drawingml/2006/main">
            <a:off x="647700" y="3543300"/>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Observe traffic and choose one bounded flow intervention.</a:t>
            </a:r>
          </a:p>
        </p:txBody>
      </p:sp>
      <p:sp>
        <p:nvSpPr>
          <p:cNvPr id="6" name="">
            <a:extLst xmlns:a="http://schemas.openxmlformats.org/drawingml/2006/main">
              <a:ext uri="{FF2B5EF4-FFF2-40B4-BE49-F238E27FC236}">
                <a16:creationId xmlns:a16="http://schemas.microsoft.com/office/drawing/2014/main" id="{B0586815-D3E0-4BB2-B72C-0770055A6EB1}"/>
              </a:ext>
            </a:extLst>
          </p:cNvPr>
          <p:cNvSpPr>
            <a:spLocks xmlns:a="http://schemas.openxmlformats.org/drawingml/2006/main" noGrp="1"/>
          </p:cNvSpPr>
          <p:nvPr/>
        </p:nvSpPr>
        <p:spPr>
          <a:xfrm xmlns:a="http://schemas.openxmlformats.org/drawingml/2006/main">
            <a:off x="647700" y="4295775"/>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Retrieve earlier states, outcomes and reflections before deciding.</a:t>
            </a:r>
          </a:p>
        </p:txBody>
      </p:sp>
      <p:sp>
        <p:nvSpPr>
          <p:cNvPr id="7" name="">
            <a:extLst xmlns:a="http://schemas.openxmlformats.org/drawingml/2006/main">
              <a:ext uri="{FF2B5EF4-FFF2-40B4-BE49-F238E27FC236}">
                <a16:creationId xmlns:a16="http://schemas.microsoft.com/office/drawing/2014/main" id="{FCEF19D3-B9CC-439D-852D-81BF06B588F0}"/>
              </a:ext>
            </a:extLst>
          </p:cNvPr>
          <p:cNvSpPr>
            <a:spLocks xmlns:a="http://schemas.openxmlformats.org/drawingml/2006/main" noGrp="1"/>
          </p:cNvSpPr>
          <p:nvPr/>
        </p:nvSpPr>
        <p:spPr>
          <a:xfrm xmlns:a="http://schemas.openxmlformats.org/drawingml/2006/main">
            <a:off x="647700" y="5048250"/>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Use the local website to compare results and inspect every action.</a:t>
            </a:r>
          </a:p>
        </p:txBody>
      </p:sp>
    </p:spTree>
    <p:extLst>
      <p:ext uri="{BB962C8B-B14F-4D97-AF65-F5344CB8AC3E}">
        <p14:creationId xmlns:p14="http://schemas.microsoft.com/office/powerpoint/2010/main" val="827455593"/>
      </p:ext>
    </p:extLst>
  </p:cSld>
</p:sld>
</file>

<file path=ppt/slides/slide3.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0D0D7BA0-0F93-4173-AC1A-456611A96233}"/>
              </a:ext>
            </a:extLst>
          </p:cNvPr>
          <p:cNvCxnSpPr>
            <a:stCxn xmlns:a="http://schemas.openxmlformats.org/drawingml/2006/main" id="11" idx="2"/>
            <a:endCxn xmlns:a="http://schemas.openxmlformats.org/drawingml/2006/main" id="12" idx="0"/>
          </p:cNvCxnSpPr>
          <p:nvPr/>
        </p:nvCxnSpPr>
        <p:spPr>
          <a:xfrm xmlns:a="http://schemas.openxmlformats.org/drawingml/2006/main" flipH="1">
            <a:off x="2309813" y="2857500"/>
            <a:ext cx="7486650" cy="1190625"/>
          </a:xfrm>
          <a:prstGeom xmlns:a="http://schemas.openxmlformats.org/drawingml/2006/main" prst="bentConnector4">
            <a:avLst>
              <a:gd name="adj1" fmla="val 0"/>
              <a:gd name="adj2" fmla="val 50000"/>
            </a:avLst>
          </a:prstGeom>
          <a:ln xmlns:a="http://schemas.openxmlformats.org/drawingml/2006/main" w="19050">
            <a:solidFill>
              <a:srgbClr val="007D76"/>
            </a:solidFill>
          </a:ln>
        </p:spPr>
      </p:cxnSp>
      <p:cxnSp>
        <p:nvCxnSpPr>
          <p:cNvPr id="3" name="">
            <a:extLst xmlns:a="http://schemas.openxmlformats.org/drawingml/2006/main">
              <a:ext uri="{FF2B5EF4-FFF2-40B4-BE49-F238E27FC236}">
                <a16:creationId xmlns:a16="http://schemas.microsoft.com/office/drawing/2014/main" id="{726963CE-68F7-42E4-816B-335F335C1739}"/>
              </a:ext>
            </a:extLst>
          </p:cNvPr>
          <p:cNvCxnSpPr>
            <a:stCxn xmlns:a="http://schemas.openxmlformats.org/drawingml/2006/main" id="13" idx="3"/>
            <a:endCxn xmlns:a="http://schemas.openxmlformats.org/drawingml/2006/main" id="14" idx="1"/>
          </p:cNvCxnSpPr>
          <p:nvPr/>
        </p:nvCxnSpPr>
        <p:spPr>
          <a:xfrm xmlns:a="http://schemas.openxmlformats.org/drawingml/2006/main">
            <a:off x="7696200" y="4500563"/>
            <a:ext cx="457200" cy="0"/>
          </a:xfrm>
          <a:prstGeom xmlns:a="http://schemas.openxmlformats.org/drawingml/2006/main" prst="straightConnector1">
            <a:avLst/>
          </a:prstGeom>
          <a:ln xmlns:a="http://schemas.openxmlformats.org/drawingml/2006/main" w="19050">
            <a:solidFill>
              <a:srgbClr val="007D76"/>
            </a:solidFill>
          </a:ln>
        </p:spPr>
      </p:cxnSp>
      <p:cxnSp>
        <p:nvCxnSpPr>
          <p:cNvPr id="4" name="">
            <a:extLst xmlns:a="http://schemas.openxmlformats.org/drawingml/2006/main">
              <a:ext uri="{FF2B5EF4-FFF2-40B4-BE49-F238E27FC236}">
                <a16:creationId xmlns:a16="http://schemas.microsoft.com/office/drawing/2014/main" id="{1374CECA-5926-47E6-AEF4-791EC61E4A06}"/>
              </a:ext>
            </a:extLst>
          </p:cNvPr>
          <p:cNvCxnSpPr>
            <a:stCxn xmlns:a="http://schemas.openxmlformats.org/drawingml/2006/main" id="12" idx="3"/>
            <a:endCxn xmlns:a="http://schemas.openxmlformats.org/drawingml/2006/main" id="13" idx="1"/>
          </p:cNvCxnSpPr>
          <p:nvPr/>
        </p:nvCxnSpPr>
        <p:spPr>
          <a:xfrm xmlns:a="http://schemas.openxmlformats.org/drawingml/2006/main">
            <a:off x="3952875" y="4500563"/>
            <a:ext cx="457200" cy="0"/>
          </a:xfrm>
          <a:prstGeom xmlns:a="http://schemas.openxmlformats.org/drawingml/2006/main" prst="straightConnector1">
            <a:avLst/>
          </a:prstGeom>
          <a:ln xmlns:a="http://schemas.openxmlformats.org/drawingml/2006/main" w="19050">
            <a:solidFill>
              <a:srgbClr val="007D76"/>
            </a:solidFill>
          </a:ln>
        </p:spPr>
      </p:cxnSp>
      <p:cxnSp>
        <p:nvCxnSpPr>
          <p:cNvPr id="5" name="">
            <a:extLst xmlns:a="http://schemas.openxmlformats.org/drawingml/2006/main">
              <a:ext uri="{FF2B5EF4-FFF2-40B4-BE49-F238E27FC236}">
                <a16:creationId xmlns:a16="http://schemas.microsoft.com/office/drawing/2014/main" id="{2C24F9A7-FAA7-4B23-BE61-24D8AA2480A1}"/>
              </a:ext>
            </a:extLst>
          </p:cNvPr>
          <p:cNvCxnSpPr>
            <a:stCxn xmlns:a="http://schemas.openxmlformats.org/drawingml/2006/main" id="10" idx="3"/>
            <a:endCxn xmlns:a="http://schemas.openxmlformats.org/drawingml/2006/main" id="11" idx="1"/>
          </p:cNvCxnSpPr>
          <p:nvPr/>
        </p:nvCxnSpPr>
        <p:spPr>
          <a:xfrm xmlns:a="http://schemas.openxmlformats.org/drawingml/2006/main">
            <a:off x="7696200" y="2405063"/>
            <a:ext cx="457200" cy="0"/>
          </a:xfrm>
          <a:prstGeom xmlns:a="http://schemas.openxmlformats.org/drawingml/2006/main" prst="straightConnector1">
            <a:avLst/>
          </a:prstGeom>
          <a:ln xmlns:a="http://schemas.openxmlformats.org/drawingml/2006/main" w="19050">
            <a:solidFill>
              <a:srgbClr val="007D76"/>
            </a:solidFill>
          </a:ln>
        </p:spPr>
      </p:cxnSp>
      <p:cxnSp>
        <p:nvCxnSpPr>
          <p:cNvPr id="6" name="">
            <a:extLst xmlns:a="http://schemas.openxmlformats.org/drawingml/2006/main">
              <a:ext uri="{FF2B5EF4-FFF2-40B4-BE49-F238E27FC236}">
                <a16:creationId xmlns:a16="http://schemas.microsoft.com/office/drawing/2014/main" id="{A2AB0367-5288-4904-B0F0-7A702EB81524}"/>
              </a:ext>
            </a:extLst>
          </p:cNvPr>
          <p:cNvCxnSpPr>
            <a:stCxn xmlns:a="http://schemas.openxmlformats.org/drawingml/2006/main" id="9" idx="3"/>
            <a:endCxn xmlns:a="http://schemas.openxmlformats.org/drawingml/2006/main" id="10" idx="1"/>
          </p:cNvCxnSpPr>
          <p:nvPr/>
        </p:nvCxnSpPr>
        <p:spPr>
          <a:xfrm xmlns:a="http://schemas.openxmlformats.org/drawingml/2006/main">
            <a:off x="3952875" y="2405063"/>
            <a:ext cx="457200" cy="0"/>
          </a:xfrm>
          <a:prstGeom xmlns:a="http://schemas.openxmlformats.org/drawingml/2006/main" prst="straightConnector1">
            <a:avLst/>
          </a:prstGeom>
          <a:ln xmlns:a="http://schemas.openxmlformats.org/drawingml/2006/main" w="19050">
            <a:solidFill>
              <a:srgbClr val="007D76"/>
            </a:solidFill>
          </a:ln>
        </p:spPr>
      </p:cxnSp>
      <p:sp>
        <p:nvSpPr>
          <p:cNvPr id="7" name="">
            <a:extLst xmlns:a="http://schemas.openxmlformats.org/drawingml/2006/main">
              <a:ext uri="{FF2B5EF4-FFF2-40B4-BE49-F238E27FC236}">
                <a16:creationId xmlns:a16="http://schemas.microsoft.com/office/drawing/2014/main" id="{0BBE70C1-860F-407F-8E55-8D5B635DB33F}"/>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Control architecture</a:t>
            </a:r>
          </a:p>
        </p:txBody>
      </p:sp>
      <p:sp>
        <p:nvSpPr>
          <p:cNvPr id="8" name="">
            <a:extLst xmlns:a="http://schemas.openxmlformats.org/drawingml/2006/main">
              <a:ext uri="{FF2B5EF4-FFF2-40B4-BE49-F238E27FC236}">
                <a16:creationId xmlns:a16="http://schemas.microsoft.com/office/drawing/2014/main" id="{9DF29DAC-5F5A-4A6B-B9A6-C6782CBD4F19}"/>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03 / SELF-X</a:t>
            </a:r>
          </a:p>
        </p:txBody>
      </p:sp>
      <p:sp>
        <p:nvSpPr>
          <p:cNvPr id="9" name="">
            <a:extLst xmlns:a="http://schemas.openxmlformats.org/drawingml/2006/main">
              <a:ext uri="{FF2B5EF4-FFF2-40B4-BE49-F238E27FC236}">
                <a16:creationId xmlns:a16="http://schemas.microsoft.com/office/drawing/2014/main" id="{75BFA112-5171-46F1-B8D3-13D0DD815792}"/>
              </a:ext>
            </a:extLst>
          </p:cNvPr>
          <p:cNvSpPr>
            <a:spLocks xmlns:a="http://schemas.openxmlformats.org/drawingml/2006/main" noGrp="1"/>
          </p:cNvSpPr>
          <p:nvPr/>
        </p:nvSpPr>
        <p:spPr>
          <a:xfrm xmlns:a="http://schemas.openxmlformats.org/drawingml/2006/main">
            <a:off x="666750" y="1952625"/>
            <a:ext cx="3286125"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Observe</a:t>
            </a:r>
          </a:p>
        </p:txBody>
      </p:sp>
      <p:sp>
        <p:nvSpPr>
          <p:cNvPr id="10" name="">
            <a:extLst xmlns:a="http://schemas.openxmlformats.org/drawingml/2006/main">
              <a:ext uri="{FF2B5EF4-FFF2-40B4-BE49-F238E27FC236}">
                <a16:creationId xmlns:a16="http://schemas.microsoft.com/office/drawing/2014/main" id="{A304559A-9721-4DFE-BBEC-5756C27CABA0}"/>
              </a:ext>
            </a:extLst>
          </p:cNvPr>
          <p:cNvSpPr>
            <a:spLocks xmlns:a="http://schemas.openxmlformats.org/drawingml/2006/main" noGrp="1"/>
          </p:cNvSpPr>
          <p:nvPr/>
        </p:nvSpPr>
        <p:spPr>
          <a:xfrm xmlns:a="http://schemas.openxmlformats.org/drawingml/2006/main">
            <a:off x="4410075" y="1952625"/>
            <a:ext cx="3286125"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Retrieve</a:t>
            </a:r>
          </a:p>
        </p:txBody>
      </p:sp>
      <p:sp>
        <p:nvSpPr>
          <p:cNvPr id="11" name="">
            <a:extLst xmlns:a="http://schemas.openxmlformats.org/drawingml/2006/main">
              <a:ext uri="{FF2B5EF4-FFF2-40B4-BE49-F238E27FC236}">
                <a16:creationId xmlns:a16="http://schemas.microsoft.com/office/drawing/2014/main" id="{0F8B969D-56EC-4D7F-98A7-A922D15BBB95}"/>
              </a:ext>
            </a:extLst>
          </p:cNvPr>
          <p:cNvSpPr>
            <a:spLocks xmlns:a="http://schemas.openxmlformats.org/drawingml/2006/main" noGrp="1"/>
          </p:cNvSpPr>
          <p:nvPr/>
        </p:nvSpPr>
        <p:spPr>
          <a:xfrm xmlns:a="http://schemas.openxmlformats.org/drawingml/2006/main">
            <a:off x="8153400" y="1952625"/>
            <a:ext cx="3286125"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Decide</a:t>
            </a:r>
          </a:p>
        </p:txBody>
      </p:sp>
      <p:sp>
        <p:nvSpPr>
          <p:cNvPr id="12" name="">
            <a:extLst xmlns:a="http://schemas.openxmlformats.org/drawingml/2006/main">
              <a:ext uri="{FF2B5EF4-FFF2-40B4-BE49-F238E27FC236}">
                <a16:creationId xmlns:a16="http://schemas.microsoft.com/office/drawing/2014/main" id="{86C92A85-5DDF-42CF-AD33-1A359B858425}"/>
              </a:ext>
            </a:extLst>
          </p:cNvPr>
          <p:cNvSpPr>
            <a:spLocks xmlns:a="http://schemas.openxmlformats.org/drawingml/2006/main" noGrp="1"/>
          </p:cNvSpPr>
          <p:nvPr/>
        </p:nvSpPr>
        <p:spPr>
          <a:xfrm xmlns:a="http://schemas.openxmlformats.org/drawingml/2006/main">
            <a:off x="666750" y="4048125"/>
            <a:ext cx="3286125"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Validate</a:t>
            </a:r>
          </a:p>
        </p:txBody>
      </p:sp>
      <p:sp>
        <p:nvSpPr>
          <p:cNvPr id="13" name="">
            <a:extLst xmlns:a="http://schemas.openxmlformats.org/drawingml/2006/main">
              <a:ext uri="{FF2B5EF4-FFF2-40B4-BE49-F238E27FC236}">
                <a16:creationId xmlns:a16="http://schemas.microsoft.com/office/drawing/2014/main" id="{94983B8F-5A50-4AA5-AEC9-3D5F9F00A003}"/>
              </a:ext>
            </a:extLst>
          </p:cNvPr>
          <p:cNvSpPr>
            <a:spLocks xmlns:a="http://schemas.openxmlformats.org/drawingml/2006/main" noGrp="1"/>
          </p:cNvSpPr>
          <p:nvPr/>
        </p:nvSpPr>
        <p:spPr>
          <a:xfrm xmlns:a="http://schemas.openxmlformats.org/drawingml/2006/main">
            <a:off x="4410075" y="4048125"/>
            <a:ext cx="3286125"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Measure</a:t>
            </a:r>
          </a:p>
        </p:txBody>
      </p:sp>
      <p:sp>
        <p:nvSpPr>
          <p:cNvPr id="14" name="">
            <a:extLst xmlns:a="http://schemas.openxmlformats.org/drawingml/2006/main">
              <a:ext uri="{FF2B5EF4-FFF2-40B4-BE49-F238E27FC236}">
                <a16:creationId xmlns:a16="http://schemas.microsoft.com/office/drawing/2014/main" id="{5B9977CB-71C5-4CD9-88EA-EB6BF07636F1}"/>
              </a:ext>
            </a:extLst>
          </p:cNvPr>
          <p:cNvSpPr>
            <a:spLocks xmlns:a="http://schemas.openxmlformats.org/drawingml/2006/main" noGrp="1"/>
          </p:cNvSpPr>
          <p:nvPr/>
        </p:nvSpPr>
        <p:spPr>
          <a:xfrm xmlns:a="http://schemas.openxmlformats.org/drawingml/2006/main">
            <a:off x="8153400" y="4048125"/>
            <a:ext cx="3286125"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Reflect</a:t>
            </a:r>
          </a:p>
        </p:txBody>
      </p:sp>
      <p:sp>
        <p:nvSpPr>
          <p:cNvPr id="15" name="">
            <a:extLst xmlns:a="http://schemas.openxmlformats.org/drawingml/2006/main">
              <a:ext uri="{FF2B5EF4-FFF2-40B4-BE49-F238E27FC236}">
                <a16:creationId xmlns:a16="http://schemas.microsoft.com/office/drawing/2014/main" id="{E8BF58CF-2D60-4750-B3B0-F06FADF4B851}"/>
              </a:ext>
            </a:extLst>
          </p:cNvPr>
          <p:cNvSpPr>
            <a:spLocks xmlns:a="http://schemas.openxmlformats.org/drawingml/2006/main" noGrp="1"/>
          </p:cNvSpPr>
          <p:nvPr/>
        </p:nvSpPr>
        <p:spPr>
          <a:xfrm xmlns:a="http://schemas.openxmlformats.org/drawingml/2006/main">
            <a:off x="723900" y="3028950"/>
            <a:ext cx="3162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0777B"/>
                </a:solidFill>
                <a:latin typeface="Arial"/>
                <a:ea typeface="Arial"/>
                <a:cs typeface="Arial"/>
              </a:defRPr>
            </a:defPPr>
            <a:lvl1pPr>
              <a:defRPr sz="1725" b="0">
                <a:solidFill>
                  <a:srgbClr val="60777B"/>
                </a:solidFill>
                <a:latin typeface="Arial"/>
                <a:ea typeface="Arial"/>
                <a:cs typeface="Arial"/>
              </a:defRPr>
            </a:lvl1pPr>
            <a:lvl2pPr>
              <a:defRPr sz="1725" b="0">
                <a:solidFill>
                  <a:srgbClr val="60777B"/>
                </a:solidFill>
                <a:latin typeface="Arial"/>
                <a:ea typeface="Arial"/>
                <a:cs typeface="Arial"/>
              </a:defRPr>
            </a:lvl2pPr>
            <a:lvl3pPr>
              <a:defRPr sz="1725" b="0">
                <a:solidFill>
                  <a:srgbClr val="60777B"/>
                </a:solidFill>
                <a:latin typeface="Arial"/>
                <a:ea typeface="Arial"/>
                <a:cs typeface="Arial"/>
              </a:defRPr>
            </a:lvl3pPr>
            <a:lvl4pPr>
              <a:defRPr sz="1725" b="0">
                <a:solidFill>
                  <a:srgbClr val="60777B"/>
                </a:solidFill>
                <a:latin typeface="Arial"/>
                <a:ea typeface="Arial"/>
                <a:cs typeface="Arial"/>
              </a:defRPr>
            </a:lvl4pPr>
            <a:lvl5pPr>
              <a:defRPr sz="1725" b="0">
                <a:solidFill>
                  <a:srgbClr val="60777B"/>
                </a:solidFill>
                <a:latin typeface="Arial"/>
                <a:ea typeface="Arial"/>
                <a:cs typeface="Arial"/>
              </a:defRPr>
            </a:lvl5pPr>
            <a:lvl6pPr>
              <a:defRPr sz="1725" b="0">
                <a:solidFill>
                  <a:srgbClr val="60777B"/>
                </a:solidFill>
                <a:latin typeface="Arial"/>
                <a:ea typeface="Arial"/>
                <a:cs typeface="Arial"/>
              </a:defRPr>
            </a:lvl6pPr>
            <a:lvl7pPr>
              <a:defRPr sz="1725" b="0">
                <a:solidFill>
                  <a:srgbClr val="60777B"/>
                </a:solidFill>
                <a:latin typeface="Arial"/>
                <a:ea typeface="Arial"/>
                <a:cs typeface="Arial"/>
              </a:defRPr>
            </a:lvl7pPr>
            <a:lvl8pPr>
              <a:defRPr sz="1725" b="0">
                <a:solidFill>
                  <a:srgbClr val="60777B"/>
                </a:solidFill>
                <a:latin typeface="Arial"/>
                <a:ea typeface="Arial"/>
                <a:cs typeface="Arial"/>
              </a:defRPr>
            </a:lvl8pPr>
            <a:lvl9pPr>
              <a:defRPr sz="1725" b="0">
                <a:solidFill>
                  <a:srgbClr val="60777B"/>
                </a:solidFill>
                <a:latin typeface="Arial"/>
                <a:ea typeface="Arial"/>
                <a:cs typeface="Arial"/>
              </a:defRPr>
            </a:lvl9pPr>
          </a:lstStyle>
          <a:p xmlns:a="http://schemas.openxmlformats.org/drawingml/2006/main">
            <a:pPr>
              <a:defRPr sz="1725" b="0">
                <a:solidFill>
                  <a:srgbClr val="60777B"/>
                </a:solidFill>
                <a:latin typeface="Arial"/>
                <a:ea typeface="Arial"/>
                <a:cs typeface="Arial"/>
              </a:defRPr>
            </a:pPr>
            <a:r>
              <a:rPr sz="1725" b="0">
                <a:solidFill>
                  <a:srgbClr val="60777B"/>
                </a:solidFill>
                <a:latin typeface="Arial"/>
                <a:ea typeface="Arial"/>
                <a:cs typeface="Arial"/>
              </a:rPr>
              <a:t>Demand + queues</a:t>
            </a:r>
          </a:p>
        </p:txBody>
      </p:sp>
      <p:sp>
        <p:nvSpPr>
          <p:cNvPr id="16" name="">
            <a:extLst xmlns:a="http://schemas.openxmlformats.org/drawingml/2006/main">
              <a:ext uri="{FF2B5EF4-FFF2-40B4-BE49-F238E27FC236}">
                <a16:creationId xmlns:a16="http://schemas.microsoft.com/office/drawing/2014/main" id="{4B54B1AB-07BE-4EBE-A09D-E631047B7C49}"/>
              </a:ext>
            </a:extLst>
          </p:cNvPr>
          <p:cNvSpPr>
            <a:spLocks xmlns:a="http://schemas.openxmlformats.org/drawingml/2006/main" noGrp="1"/>
          </p:cNvSpPr>
          <p:nvPr/>
        </p:nvSpPr>
        <p:spPr>
          <a:xfrm xmlns:a="http://schemas.openxmlformats.org/drawingml/2006/main">
            <a:off x="4467225" y="3028950"/>
            <a:ext cx="3162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0777B"/>
                </a:solidFill>
                <a:latin typeface="Arial"/>
                <a:ea typeface="Arial"/>
                <a:cs typeface="Arial"/>
              </a:defRPr>
            </a:defPPr>
            <a:lvl1pPr>
              <a:defRPr sz="1725" b="0">
                <a:solidFill>
                  <a:srgbClr val="60777B"/>
                </a:solidFill>
                <a:latin typeface="Arial"/>
                <a:ea typeface="Arial"/>
                <a:cs typeface="Arial"/>
              </a:defRPr>
            </a:lvl1pPr>
            <a:lvl2pPr>
              <a:defRPr sz="1725" b="0">
                <a:solidFill>
                  <a:srgbClr val="60777B"/>
                </a:solidFill>
                <a:latin typeface="Arial"/>
                <a:ea typeface="Arial"/>
                <a:cs typeface="Arial"/>
              </a:defRPr>
            </a:lvl2pPr>
            <a:lvl3pPr>
              <a:defRPr sz="1725" b="0">
                <a:solidFill>
                  <a:srgbClr val="60777B"/>
                </a:solidFill>
                <a:latin typeface="Arial"/>
                <a:ea typeface="Arial"/>
                <a:cs typeface="Arial"/>
              </a:defRPr>
            </a:lvl3pPr>
            <a:lvl4pPr>
              <a:defRPr sz="1725" b="0">
                <a:solidFill>
                  <a:srgbClr val="60777B"/>
                </a:solidFill>
                <a:latin typeface="Arial"/>
                <a:ea typeface="Arial"/>
                <a:cs typeface="Arial"/>
              </a:defRPr>
            </a:lvl4pPr>
            <a:lvl5pPr>
              <a:defRPr sz="1725" b="0">
                <a:solidFill>
                  <a:srgbClr val="60777B"/>
                </a:solidFill>
                <a:latin typeface="Arial"/>
                <a:ea typeface="Arial"/>
                <a:cs typeface="Arial"/>
              </a:defRPr>
            </a:lvl5pPr>
            <a:lvl6pPr>
              <a:defRPr sz="1725" b="0">
                <a:solidFill>
                  <a:srgbClr val="60777B"/>
                </a:solidFill>
                <a:latin typeface="Arial"/>
                <a:ea typeface="Arial"/>
                <a:cs typeface="Arial"/>
              </a:defRPr>
            </a:lvl6pPr>
            <a:lvl7pPr>
              <a:defRPr sz="1725" b="0">
                <a:solidFill>
                  <a:srgbClr val="60777B"/>
                </a:solidFill>
                <a:latin typeface="Arial"/>
                <a:ea typeface="Arial"/>
                <a:cs typeface="Arial"/>
              </a:defRPr>
            </a:lvl7pPr>
            <a:lvl8pPr>
              <a:defRPr sz="1725" b="0">
                <a:solidFill>
                  <a:srgbClr val="60777B"/>
                </a:solidFill>
                <a:latin typeface="Arial"/>
                <a:ea typeface="Arial"/>
                <a:cs typeface="Arial"/>
              </a:defRPr>
            </a:lvl8pPr>
            <a:lvl9pPr>
              <a:defRPr sz="1725" b="0">
                <a:solidFill>
                  <a:srgbClr val="60777B"/>
                </a:solidFill>
                <a:latin typeface="Arial"/>
                <a:ea typeface="Arial"/>
                <a:cs typeface="Arial"/>
              </a:defRPr>
            </a:lvl9pPr>
          </a:lstStyle>
          <a:p xmlns:a="http://schemas.openxmlformats.org/drawingml/2006/main">
            <a:pPr>
              <a:defRPr sz="1725" b="0">
                <a:solidFill>
                  <a:srgbClr val="60777B"/>
                </a:solidFill>
                <a:latin typeface="Arial"/>
                <a:ea typeface="Arial"/>
                <a:cs typeface="Arial"/>
              </a:defRPr>
            </a:pPr>
            <a:r>
              <a:rPr sz="1725" b="0">
                <a:solidFill>
                  <a:srgbClr val="60777B"/>
                </a:solidFill>
                <a:latin typeface="Arial"/>
                <a:ea typeface="Arial"/>
                <a:cs typeface="Arial"/>
              </a:rPr>
              <a:t>Earlier episodes</a:t>
            </a:r>
          </a:p>
        </p:txBody>
      </p:sp>
      <p:sp>
        <p:nvSpPr>
          <p:cNvPr id="17" name="">
            <a:extLst xmlns:a="http://schemas.openxmlformats.org/drawingml/2006/main">
              <a:ext uri="{FF2B5EF4-FFF2-40B4-BE49-F238E27FC236}">
                <a16:creationId xmlns:a16="http://schemas.microsoft.com/office/drawing/2014/main" id="{C4F47BE7-5EB8-42EC-8F96-03A7C4E31755}"/>
              </a:ext>
            </a:extLst>
          </p:cNvPr>
          <p:cNvSpPr>
            <a:spLocks xmlns:a="http://schemas.openxmlformats.org/drawingml/2006/main" noGrp="1"/>
          </p:cNvSpPr>
          <p:nvPr/>
        </p:nvSpPr>
        <p:spPr>
          <a:xfrm xmlns:a="http://schemas.openxmlformats.org/drawingml/2006/main">
            <a:off x="8210550" y="3028950"/>
            <a:ext cx="3162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0777B"/>
                </a:solidFill>
                <a:latin typeface="Arial"/>
                <a:ea typeface="Arial"/>
                <a:cs typeface="Arial"/>
              </a:defRPr>
            </a:defPPr>
            <a:lvl1pPr>
              <a:defRPr sz="1725" b="0">
                <a:solidFill>
                  <a:srgbClr val="60777B"/>
                </a:solidFill>
                <a:latin typeface="Arial"/>
                <a:ea typeface="Arial"/>
                <a:cs typeface="Arial"/>
              </a:defRPr>
            </a:lvl1pPr>
            <a:lvl2pPr>
              <a:defRPr sz="1725" b="0">
                <a:solidFill>
                  <a:srgbClr val="60777B"/>
                </a:solidFill>
                <a:latin typeface="Arial"/>
                <a:ea typeface="Arial"/>
                <a:cs typeface="Arial"/>
              </a:defRPr>
            </a:lvl2pPr>
            <a:lvl3pPr>
              <a:defRPr sz="1725" b="0">
                <a:solidFill>
                  <a:srgbClr val="60777B"/>
                </a:solidFill>
                <a:latin typeface="Arial"/>
                <a:ea typeface="Arial"/>
                <a:cs typeface="Arial"/>
              </a:defRPr>
            </a:lvl3pPr>
            <a:lvl4pPr>
              <a:defRPr sz="1725" b="0">
                <a:solidFill>
                  <a:srgbClr val="60777B"/>
                </a:solidFill>
                <a:latin typeface="Arial"/>
                <a:ea typeface="Arial"/>
                <a:cs typeface="Arial"/>
              </a:defRPr>
            </a:lvl4pPr>
            <a:lvl5pPr>
              <a:defRPr sz="1725" b="0">
                <a:solidFill>
                  <a:srgbClr val="60777B"/>
                </a:solidFill>
                <a:latin typeface="Arial"/>
                <a:ea typeface="Arial"/>
                <a:cs typeface="Arial"/>
              </a:defRPr>
            </a:lvl5pPr>
            <a:lvl6pPr>
              <a:defRPr sz="1725" b="0">
                <a:solidFill>
                  <a:srgbClr val="60777B"/>
                </a:solidFill>
                <a:latin typeface="Arial"/>
                <a:ea typeface="Arial"/>
                <a:cs typeface="Arial"/>
              </a:defRPr>
            </a:lvl6pPr>
            <a:lvl7pPr>
              <a:defRPr sz="1725" b="0">
                <a:solidFill>
                  <a:srgbClr val="60777B"/>
                </a:solidFill>
                <a:latin typeface="Arial"/>
                <a:ea typeface="Arial"/>
                <a:cs typeface="Arial"/>
              </a:defRPr>
            </a:lvl7pPr>
            <a:lvl8pPr>
              <a:defRPr sz="1725" b="0">
                <a:solidFill>
                  <a:srgbClr val="60777B"/>
                </a:solidFill>
                <a:latin typeface="Arial"/>
                <a:ea typeface="Arial"/>
                <a:cs typeface="Arial"/>
              </a:defRPr>
            </a:lvl8pPr>
            <a:lvl9pPr>
              <a:defRPr sz="1725" b="0">
                <a:solidFill>
                  <a:srgbClr val="60777B"/>
                </a:solidFill>
                <a:latin typeface="Arial"/>
                <a:ea typeface="Arial"/>
                <a:cs typeface="Arial"/>
              </a:defRPr>
            </a:lvl9pPr>
          </a:lstStyle>
          <a:p xmlns:a="http://schemas.openxmlformats.org/drawingml/2006/main">
            <a:pPr>
              <a:defRPr sz="1725" b="0">
                <a:solidFill>
                  <a:srgbClr val="60777B"/>
                </a:solidFill>
                <a:latin typeface="Arial"/>
                <a:ea typeface="Arial"/>
                <a:cs typeface="Arial"/>
              </a:defRPr>
            </a:pPr>
            <a:r>
              <a:rPr sz="1725" b="0">
                <a:solidFill>
                  <a:srgbClr val="60777B"/>
                </a:solidFill>
                <a:latin typeface="Arial"/>
                <a:ea typeface="Arial"/>
                <a:cs typeface="Arial"/>
              </a:rPr>
              <a:t>Typed JSON</a:t>
            </a:r>
          </a:p>
        </p:txBody>
      </p:sp>
      <p:sp>
        <p:nvSpPr>
          <p:cNvPr id="18" name="">
            <a:extLst xmlns:a="http://schemas.openxmlformats.org/drawingml/2006/main">
              <a:ext uri="{FF2B5EF4-FFF2-40B4-BE49-F238E27FC236}">
                <a16:creationId xmlns:a16="http://schemas.microsoft.com/office/drawing/2014/main" id="{27B9EBCE-568C-458B-B032-1D6DD9BFDBB2}"/>
              </a:ext>
            </a:extLst>
          </p:cNvPr>
          <p:cNvSpPr>
            <a:spLocks xmlns:a="http://schemas.openxmlformats.org/drawingml/2006/main" noGrp="1"/>
          </p:cNvSpPr>
          <p:nvPr/>
        </p:nvSpPr>
        <p:spPr>
          <a:xfrm xmlns:a="http://schemas.openxmlformats.org/drawingml/2006/main">
            <a:off x="723900" y="5124450"/>
            <a:ext cx="3162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0777B"/>
                </a:solidFill>
                <a:latin typeface="Arial"/>
                <a:ea typeface="Arial"/>
                <a:cs typeface="Arial"/>
              </a:defRPr>
            </a:defPPr>
            <a:lvl1pPr>
              <a:defRPr sz="1725" b="0">
                <a:solidFill>
                  <a:srgbClr val="60777B"/>
                </a:solidFill>
                <a:latin typeface="Arial"/>
                <a:ea typeface="Arial"/>
                <a:cs typeface="Arial"/>
              </a:defRPr>
            </a:lvl1pPr>
            <a:lvl2pPr>
              <a:defRPr sz="1725" b="0">
                <a:solidFill>
                  <a:srgbClr val="60777B"/>
                </a:solidFill>
                <a:latin typeface="Arial"/>
                <a:ea typeface="Arial"/>
                <a:cs typeface="Arial"/>
              </a:defRPr>
            </a:lvl2pPr>
            <a:lvl3pPr>
              <a:defRPr sz="1725" b="0">
                <a:solidFill>
                  <a:srgbClr val="60777B"/>
                </a:solidFill>
                <a:latin typeface="Arial"/>
                <a:ea typeface="Arial"/>
                <a:cs typeface="Arial"/>
              </a:defRPr>
            </a:lvl3pPr>
            <a:lvl4pPr>
              <a:defRPr sz="1725" b="0">
                <a:solidFill>
                  <a:srgbClr val="60777B"/>
                </a:solidFill>
                <a:latin typeface="Arial"/>
                <a:ea typeface="Arial"/>
                <a:cs typeface="Arial"/>
              </a:defRPr>
            </a:lvl4pPr>
            <a:lvl5pPr>
              <a:defRPr sz="1725" b="0">
                <a:solidFill>
                  <a:srgbClr val="60777B"/>
                </a:solidFill>
                <a:latin typeface="Arial"/>
                <a:ea typeface="Arial"/>
                <a:cs typeface="Arial"/>
              </a:defRPr>
            </a:lvl5pPr>
            <a:lvl6pPr>
              <a:defRPr sz="1725" b="0">
                <a:solidFill>
                  <a:srgbClr val="60777B"/>
                </a:solidFill>
                <a:latin typeface="Arial"/>
                <a:ea typeface="Arial"/>
                <a:cs typeface="Arial"/>
              </a:defRPr>
            </a:lvl6pPr>
            <a:lvl7pPr>
              <a:defRPr sz="1725" b="0">
                <a:solidFill>
                  <a:srgbClr val="60777B"/>
                </a:solidFill>
                <a:latin typeface="Arial"/>
                <a:ea typeface="Arial"/>
                <a:cs typeface="Arial"/>
              </a:defRPr>
            </a:lvl7pPr>
            <a:lvl8pPr>
              <a:defRPr sz="1725" b="0">
                <a:solidFill>
                  <a:srgbClr val="60777B"/>
                </a:solidFill>
                <a:latin typeface="Arial"/>
                <a:ea typeface="Arial"/>
                <a:cs typeface="Arial"/>
              </a:defRPr>
            </a:lvl8pPr>
            <a:lvl9pPr>
              <a:defRPr sz="1725" b="0">
                <a:solidFill>
                  <a:srgbClr val="60777B"/>
                </a:solidFill>
                <a:latin typeface="Arial"/>
                <a:ea typeface="Arial"/>
                <a:cs typeface="Arial"/>
              </a:defRPr>
            </a:lvl9pPr>
          </a:lstStyle>
          <a:p xmlns:a="http://schemas.openxmlformats.org/drawingml/2006/main">
            <a:pPr>
              <a:defRPr sz="1725" b="0">
                <a:solidFill>
                  <a:srgbClr val="60777B"/>
                </a:solidFill>
                <a:latin typeface="Arial"/>
                <a:ea typeface="Arial"/>
                <a:cs typeface="Arial"/>
              </a:defRPr>
            </a:pPr>
            <a:r>
              <a:rPr sz="1725" b="0">
                <a:solidFill>
                  <a:srgbClr val="60777B"/>
                </a:solidFill>
                <a:latin typeface="Arial"/>
                <a:ea typeface="Arial"/>
                <a:cs typeface="Arial"/>
              </a:rPr>
              <a:t>Independent gate</a:t>
            </a:r>
          </a:p>
        </p:txBody>
      </p:sp>
      <p:sp>
        <p:nvSpPr>
          <p:cNvPr id="19" name="">
            <a:extLst xmlns:a="http://schemas.openxmlformats.org/drawingml/2006/main">
              <a:ext uri="{FF2B5EF4-FFF2-40B4-BE49-F238E27FC236}">
                <a16:creationId xmlns:a16="http://schemas.microsoft.com/office/drawing/2014/main" id="{CC9A011B-D9E4-4EEB-AF2B-C70C154399ED}"/>
              </a:ext>
            </a:extLst>
          </p:cNvPr>
          <p:cNvSpPr>
            <a:spLocks xmlns:a="http://schemas.openxmlformats.org/drawingml/2006/main" noGrp="1"/>
          </p:cNvSpPr>
          <p:nvPr/>
        </p:nvSpPr>
        <p:spPr>
          <a:xfrm xmlns:a="http://schemas.openxmlformats.org/drawingml/2006/main">
            <a:off x="4467225" y="5124450"/>
            <a:ext cx="3162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0777B"/>
                </a:solidFill>
                <a:latin typeface="Arial"/>
                <a:ea typeface="Arial"/>
                <a:cs typeface="Arial"/>
              </a:defRPr>
            </a:defPPr>
            <a:lvl1pPr>
              <a:defRPr sz="1725" b="0">
                <a:solidFill>
                  <a:srgbClr val="60777B"/>
                </a:solidFill>
                <a:latin typeface="Arial"/>
                <a:ea typeface="Arial"/>
                <a:cs typeface="Arial"/>
              </a:defRPr>
            </a:lvl1pPr>
            <a:lvl2pPr>
              <a:defRPr sz="1725" b="0">
                <a:solidFill>
                  <a:srgbClr val="60777B"/>
                </a:solidFill>
                <a:latin typeface="Arial"/>
                <a:ea typeface="Arial"/>
                <a:cs typeface="Arial"/>
              </a:defRPr>
            </a:lvl2pPr>
            <a:lvl3pPr>
              <a:defRPr sz="1725" b="0">
                <a:solidFill>
                  <a:srgbClr val="60777B"/>
                </a:solidFill>
                <a:latin typeface="Arial"/>
                <a:ea typeface="Arial"/>
                <a:cs typeface="Arial"/>
              </a:defRPr>
            </a:lvl3pPr>
            <a:lvl4pPr>
              <a:defRPr sz="1725" b="0">
                <a:solidFill>
                  <a:srgbClr val="60777B"/>
                </a:solidFill>
                <a:latin typeface="Arial"/>
                <a:ea typeface="Arial"/>
                <a:cs typeface="Arial"/>
              </a:defRPr>
            </a:lvl4pPr>
            <a:lvl5pPr>
              <a:defRPr sz="1725" b="0">
                <a:solidFill>
                  <a:srgbClr val="60777B"/>
                </a:solidFill>
                <a:latin typeface="Arial"/>
                <a:ea typeface="Arial"/>
                <a:cs typeface="Arial"/>
              </a:defRPr>
            </a:lvl5pPr>
            <a:lvl6pPr>
              <a:defRPr sz="1725" b="0">
                <a:solidFill>
                  <a:srgbClr val="60777B"/>
                </a:solidFill>
                <a:latin typeface="Arial"/>
                <a:ea typeface="Arial"/>
                <a:cs typeface="Arial"/>
              </a:defRPr>
            </a:lvl6pPr>
            <a:lvl7pPr>
              <a:defRPr sz="1725" b="0">
                <a:solidFill>
                  <a:srgbClr val="60777B"/>
                </a:solidFill>
                <a:latin typeface="Arial"/>
                <a:ea typeface="Arial"/>
                <a:cs typeface="Arial"/>
              </a:defRPr>
            </a:lvl7pPr>
            <a:lvl8pPr>
              <a:defRPr sz="1725" b="0">
                <a:solidFill>
                  <a:srgbClr val="60777B"/>
                </a:solidFill>
                <a:latin typeface="Arial"/>
                <a:ea typeface="Arial"/>
                <a:cs typeface="Arial"/>
              </a:defRPr>
            </a:lvl8pPr>
            <a:lvl9pPr>
              <a:defRPr sz="1725" b="0">
                <a:solidFill>
                  <a:srgbClr val="60777B"/>
                </a:solidFill>
                <a:latin typeface="Arial"/>
                <a:ea typeface="Arial"/>
                <a:cs typeface="Arial"/>
              </a:defRPr>
            </a:lvl9pPr>
          </a:lstStyle>
          <a:p xmlns:a="http://schemas.openxmlformats.org/drawingml/2006/main">
            <a:pPr>
              <a:defRPr sz="1725" b="0">
                <a:solidFill>
                  <a:srgbClr val="60777B"/>
                </a:solidFill>
                <a:latin typeface="Arial"/>
                <a:ea typeface="Arial"/>
                <a:cs typeface="Arial"/>
              </a:defRPr>
            </a:pPr>
            <a:r>
              <a:rPr sz="1725" b="0">
                <a:solidFill>
                  <a:srgbClr val="60777B"/>
                </a:solidFill>
                <a:latin typeface="Arial"/>
                <a:ea typeface="Arial"/>
                <a:cs typeface="Arial"/>
              </a:rPr>
              <a:t>Outcome + reward</a:t>
            </a:r>
          </a:p>
        </p:txBody>
      </p:sp>
      <p:sp>
        <p:nvSpPr>
          <p:cNvPr id="20" name="">
            <a:extLst xmlns:a="http://schemas.openxmlformats.org/drawingml/2006/main">
              <a:ext uri="{FF2B5EF4-FFF2-40B4-BE49-F238E27FC236}">
                <a16:creationId xmlns:a16="http://schemas.microsoft.com/office/drawing/2014/main" id="{48D8B898-E044-4B07-BB26-5C56FB925091}"/>
              </a:ext>
            </a:extLst>
          </p:cNvPr>
          <p:cNvSpPr>
            <a:spLocks xmlns:a="http://schemas.openxmlformats.org/drawingml/2006/main" noGrp="1"/>
          </p:cNvSpPr>
          <p:nvPr/>
        </p:nvSpPr>
        <p:spPr>
          <a:xfrm xmlns:a="http://schemas.openxmlformats.org/drawingml/2006/main">
            <a:off x="8210550" y="5124450"/>
            <a:ext cx="3162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60777B"/>
                </a:solidFill>
                <a:latin typeface="Arial"/>
                <a:ea typeface="Arial"/>
                <a:cs typeface="Arial"/>
              </a:defRPr>
            </a:defPPr>
            <a:lvl1pPr>
              <a:defRPr sz="1725" b="0">
                <a:solidFill>
                  <a:srgbClr val="60777B"/>
                </a:solidFill>
                <a:latin typeface="Arial"/>
                <a:ea typeface="Arial"/>
                <a:cs typeface="Arial"/>
              </a:defRPr>
            </a:lvl1pPr>
            <a:lvl2pPr>
              <a:defRPr sz="1725" b="0">
                <a:solidFill>
                  <a:srgbClr val="60777B"/>
                </a:solidFill>
                <a:latin typeface="Arial"/>
                <a:ea typeface="Arial"/>
                <a:cs typeface="Arial"/>
              </a:defRPr>
            </a:lvl2pPr>
            <a:lvl3pPr>
              <a:defRPr sz="1725" b="0">
                <a:solidFill>
                  <a:srgbClr val="60777B"/>
                </a:solidFill>
                <a:latin typeface="Arial"/>
                <a:ea typeface="Arial"/>
                <a:cs typeface="Arial"/>
              </a:defRPr>
            </a:lvl3pPr>
            <a:lvl4pPr>
              <a:defRPr sz="1725" b="0">
                <a:solidFill>
                  <a:srgbClr val="60777B"/>
                </a:solidFill>
                <a:latin typeface="Arial"/>
                <a:ea typeface="Arial"/>
                <a:cs typeface="Arial"/>
              </a:defRPr>
            </a:lvl4pPr>
            <a:lvl5pPr>
              <a:defRPr sz="1725" b="0">
                <a:solidFill>
                  <a:srgbClr val="60777B"/>
                </a:solidFill>
                <a:latin typeface="Arial"/>
                <a:ea typeface="Arial"/>
                <a:cs typeface="Arial"/>
              </a:defRPr>
            </a:lvl5pPr>
            <a:lvl6pPr>
              <a:defRPr sz="1725" b="0">
                <a:solidFill>
                  <a:srgbClr val="60777B"/>
                </a:solidFill>
                <a:latin typeface="Arial"/>
                <a:ea typeface="Arial"/>
                <a:cs typeface="Arial"/>
              </a:defRPr>
            </a:lvl6pPr>
            <a:lvl7pPr>
              <a:defRPr sz="1725" b="0">
                <a:solidFill>
                  <a:srgbClr val="60777B"/>
                </a:solidFill>
                <a:latin typeface="Arial"/>
                <a:ea typeface="Arial"/>
                <a:cs typeface="Arial"/>
              </a:defRPr>
            </a:lvl7pPr>
            <a:lvl8pPr>
              <a:defRPr sz="1725" b="0">
                <a:solidFill>
                  <a:srgbClr val="60777B"/>
                </a:solidFill>
                <a:latin typeface="Arial"/>
                <a:ea typeface="Arial"/>
                <a:cs typeface="Arial"/>
              </a:defRPr>
            </a:lvl8pPr>
            <a:lvl9pPr>
              <a:defRPr sz="1725" b="0">
                <a:solidFill>
                  <a:srgbClr val="60777B"/>
                </a:solidFill>
                <a:latin typeface="Arial"/>
                <a:ea typeface="Arial"/>
                <a:cs typeface="Arial"/>
              </a:defRPr>
            </a:lvl9pPr>
          </a:lstStyle>
          <a:p xmlns:a="http://schemas.openxmlformats.org/drawingml/2006/main">
            <a:pPr>
              <a:defRPr sz="1725" b="0">
                <a:solidFill>
                  <a:srgbClr val="60777B"/>
                </a:solidFill>
                <a:latin typeface="Arial"/>
                <a:ea typeface="Arial"/>
                <a:cs typeface="Arial"/>
              </a:defRPr>
            </a:pPr>
            <a:r>
              <a:rPr sz="1725" b="0">
                <a:solidFill>
                  <a:srgbClr val="60777B"/>
                </a:solidFill>
                <a:latin typeface="Arial"/>
                <a:ea typeface="Arial"/>
                <a:cs typeface="Arial"/>
              </a:rPr>
              <a:t>Bounded memory</a:t>
            </a:r>
          </a:p>
        </p:txBody>
      </p:sp>
    </p:spTree>
    <p:extLst>
      <p:ext uri="{BB962C8B-B14F-4D97-AF65-F5344CB8AC3E}">
        <p14:creationId xmlns:p14="http://schemas.microsoft.com/office/powerpoint/2010/main" val="43588804"/>
      </p:ext>
    </p:extLst>
  </p:cSld>
</p:sld>
</file>

<file path=ppt/slides/slide4.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9B4B3EB4-2240-4321-A5D6-26418F68C7AA}"/>
              </a:ext>
            </a:extLst>
          </p:cNvPr>
          <p:cNvCxnSpPr>
            <a:stCxn xmlns:a="http://schemas.openxmlformats.org/drawingml/2006/main" id="11" idx="3"/>
            <a:endCxn xmlns:a="http://schemas.openxmlformats.org/drawingml/2006/main" id="12" idx="1"/>
          </p:cNvCxnSpPr>
          <p:nvPr/>
        </p:nvCxnSpPr>
        <p:spPr>
          <a:xfrm xmlns:a="http://schemas.openxmlformats.org/drawingml/2006/main" flipV="1">
            <a:off x="7286625" y="3309938"/>
            <a:ext cx="2000250" cy="1333500"/>
          </a:xfrm>
          <a:prstGeom xmlns:a="http://schemas.openxmlformats.org/drawingml/2006/main" prst="bentConnector3">
            <a:avLst>
              <a:gd name="adj1" fmla="val 50000"/>
            </a:avLst>
          </a:prstGeom>
          <a:ln xmlns:a="http://schemas.openxmlformats.org/drawingml/2006/main" w="19050">
            <a:solidFill>
              <a:srgbClr val="007D76"/>
            </a:solidFill>
          </a:ln>
        </p:spPr>
      </p:cxnSp>
      <p:cxnSp>
        <p:nvCxnSpPr>
          <p:cNvPr id="3" name="">
            <a:extLst xmlns:a="http://schemas.openxmlformats.org/drawingml/2006/main">
              <a:ext uri="{FF2B5EF4-FFF2-40B4-BE49-F238E27FC236}">
                <a16:creationId xmlns:a16="http://schemas.microsoft.com/office/drawing/2014/main" id="{9712F641-B710-407A-A800-BF3FF12CAAC7}"/>
              </a:ext>
            </a:extLst>
          </p:cNvPr>
          <p:cNvCxnSpPr>
            <a:stCxn xmlns:a="http://schemas.openxmlformats.org/drawingml/2006/main" id="10" idx="3"/>
            <a:endCxn xmlns:a="http://schemas.openxmlformats.org/drawingml/2006/main" id="12" idx="1"/>
          </p:cNvCxnSpPr>
          <p:nvPr/>
        </p:nvCxnSpPr>
        <p:spPr>
          <a:xfrm xmlns:a="http://schemas.openxmlformats.org/drawingml/2006/main">
            <a:off x="7286625" y="2166938"/>
            <a:ext cx="2000250" cy="1143000"/>
          </a:xfrm>
          <a:prstGeom xmlns:a="http://schemas.openxmlformats.org/drawingml/2006/main" prst="bentConnector3">
            <a:avLst>
              <a:gd name="adj1" fmla="val 50000"/>
            </a:avLst>
          </a:prstGeom>
          <a:ln xmlns:a="http://schemas.openxmlformats.org/drawingml/2006/main" w="19050">
            <a:solidFill>
              <a:srgbClr val="007D76"/>
            </a:solidFill>
          </a:ln>
        </p:spPr>
      </p:cxnSp>
      <p:cxnSp>
        <p:nvCxnSpPr>
          <p:cNvPr id="4" name="">
            <a:extLst xmlns:a="http://schemas.openxmlformats.org/drawingml/2006/main">
              <a:ext uri="{FF2B5EF4-FFF2-40B4-BE49-F238E27FC236}">
                <a16:creationId xmlns:a16="http://schemas.microsoft.com/office/drawing/2014/main" id="{A9D00429-C195-4BF7-9575-1AEA97F1E603}"/>
              </a:ext>
            </a:extLst>
          </p:cNvPr>
          <p:cNvCxnSpPr>
            <a:stCxn xmlns:a="http://schemas.openxmlformats.org/drawingml/2006/main" id="9" idx="3"/>
            <a:endCxn xmlns:a="http://schemas.openxmlformats.org/drawingml/2006/main" id="11" idx="1"/>
          </p:cNvCxnSpPr>
          <p:nvPr/>
        </p:nvCxnSpPr>
        <p:spPr>
          <a:xfrm xmlns:a="http://schemas.openxmlformats.org/drawingml/2006/main">
            <a:off x="2952750" y="3309938"/>
            <a:ext cx="1952625" cy="1333500"/>
          </a:xfrm>
          <a:prstGeom xmlns:a="http://schemas.openxmlformats.org/drawingml/2006/main" prst="bentConnector3">
            <a:avLst>
              <a:gd name="adj1" fmla="val 50000"/>
            </a:avLst>
          </a:prstGeom>
          <a:ln xmlns:a="http://schemas.openxmlformats.org/drawingml/2006/main" w="19050">
            <a:solidFill>
              <a:srgbClr val="007D76"/>
            </a:solidFill>
          </a:ln>
        </p:spPr>
      </p:cxnSp>
      <p:cxnSp>
        <p:nvCxnSpPr>
          <p:cNvPr id="5" name="">
            <a:extLst xmlns:a="http://schemas.openxmlformats.org/drawingml/2006/main">
              <a:ext uri="{FF2B5EF4-FFF2-40B4-BE49-F238E27FC236}">
                <a16:creationId xmlns:a16="http://schemas.microsoft.com/office/drawing/2014/main" id="{65CE8AF6-4040-4A75-BA25-D060184EFD7F}"/>
              </a:ext>
            </a:extLst>
          </p:cNvPr>
          <p:cNvCxnSpPr>
            <a:stCxn xmlns:a="http://schemas.openxmlformats.org/drawingml/2006/main" id="9" idx="3"/>
            <a:endCxn xmlns:a="http://schemas.openxmlformats.org/drawingml/2006/main" id="10" idx="1"/>
          </p:cNvCxnSpPr>
          <p:nvPr/>
        </p:nvCxnSpPr>
        <p:spPr>
          <a:xfrm xmlns:a="http://schemas.openxmlformats.org/drawingml/2006/main" flipV="1">
            <a:off x="2952750" y="2166938"/>
            <a:ext cx="1952625" cy="1143000"/>
          </a:xfrm>
          <a:prstGeom xmlns:a="http://schemas.openxmlformats.org/drawingml/2006/main" prst="bentConnector3">
            <a:avLst>
              <a:gd name="adj1" fmla="val 50000"/>
            </a:avLst>
          </a:prstGeom>
          <a:ln xmlns:a="http://schemas.openxmlformats.org/drawingml/2006/main" w="19050">
            <a:solidFill>
              <a:srgbClr val="007D76"/>
            </a:solidFill>
          </a:ln>
        </p:spPr>
      </p:cxnSp>
      <p:sp>
        <p:nvSpPr>
          <p:cNvPr id="6" name="">
            <a:extLst xmlns:a="http://schemas.openxmlformats.org/drawingml/2006/main">
              <a:ext uri="{FF2B5EF4-FFF2-40B4-BE49-F238E27FC236}">
                <a16:creationId xmlns:a16="http://schemas.microsoft.com/office/drawing/2014/main" id="{37804CBD-547C-4426-B328-A8095881545B}"/>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Two-path fluid topology</a:t>
            </a:r>
          </a:p>
        </p:txBody>
      </p:sp>
      <p:sp>
        <p:nvSpPr>
          <p:cNvPr id="7" name="">
            <a:extLst xmlns:a="http://schemas.openxmlformats.org/drawingml/2006/main">
              <a:ext uri="{FF2B5EF4-FFF2-40B4-BE49-F238E27FC236}">
                <a16:creationId xmlns:a16="http://schemas.microsoft.com/office/drawing/2014/main" id="{7F4BE0EE-98F2-4B2F-BEE9-DF282CB7250D}"/>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04 / SELF-X</a:t>
            </a:r>
          </a:p>
        </p:txBody>
      </p:sp>
      <p:sp>
        <p:nvSpPr>
          <p:cNvPr id="8" name="">
            <a:extLst xmlns:a="http://schemas.openxmlformats.org/drawingml/2006/main">
              <a:ext uri="{FF2B5EF4-FFF2-40B4-BE49-F238E27FC236}">
                <a16:creationId xmlns:a16="http://schemas.microsoft.com/office/drawing/2014/main" id="{3A0848A4-0AB8-4BC5-A70E-C5CEDF8D7586}"/>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A logical network model; no packet testbed is claimed</a:t>
            </a:r>
          </a:p>
        </p:txBody>
      </p:sp>
      <p:sp>
        <p:nvSpPr>
          <p:cNvPr id="9" name="">
            <a:extLst xmlns:a="http://schemas.openxmlformats.org/drawingml/2006/main">
              <a:ext uri="{FF2B5EF4-FFF2-40B4-BE49-F238E27FC236}">
                <a16:creationId xmlns:a16="http://schemas.microsoft.com/office/drawing/2014/main" id="{AA2C43CA-CC0C-4326-82A0-394B6C2EB404}"/>
              </a:ext>
            </a:extLst>
          </p:cNvPr>
          <p:cNvSpPr>
            <a:spLocks xmlns:a="http://schemas.openxmlformats.org/drawingml/2006/main" noGrp="1"/>
          </p:cNvSpPr>
          <p:nvPr/>
        </p:nvSpPr>
        <p:spPr>
          <a:xfrm xmlns:a="http://schemas.openxmlformats.org/drawingml/2006/main">
            <a:off x="666750" y="2857500"/>
            <a:ext cx="2286000"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s1 / ingress</a:t>
            </a:r>
          </a:p>
        </p:txBody>
      </p:sp>
      <p:sp>
        <p:nvSpPr>
          <p:cNvPr id="10" name="">
            <a:extLst xmlns:a="http://schemas.openxmlformats.org/drawingml/2006/main">
              <a:ext uri="{FF2B5EF4-FFF2-40B4-BE49-F238E27FC236}">
                <a16:creationId xmlns:a16="http://schemas.microsoft.com/office/drawing/2014/main" id="{F4F3772E-6A60-4362-AA2C-1EE0B26042D0}"/>
              </a:ext>
            </a:extLst>
          </p:cNvPr>
          <p:cNvSpPr>
            <a:spLocks xmlns:a="http://schemas.openxmlformats.org/drawingml/2006/main" noGrp="1"/>
          </p:cNvSpPr>
          <p:nvPr/>
        </p:nvSpPr>
        <p:spPr>
          <a:xfrm xmlns:a="http://schemas.openxmlformats.org/drawingml/2006/main">
            <a:off x="4905375" y="1714500"/>
            <a:ext cx="2381250"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s2 / primary</a:t>
            </a:r>
          </a:p>
        </p:txBody>
      </p:sp>
      <p:sp>
        <p:nvSpPr>
          <p:cNvPr id="11" name="">
            <a:extLst xmlns:a="http://schemas.openxmlformats.org/drawingml/2006/main">
              <a:ext uri="{FF2B5EF4-FFF2-40B4-BE49-F238E27FC236}">
                <a16:creationId xmlns:a16="http://schemas.microsoft.com/office/drawing/2014/main" id="{0D50AA42-72C3-4461-84AB-82121D214037}"/>
              </a:ext>
            </a:extLst>
          </p:cNvPr>
          <p:cNvSpPr>
            <a:spLocks xmlns:a="http://schemas.openxmlformats.org/drawingml/2006/main" noGrp="1"/>
          </p:cNvSpPr>
          <p:nvPr/>
        </p:nvSpPr>
        <p:spPr>
          <a:xfrm xmlns:a="http://schemas.openxmlformats.org/drawingml/2006/main">
            <a:off x="4905375" y="4191000"/>
            <a:ext cx="2381250"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s3 / alternate</a:t>
            </a:r>
          </a:p>
        </p:txBody>
      </p:sp>
      <p:sp>
        <p:nvSpPr>
          <p:cNvPr id="12" name="">
            <a:extLst xmlns:a="http://schemas.openxmlformats.org/drawingml/2006/main">
              <a:ext uri="{FF2B5EF4-FFF2-40B4-BE49-F238E27FC236}">
                <a16:creationId xmlns:a16="http://schemas.microsoft.com/office/drawing/2014/main" id="{44E9574C-E22D-4CAA-A855-C70257E1A569}"/>
              </a:ext>
            </a:extLst>
          </p:cNvPr>
          <p:cNvSpPr>
            <a:spLocks xmlns:a="http://schemas.openxmlformats.org/drawingml/2006/main" noGrp="1"/>
          </p:cNvSpPr>
          <p:nvPr/>
        </p:nvSpPr>
        <p:spPr>
          <a:xfrm xmlns:a="http://schemas.openxmlformats.org/drawingml/2006/main">
            <a:off x="9286875" y="2857500"/>
            <a:ext cx="2286000" cy="904875"/>
          </a:xfrm>
          <a:prstGeom xmlns:a="http://schemas.openxmlformats.org/drawingml/2006/main" prst="rect">
            <a:avLst/>
          </a:prstGeom>
          <a:solidFill xmlns:a="http://schemas.openxmlformats.org/drawingml/2006/main">
            <a:srgbClr val="E8F0E9"/>
          </a:solidFill>
          <a:ln xmlns:a="http://schemas.openxmlformats.org/drawingml/2006/main" w="13335">
            <a:solidFill>
              <a:srgbClr val="007D76"/>
            </a:solidFill>
          </a:ln>
        </p:spPr>
        <p:txBody>
          <a:bodyPr xmlns:a="http://schemas.openxmlformats.org/drawingml/2006/main"/>
          <a:lstStyle xmlns:a="http://schemas.openxmlformats.org/drawingml/2006/main">
            <a:defPPr>
              <a:defRPr sz="1875" b="1">
                <a:solidFill>
                  <a:srgbClr val="102E36"/>
                </a:solidFill>
                <a:latin typeface="Arial"/>
                <a:ea typeface="Arial"/>
                <a:cs typeface="Arial"/>
              </a:defRPr>
            </a:defPPr>
            <a:lvl1pPr>
              <a:defRPr sz="1875" b="1">
                <a:solidFill>
                  <a:srgbClr val="102E36"/>
                </a:solidFill>
                <a:latin typeface="Arial"/>
                <a:ea typeface="Arial"/>
                <a:cs typeface="Arial"/>
              </a:defRPr>
            </a:lvl1pPr>
            <a:lvl2pPr>
              <a:defRPr sz="1875" b="1">
                <a:solidFill>
                  <a:srgbClr val="102E36"/>
                </a:solidFill>
                <a:latin typeface="Arial"/>
                <a:ea typeface="Arial"/>
                <a:cs typeface="Arial"/>
              </a:defRPr>
            </a:lvl2pPr>
            <a:lvl3pPr>
              <a:defRPr sz="1875" b="1">
                <a:solidFill>
                  <a:srgbClr val="102E36"/>
                </a:solidFill>
                <a:latin typeface="Arial"/>
                <a:ea typeface="Arial"/>
                <a:cs typeface="Arial"/>
              </a:defRPr>
            </a:lvl3pPr>
            <a:lvl4pPr>
              <a:defRPr sz="1875" b="1">
                <a:solidFill>
                  <a:srgbClr val="102E36"/>
                </a:solidFill>
                <a:latin typeface="Arial"/>
                <a:ea typeface="Arial"/>
                <a:cs typeface="Arial"/>
              </a:defRPr>
            </a:lvl4pPr>
            <a:lvl5pPr>
              <a:defRPr sz="1875" b="1">
                <a:solidFill>
                  <a:srgbClr val="102E36"/>
                </a:solidFill>
                <a:latin typeface="Arial"/>
                <a:ea typeface="Arial"/>
                <a:cs typeface="Arial"/>
              </a:defRPr>
            </a:lvl5pPr>
            <a:lvl6pPr>
              <a:defRPr sz="1875" b="1">
                <a:solidFill>
                  <a:srgbClr val="102E36"/>
                </a:solidFill>
                <a:latin typeface="Arial"/>
                <a:ea typeface="Arial"/>
                <a:cs typeface="Arial"/>
              </a:defRPr>
            </a:lvl6pPr>
            <a:lvl7pPr>
              <a:defRPr sz="1875" b="1">
                <a:solidFill>
                  <a:srgbClr val="102E36"/>
                </a:solidFill>
                <a:latin typeface="Arial"/>
                <a:ea typeface="Arial"/>
                <a:cs typeface="Arial"/>
              </a:defRPr>
            </a:lvl7pPr>
            <a:lvl8pPr>
              <a:defRPr sz="1875" b="1">
                <a:solidFill>
                  <a:srgbClr val="102E36"/>
                </a:solidFill>
                <a:latin typeface="Arial"/>
                <a:ea typeface="Arial"/>
                <a:cs typeface="Arial"/>
              </a:defRPr>
            </a:lvl8pPr>
            <a:lvl9pPr>
              <a:defRPr sz="1875" b="1">
                <a:solidFill>
                  <a:srgbClr val="102E36"/>
                </a:solidFill>
                <a:latin typeface="Arial"/>
                <a:ea typeface="Arial"/>
                <a:cs typeface="Arial"/>
              </a:defRPr>
            </a:lvl9pPr>
          </a:lstStyle>
          <a:p xmlns:a="http://schemas.openxmlformats.org/drawingml/2006/main">
            <a:pPr>
              <a:defRPr sz="1875" b="1">
                <a:solidFill>
                  <a:srgbClr val="102E36"/>
                </a:solidFill>
                <a:latin typeface="Arial"/>
                <a:ea typeface="Arial"/>
                <a:cs typeface="Arial"/>
              </a:defRPr>
            </a:pPr>
            <a:r>
              <a:rPr sz="1875" b="1">
                <a:solidFill>
                  <a:srgbClr val="102E36"/>
                </a:solidFill>
                <a:latin typeface="Arial"/>
                <a:ea typeface="Arial"/>
                <a:cs typeface="Arial"/>
              </a:rPr>
              <a:t>s4 / egress</a:t>
            </a:r>
          </a:p>
        </p:txBody>
      </p:sp>
      <p:sp>
        <p:nvSpPr>
          <p:cNvPr id="13" name="">
            <a:extLst xmlns:a="http://schemas.openxmlformats.org/drawingml/2006/main">
              <a:ext uri="{FF2B5EF4-FFF2-40B4-BE49-F238E27FC236}">
                <a16:creationId xmlns:a16="http://schemas.microsoft.com/office/drawing/2014/main" id="{9DCB27EA-336E-4041-89C5-E006171F67B4}"/>
              </a:ext>
            </a:extLst>
          </p:cNvPr>
          <p:cNvSpPr>
            <a:spLocks xmlns:a="http://schemas.openxmlformats.org/drawingml/2006/main" noGrp="1"/>
          </p:cNvSpPr>
          <p:nvPr/>
        </p:nvSpPr>
        <p:spPr>
          <a:xfrm xmlns:a="http://schemas.openxmlformats.org/drawingml/2006/main">
            <a:off x="4238625" y="2924175"/>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D76"/>
                </a:solidFill>
                <a:latin typeface="Arial"/>
                <a:ea typeface="Arial"/>
                <a:cs typeface="Arial"/>
              </a:defRPr>
            </a:defPPr>
            <a:lvl1pPr>
              <a:defRPr sz="2175" b="1">
                <a:solidFill>
                  <a:srgbClr val="007D76"/>
                </a:solidFill>
                <a:latin typeface="Arial"/>
                <a:ea typeface="Arial"/>
                <a:cs typeface="Arial"/>
              </a:defRPr>
            </a:lvl1pPr>
            <a:lvl2pPr>
              <a:defRPr sz="2175" b="1">
                <a:solidFill>
                  <a:srgbClr val="007D76"/>
                </a:solidFill>
                <a:latin typeface="Arial"/>
                <a:ea typeface="Arial"/>
                <a:cs typeface="Arial"/>
              </a:defRPr>
            </a:lvl2pPr>
            <a:lvl3pPr>
              <a:defRPr sz="2175" b="1">
                <a:solidFill>
                  <a:srgbClr val="007D76"/>
                </a:solidFill>
                <a:latin typeface="Arial"/>
                <a:ea typeface="Arial"/>
                <a:cs typeface="Arial"/>
              </a:defRPr>
            </a:lvl3pPr>
            <a:lvl4pPr>
              <a:defRPr sz="2175" b="1">
                <a:solidFill>
                  <a:srgbClr val="007D76"/>
                </a:solidFill>
                <a:latin typeface="Arial"/>
                <a:ea typeface="Arial"/>
                <a:cs typeface="Arial"/>
              </a:defRPr>
            </a:lvl4pPr>
            <a:lvl5pPr>
              <a:defRPr sz="2175" b="1">
                <a:solidFill>
                  <a:srgbClr val="007D76"/>
                </a:solidFill>
                <a:latin typeface="Arial"/>
                <a:ea typeface="Arial"/>
                <a:cs typeface="Arial"/>
              </a:defRPr>
            </a:lvl5pPr>
            <a:lvl6pPr>
              <a:defRPr sz="2175" b="1">
                <a:solidFill>
                  <a:srgbClr val="007D76"/>
                </a:solidFill>
                <a:latin typeface="Arial"/>
                <a:ea typeface="Arial"/>
                <a:cs typeface="Arial"/>
              </a:defRPr>
            </a:lvl6pPr>
            <a:lvl7pPr>
              <a:defRPr sz="2175" b="1">
                <a:solidFill>
                  <a:srgbClr val="007D76"/>
                </a:solidFill>
                <a:latin typeface="Arial"/>
                <a:ea typeface="Arial"/>
                <a:cs typeface="Arial"/>
              </a:defRPr>
            </a:lvl7pPr>
            <a:lvl8pPr>
              <a:defRPr sz="2175" b="1">
                <a:solidFill>
                  <a:srgbClr val="007D76"/>
                </a:solidFill>
                <a:latin typeface="Arial"/>
                <a:ea typeface="Arial"/>
                <a:cs typeface="Arial"/>
              </a:defRPr>
            </a:lvl8pPr>
            <a:lvl9pPr>
              <a:defRPr sz="2175" b="1">
                <a:solidFill>
                  <a:srgbClr val="007D76"/>
                </a:solidFill>
                <a:latin typeface="Arial"/>
                <a:ea typeface="Arial"/>
                <a:cs typeface="Arial"/>
              </a:defRPr>
            </a:lvl9pPr>
          </a:lstStyle>
          <a:p xmlns:a="http://schemas.openxmlformats.org/drawingml/2006/main">
            <a:pPr>
              <a:defRPr sz="2175" b="1">
                <a:solidFill>
                  <a:srgbClr val="007D76"/>
                </a:solidFill>
                <a:latin typeface="Arial"/>
                <a:ea typeface="Arial"/>
                <a:cs typeface="Arial"/>
              </a:defRPr>
            </a:pPr>
            <a:r>
              <a:rPr sz="2175" b="1">
                <a:solidFill>
                  <a:srgbClr val="007D76"/>
                </a:solidFill>
                <a:latin typeface="Arial"/>
                <a:ea typeface="Arial"/>
                <a:cs typeface="Arial"/>
              </a:rPr>
              <a:t>10 Mbps per path</a:t>
            </a:r>
          </a:p>
          <a:p xmlns:a="http://schemas.openxmlformats.org/drawingml/2006/main">
            <a:pPr>
              <a:defRPr sz="2175" b="1">
                <a:solidFill>
                  <a:srgbClr val="007D76"/>
                </a:solidFill>
                <a:latin typeface="Arial"/>
                <a:ea typeface="Arial"/>
                <a:cs typeface="Arial"/>
              </a:defRPr>
            </a:pPr>
            <a:r>
              <a:rPr sz="2175" b="1">
                <a:solidFill>
                  <a:srgbClr val="007D76"/>
                </a:solidFill>
                <a:latin typeface="Arial"/>
                <a:ea typeface="Arial"/>
                <a:cs typeface="Arial"/>
              </a:rPr>
              <a:t>0.5 Mbit buffer</a:t>
            </a:r>
          </a:p>
        </p:txBody>
      </p:sp>
      <p:sp>
        <p:nvSpPr>
          <p:cNvPr id="14" name="">
            <a:extLst xmlns:a="http://schemas.openxmlformats.org/drawingml/2006/main">
              <a:ext uri="{FF2B5EF4-FFF2-40B4-BE49-F238E27FC236}">
                <a16:creationId xmlns:a16="http://schemas.microsoft.com/office/drawing/2014/main" id="{A720A093-7A58-4782-8B4A-DF99F86A7900}"/>
              </a:ext>
            </a:extLst>
          </p:cNvPr>
          <p:cNvSpPr>
            <a:spLocks xmlns:a="http://schemas.openxmlformats.org/drawingml/2006/main" noGrp="1"/>
          </p:cNvSpPr>
          <p:nvPr/>
        </p:nvSpPr>
        <p:spPr>
          <a:xfrm xmlns:a="http://schemas.openxmlformats.org/drawingml/2006/main">
            <a:off x="666750" y="54864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02E36"/>
                </a:solidFill>
                <a:latin typeface="Arial"/>
                <a:ea typeface="Arial"/>
                <a:cs typeface="Arial"/>
              </a:defRPr>
            </a:defPPr>
            <a:lvl1pPr>
              <a:defRPr sz="1875" b="0">
                <a:solidFill>
                  <a:srgbClr val="102E36"/>
                </a:solidFill>
                <a:latin typeface="Arial"/>
                <a:ea typeface="Arial"/>
                <a:cs typeface="Arial"/>
              </a:defRPr>
            </a:lvl1pPr>
            <a:lvl2pPr>
              <a:defRPr sz="1875" b="0">
                <a:solidFill>
                  <a:srgbClr val="102E36"/>
                </a:solidFill>
                <a:latin typeface="Arial"/>
                <a:ea typeface="Arial"/>
                <a:cs typeface="Arial"/>
              </a:defRPr>
            </a:lvl2pPr>
            <a:lvl3pPr>
              <a:defRPr sz="1875" b="0">
                <a:solidFill>
                  <a:srgbClr val="102E36"/>
                </a:solidFill>
                <a:latin typeface="Arial"/>
                <a:ea typeface="Arial"/>
                <a:cs typeface="Arial"/>
              </a:defRPr>
            </a:lvl3pPr>
            <a:lvl4pPr>
              <a:defRPr sz="1875" b="0">
                <a:solidFill>
                  <a:srgbClr val="102E36"/>
                </a:solidFill>
                <a:latin typeface="Arial"/>
                <a:ea typeface="Arial"/>
                <a:cs typeface="Arial"/>
              </a:defRPr>
            </a:lvl4pPr>
            <a:lvl5pPr>
              <a:defRPr sz="1875" b="0">
                <a:solidFill>
                  <a:srgbClr val="102E36"/>
                </a:solidFill>
                <a:latin typeface="Arial"/>
                <a:ea typeface="Arial"/>
                <a:cs typeface="Arial"/>
              </a:defRPr>
            </a:lvl5pPr>
            <a:lvl6pPr>
              <a:defRPr sz="1875" b="0">
                <a:solidFill>
                  <a:srgbClr val="102E36"/>
                </a:solidFill>
                <a:latin typeface="Arial"/>
                <a:ea typeface="Arial"/>
                <a:cs typeface="Arial"/>
              </a:defRPr>
            </a:lvl6pPr>
            <a:lvl7pPr>
              <a:defRPr sz="1875" b="0">
                <a:solidFill>
                  <a:srgbClr val="102E36"/>
                </a:solidFill>
                <a:latin typeface="Arial"/>
                <a:ea typeface="Arial"/>
                <a:cs typeface="Arial"/>
              </a:defRPr>
            </a:lvl7pPr>
            <a:lvl8pPr>
              <a:defRPr sz="1875" b="0">
                <a:solidFill>
                  <a:srgbClr val="102E36"/>
                </a:solidFill>
                <a:latin typeface="Arial"/>
                <a:ea typeface="Arial"/>
                <a:cs typeface="Arial"/>
              </a:defRPr>
            </a:lvl8pPr>
            <a:lvl9pPr>
              <a:defRPr sz="1875" b="0">
                <a:solidFill>
                  <a:srgbClr val="102E36"/>
                </a:solidFill>
                <a:latin typeface="Arial"/>
                <a:ea typeface="Arial"/>
                <a:cs typeface="Arial"/>
              </a:defRPr>
            </a:lvl9pPr>
          </a:lstStyle>
          <a:p xmlns:a="http://schemas.openxmlformats.org/drawingml/2006/main">
            <a:pPr>
              <a:defRPr sz="1875" b="0">
                <a:solidFill>
                  <a:srgbClr val="102E36"/>
                </a:solidFill>
                <a:latin typeface="Arial"/>
                <a:ea typeface="Arial"/>
                <a:cs typeface="Arial"/>
              </a:defRPr>
            </a:pPr>
            <a:r>
              <a:rPr sz="1875" b="0">
                <a:solidFill>
                  <a:srgbClr val="102E36"/>
                </a:solidFill>
                <a:latin typeface="Arial"/>
                <a:ea typeface="Arial"/>
                <a:cs typeface="Arial"/>
              </a:rPr>
              <a:t>8 ms propagation component; five-second windows; one elephant flow plus path-specific background traffic</a:t>
            </a:r>
          </a:p>
        </p:txBody>
      </p:sp>
    </p:spTree>
    <p:extLst>
      <p:ext uri="{BB962C8B-B14F-4D97-AF65-F5344CB8AC3E}">
        <p14:creationId xmlns:p14="http://schemas.microsoft.com/office/powerpoint/2010/main" val="407725173"/>
      </p:ext>
    </p:extLst>
  </p:cSld>
</p:sld>
</file>

<file path=ppt/slides/slide5.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2BC3456-B25F-4633-9056-755BD5621E3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State embedding and episodic memory</a:t>
            </a:r>
          </a:p>
        </p:txBody>
      </p:sp>
      <p:sp>
        <p:nvSpPr>
          <p:cNvPr id="3" name="">
            <a:extLst xmlns:a="http://schemas.openxmlformats.org/drawingml/2006/main">
              <a:ext uri="{FF2B5EF4-FFF2-40B4-BE49-F238E27FC236}">
                <a16:creationId xmlns:a16="http://schemas.microsoft.com/office/drawing/2014/main" id="{F70108E9-42D7-4503-A4AA-48FAC318B733}"/>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05 / SELF-X</a:t>
            </a:r>
          </a:p>
        </p:txBody>
      </p:sp>
      <p:sp>
        <p:nvSpPr>
          <p:cNvPr id="4" name="">
            <a:extLst xmlns:a="http://schemas.openxmlformats.org/drawingml/2006/main">
              <a:ext uri="{FF2B5EF4-FFF2-40B4-BE49-F238E27FC236}">
                <a16:creationId xmlns:a16="http://schemas.microsoft.com/office/drawing/2014/main" id="{896E213F-A295-4B41-83FC-38059D112E89}"/>
              </a:ext>
            </a:extLst>
          </p:cNvPr>
          <p:cNvSpPr>
            <a:spLocks xmlns:a="http://schemas.openxmlformats.org/drawingml/2006/main" noGrp="1"/>
          </p:cNvSpPr>
          <p:nvPr/>
        </p:nvSpPr>
        <p:spPr>
          <a:xfrm xmlns:a="http://schemas.openxmlformats.org/drawingml/2006/main">
            <a:off x="628650" y="17621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007D76"/>
                </a:solidFill>
                <a:latin typeface="Arial"/>
                <a:ea typeface="Arial"/>
                <a:cs typeface="Arial"/>
              </a:defRPr>
            </a:defPPr>
            <a:lvl1pPr>
              <a:defRPr sz="2700" b="0">
                <a:solidFill>
                  <a:srgbClr val="007D76"/>
                </a:solidFill>
                <a:latin typeface="Arial"/>
                <a:ea typeface="Arial"/>
                <a:cs typeface="Arial"/>
              </a:defRPr>
            </a:lvl1pPr>
            <a:lvl2pPr>
              <a:defRPr sz="2700" b="0">
                <a:solidFill>
                  <a:srgbClr val="007D76"/>
                </a:solidFill>
                <a:latin typeface="Arial"/>
                <a:ea typeface="Arial"/>
                <a:cs typeface="Arial"/>
              </a:defRPr>
            </a:lvl2pPr>
            <a:lvl3pPr>
              <a:defRPr sz="2700" b="0">
                <a:solidFill>
                  <a:srgbClr val="007D76"/>
                </a:solidFill>
                <a:latin typeface="Arial"/>
                <a:ea typeface="Arial"/>
                <a:cs typeface="Arial"/>
              </a:defRPr>
            </a:lvl3pPr>
            <a:lvl4pPr>
              <a:defRPr sz="2700" b="0">
                <a:solidFill>
                  <a:srgbClr val="007D76"/>
                </a:solidFill>
                <a:latin typeface="Arial"/>
                <a:ea typeface="Arial"/>
                <a:cs typeface="Arial"/>
              </a:defRPr>
            </a:lvl4pPr>
            <a:lvl5pPr>
              <a:defRPr sz="2700" b="0">
                <a:solidFill>
                  <a:srgbClr val="007D76"/>
                </a:solidFill>
                <a:latin typeface="Arial"/>
                <a:ea typeface="Arial"/>
                <a:cs typeface="Arial"/>
              </a:defRPr>
            </a:lvl5pPr>
            <a:lvl6pPr>
              <a:defRPr sz="2700" b="0">
                <a:solidFill>
                  <a:srgbClr val="007D76"/>
                </a:solidFill>
                <a:latin typeface="Arial"/>
                <a:ea typeface="Arial"/>
                <a:cs typeface="Arial"/>
              </a:defRPr>
            </a:lvl6pPr>
            <a:lvl7pPr>
              <a:defRPr sz="2700" b="0">
                <a:solidFill>
                  <a:srgbClr val="007D76"/>
                </a:solidFill>
                <a:latin typeface="Arial"/>
                <a:ea typeface="Arial"/>
                <a:cs typeface="Arial"/>
              </a:defRPr>
            </a:lvl7pPr>
            <a:lvl8pPr>
              <a:defRPr sz="2700" b="0">
                <a:solidFill>
                  <a:srgbClr val="007D76"/>
                </a:solidFill>
                <a:latin typeface="Arial"/>
                <a:ea typeface="Arial"/>
                <a:cs typeface="Arial"/>
              </a:defRPr>
            </a:lvl8pPr>
            <a:lvl9pPr>
              <a:defRPr sz="2700" b="0">
                <a:solidFill>
                  <a:srgbClr val="007D76"/>
                </a:solidFill>
                <a:latin typeface="Arial"/>
                <a:ea typeface="Arial"/>
                <a:cs typeface="Arial"/>
              </a:defRPr>
            </a:lvl9pPr>
          </a:lstStyle>
          <a:p xmlns:a="http://schemas.openxmlformats.org/drawingml/2006/main">
            <a:pPr>
              <a:defRPr sz="2700" b="0">
                <a:solidFill>
                  <a:srgbClr val="007D76"/>
                </a:solidFill>
                <a:latin typeface="Arial"/>
                <a:ea typeface="Arial"/>
                <a:cs typeface="Arial"/>
              </a:defRPr>
            </a:pPr>
            <a:r>
              <a:rPr sz="2700" b="0">
                <a:solidFill>
                  <a:srgbClr val="007D76"/>
                </a:solidFill>
                <a:latin typeface="Arial"/>
                <a:ea typeface="Arial"/>
                <a:cs typeface="Arial"/>
              </a:rPr>
              <a:t>Traffic demand + queue occupancy</a:t>
            </a:r>
          </a:p>
        </p:txBody>
      </p:sp>
      <p:sp>
        <p:nvSpPr>
          <p:cNvPr id="5" name="">
            <a:extLst xmlns:a="http://schemas.openxmlformats.org/drawingml/2006/main">
              <a:ext uri="{FF2B5EF4-FFF2-40B4-BE49-F238E27FC236}">
                <a16:creationId xmlns:a16="http://schemas.microsoft.com/office/drawing/2014/main" id="{EBC09DE6-0CF0-4098-BEC8-3639013F782C}"/>
              </a:ext>
            </a:extLst>
          </p:cNvPr>
          <p:cNvSpPr>
            <a:spLocks xmlns:a="http://schemas.openxmlformats.org/drawingml/2006/main" noGrp="1"/>
          </p:cNvSpPr>
          <p:nvPr/>
        </p:nvSpPr>
        <p:spPr>
          <a:xfrm xmlns:a="http://schemas.openxmlformats.org/drawingml/2006/main">
            <a:off x="628650" y="26670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102E36"/>
                </a:solidFill>
                <a:latin typeface="Arial"/>
                <a:ea typeface="Arial"/>
                <a:cs typeface="Arial"/>
              </a:defRPr>
            </a:defPPr>
            <a:lvl1pPr>
              <a:defRPr sz="2550" b="0">
                <a:solidFill>
                  <a:srgbClr val="102E36"/>
                </a:solidFill>
                <a:latin typeface="Arial"/>
                <a:ea typeface="Arial"/>
                <a:cs typeface="Arial"/>
              </a:defRPr>
            </a:lvl1pPr>
            <a:lvl2pPr>
              <a:defRPr sz="2550" b="0">
                <a:solidFill>
                  <a:srgbClr val="102E36"/>
                </a:solidFill>
                <a:latin typeface="Arial"/>
                <a:ea typeface="Arial"/>
                <a:cs typeface="Arial"/>
              </a:defRPr>
            </a:lvl2pPr>
            <a:lvl3pPr>
              <a:defRPr sz="2550" b="0">
                <a:solidFill>
                  <a:srgbClr val="102E36"/>
                </a:solidFill>
                <a:latin typeface="Arial"/>
                <a:ea typeface="Arial"/>
                <a:cs typeface="Arial"/>
              </a:defRPr>
            </a:lvl3pPr>
            <a:lvl4pPr>
              <a:defRPr sz="2550" b="0">
                <a:solidFill>
                  <a:srgbClr val="102E36"/>
                </a:solidFill>
                <a:latin typeface="Arial"/>
                <a:ea typeface="Arial"/>
                <a:cs typeface="Arial"/>
              </a:defRPr>
            </a:lvl4pPr>
            <a:lvl5pPr>
              <a:defRPr sz="2550" b="0">
                <a:solidFill>
                  <a:srgbClr val="102E36"/>
                </a:solidFill>
                <a:latin typeface="Arial"/>
                <a:ea typeface="Arial"/>
                <a:cs typeface="Arial"/>
              </a:defRPr>
            </a:lvl5pPr>
            <a:lvl6pPr>
              <a:defRPr sz="2550" b="0">
                <a:solidFill>
                  <a:srgbClr val="102E36"/>
                </a:solidFill>
                <a:latin typeface="Arial"/>
                <a:ea typeface="Arial"/>
                <a:cs typeface="Arial"/>
              </a:defRPr>
            </a:lvl6pPr>
            <a:lvl7pPr>
              <a:defRPr sz="2550" b="0">
                <a:solidFill>
                  <a:srgbClr val="102E36"/>
                </a:solidFill>
                <a:latin typeface="Arial"/>
                <a:ea typeface="Arial"/>
                <a:cs typeface="Arial"/>
              </a:defRPr>
            </a:lvl7pPr>
            <a:lvl8pPr>
              <a:defRPr sz="2550" b="0">
                <a:solidFill>
                  <a:srgbClr val="102E36"/>
                </a:solidFill>
                <a:latin typeface="Arial"/>
                <a:ea typeface="Arial"/>
                <a:cs typeface="Arial"/>
              </a:defRPr>
            </a:lvl8pPr>
            <a:lvl9pPr>
              <a:defRPr sz="2550" b="0">
                <a:solidFill>
                  <a:srgbClr val="102E36"/>
                </a:solidFill>
                <a:latin typeface="Arial"/>
                <a:ea typeface="Arial"/>
                <a:cs typeface="Arial"/>
              </a:defRPr>
            </a:lvl9pPr>
          </a:lstStyle>
          <a:p xmlns:a="http://schemas.openxmlformats.org/drawingml/2006/main">
            <a:pPr>
              <a:defRPr sz="2550" b="0">
                <a:solidFill>
                  <a:srgbClr val="102E36"/>
                </a:solidFill>
                <a:latin typeface="Arial"/>
                <a:ea typeface="Arial"/>
                <a:cs typeface="Arial"/>
              </a:defRPr>
            </a:pPr>
            <a:r>
              <a:rPr sz="2550" b="0">
                <a:solidFill>
                  <a:srgbClr val="102E36"/>
                </a:solidFill>
                <a:latin typeface="Arial"/>
                <a:ea typeface="Arial"/>
                <a:cs typeface="Arial"/>
              </a:rPr>
              <a:t>Normalize features → unit vector → cosine similarity</a:t>
            </a:r>
          </a:p>
        </p:txBody>
      </p:sp>
      <p:sp>
        <p:nvSpPr>
          <p:cNvPr id="6" name="">
            <a:extLst xmlns:a="http://schemas.openxmlformats.org/drawingml/2006/main">
              <a:ext uri="{FF2B5EF4-FFF2-40B4-BE49-F238E27FC236}">
                <a16:creationId xmlns:a16="http://schemas.microsoft.com/office/drawing/2014/main" id="{04414C74-B735-4D97-AE03-B3436B856196}"/>
              </a:ext>
            </a:extLst>
          </p:cNvPr>
          <p:cNvSpPr>
            <a:spLocks xmlns:a="http://schemas.openxmlformats.org/drawingml/2006/main" noGrp="1"/>
          </p:cNvSpPr>
          <p:nvPr/>
        </p:nvSpPr>
        <p:spPr>
          <a:xfrm xmlns:a="http://schemas.openxmlformats.org/drawingml/2006/main">
            <a:off x="647700" y="3743325"/>
            <a:ext cx="10715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Retrieve four earlier episodes from a memory of at most 30.</a:t>
            </a:r>
          </a:p>
        </p:txBody>
      </p:sp>
      <p:sp>
        <p:nvSpPr>
          <p:cNvPr id="7" name="">
            <a:extLst xmlns:a="http://schemas.openxmlformats.org/drawingml/2006/main">
              <a:ext uri="{FF2B5EF4-FFF2-40B4-BE49-F238E27FC236}">
                <a16:creationId xmlns:a16="http://schemas.microsoft.com/office/drawing/2014/main" id="{CA7C56B8-589C-4992-823E-CF47DAA90CE6}"/>
              </a:ext>
            </a:extLst>
          </p:cNvPr>
          <p:cNvSpPr>
            <a:spLocks xmlns:a="http://schemas.openxmlformats.org/drawingml/2006/main" noGrp="1"/>
          </p:cNvSpPr>
          <p:nvPr/>
        </p:nvSpPr>
        <p:spPr>
          <a:xfrm xmlns:a="http://schemas.openxmlformats.org/drawingml/2006/main">
            <a:off x="647700" y="4476750"/>
            <a:ext cx="10715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Store state, installed action, reward and a concise reflection.</a:t>
            </a:r>
          </a:p>
        </p:txBody>
      </p:sp>
      <p:sp>
        <p:nvSpPr>
          <p:cNvPr id="8" name="">
            <a:extLst xmlns:a="http://schemas.openxmlformats.org/drawingml/2006/main">
              <a:ext uri="{FF2B5EF4-FFF2-40B4-BE49-F238E27FC236}">
                <a16:creationId xmlns:a16="http://schemas.microsoft.com/office/drawing/2014/main" id="{57A0808B-AF55-49C5-B3A2-843FC87537EC}"/>
              </a:ext>
            </a:extLst>
          </p:cNvPr>
          <p:cNvSpPr>
            <a:spLocks xmlns:a="http://schemas.openxmlformats.org/drawingml/2006/main" noGrp="1"/>
          </p:cNvSpPr>
          <p:nvPr/>
        </p:nvSpPr>
        <p:spPr>
          <a:xfrm xmlns:a="http://schemas.openxmlformats.org/drawingml/2006/main">
            <a:off x="647700" y="5210175"/>
            <a:ext cx="10715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Weights remain fixed. The embedding is a hand-designed numeric representation.</a:t>
            </a:r>
          </a:p>
        </p:txBody>
      </p:sp>
    </p:spTree>
    <p:extLst>
      <p:ext uri="{BB962C8B-B14F-4D97-AF65-F5344CB8AC3E}">
        <p14:creationId xmlns:p14="http://schemas.microsoft.com/office/powerpoint/2010/main" val="822223944"/>
      </p:ext>
    </p:extLst>
  </p:cSld>
</p:sld>
</file>

<file path=ppt/slides/slide6.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4F4B761-C2D6-4596-A967-8D8ECAD9A788}"/>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Actions and deterministic safety</a:t>
            </a:r>
          </a:p>
        </p:txBody>
      </p:sp>
      <p:sp>
        <p:nvSpPr>
          <p:cNvPr id="3" name="">
            <a:extLst xmlns:a="http://schemas.openxmlformats.org/drawingml/2006/main">
              <a:ext uri="{FF2B5EF4-FFF2-40B4-BE49-F238E27FC236}">
                <a16:creationId xmlns:a16="http://schemas.microsoft.com/office/drawing/2014/main" id="{71DC94A3-7840-4FAF-B599-D618DA66F218}"/>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06 / SELF-X</a:t>
            </a:r>
          </a:p>
        </p:txBody>
      </p:sp>
      <p:graphicFrame>
        <p:nvGraphicFramePr>
          <p:cNvPr id="4" name="">
            <a:extLst xmlns:a="http://schemas.openxmlformats.org/drawingml/2006/main">
              <a:ext uri="{FF2B5EF4-FFF2-40B4-BE49-F238E27FC236}">
                <a16:creationId xmlns:a16="http://schemas.microsoft.com/office/drawing/2014/main" id="{0140C853-05B2-444C-ACCD-5684452B5D01}"/>
              </a:ext>
            </a:extLst>
          </p:cNvPr>
          <p:cNvGraphicFramePr/>
          <p:nvPr/>
        </p:nvGraphicFramePr>
        <p:xfrm>
          <a:off xmlns:a="http://schemas.openxmlformats.org/drawingml/2006/main" x="609600" y="1790700"/>
          <a:ext xmlns:a="http://schemas.openxmlformats.org/drawingml/2006/main" cx="10972800" cy="3238500"/>
        </p:xfrm>
        <a:graphic xmlns:a="http://schemas.openxmlformats.org/drawingml/2006/main">
          <a:graphicData uri="http://schemas.openxmlformats.org/drawingml/2006/table">
            <a:tbl>
              <a:tblPr/>
              <a:tblGrid>
                <a:gridCol w="2238375"/>
                <a:gridCol w="8734425"/>
              </a:tblGrid>
              <a:tr h="809625">
                <a:tc>
                  <a:txBody>
                    <a:bodyPr/>
                    <a:lstStyle/>
                    <a:p>
                      <a:r>
                        <a:rPr sz="1725" b="1">
                          <a:solidFill>
                            <a:srgbClr val="102E36"/>
                          </a:solidFill>
                          <a:latin typeface="Arial"/>
                          <a:ea typeface="Arial"/>
                          <a:cs typeface="Arial"/>
                        </a:rPr>
                        <a:t>Action</a:t>
                      </a:r>
                    </a:p>
                  </a:txBody>
                  <a:tcPr marL="114300" marR="114300" marT="114300" marB="11430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Required checks</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809625">
                <a:tc>
                  <a:txBody>
                    <a:bodyPr/>
                    <a:lstStyle/>
                    <a:p>
                      <a:r>
                        <a:rPr sz="1800">
                          <a:solidFill>
                            <a:srgbClr val="102E36"/>
                          </a:solidFill>
                          <a:latin typeface="Arial"/>
                          <a:ea typeface="Arial"/>
                          <a:cs typeface="Arial"/>
                        </a:rPr>
                        <a:t>Reroute</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Exact flow and switch; alternate load ≤ 90% capacity</a:t>
                      </a:r>
                    </a:p>
                  </a:txBody>
                  <a:tcPr marL="114300" marR="114300" marT="114300" marB="114300">
                    <a:lnR w="9525">
                      <a:solidFill>
                        <a:srgbClr val="D9E3DF"/>
                      </a:solidFill>
                      <a:prstDash val="solid"/>
                    </a:lnR>
                    <a:lnB w="9525">
                      <a:solidFill>
                        <a:srgbClr val="D9E3DF"/>
                      </a:solidFill>
                      <a:prstDash val="solid"/>
                    </a:lnB>
                    <a:solidFill>
                      <a:srgbClr val="F6F8F3"/>
                    </a:solidFill>
                  </a:tcPr>
                </a:tc>
              </a:tr>
              <a:tr h="809625">
                <a:tc>
                  <a:txBody>
                    <a:bodyPr/>
                    <a:lstStyle/>
                    <a:p>
                      <a:r>
                        <a:rPr sz="1800">
                          <a:solidFill>
                            <a:srgbClr val="102E36"/>
                          </a:solidFill>
                          <a:latin typeface="Arial"/>
                          <a:ea typeface="Arial"/>
                          <a:cs typeface="Arial"/>
                        </a:rPr>
                        <a:t>Rate limit</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At most 20% reduction; minimum 512 kbps</a:t>
                      </a:r>
                    </a:p>
                  </a:txBody>
                  <a:tcPr marL="114300" marR="114300" marT="114300" marB="114300">
                    <a:lnR w="9525">
                      <a:solidFill>
                        <a:srgbClr val="D9E3DF"/>
                      </a:solidFill>
                      <a:prstDash val="solid"/>
                    </a:lnR>
                    <a:lnB w="9525">
                      <a:solidFill>
                        <a:srgbClr val="D9E3DF"/>
                      </a:solidFill>
                      <a:prstDash val="solid"/>
                    </a:lnB>
                    <a:solidFill>
                      <a:srgbClr val="F6F8F3"/>
                    </a:solidFill>
                  </a:tcPr>
                </a:tc>
              </a:tr>
              <a:tr h="809625">
                <a:tc>
                  <a:txBody>
                    <a:bodyPr/>
                    <a:lstStyle/>
                    <a:p>
                      <a:r>
                        <a:rPr sz="1800">
                          <a:solidFill>
                            <a:srgbClr val="102E36"/>
                          </a:solidFill>
                          <a:latin typeface="Arial"/>
                          <a:ea typeface="Arial"/>
                          <a:cs typeface="Arial"/>
                        </a:rPr>
                        <a:t>No-op</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Safe fallback for invalid actions or provider failure</a:t>
                      </a:r>
                    </a:p>
                  </a:txBody>
                  <a:tcPr marL="114300" marR="114300" marT="114300" marB="114300">
                    <a:lnR w="9525">
                      <a:solidFill>
                        <a:srgbClr val="D9E3DF"/>
                      </a:solidFill>
                      <a:prstDash val="solid"/>
                    </a:lnR>
                    <a:lnB w="9525">
                      <a:solidFill>
                        <a:srgbClr val="D9E3DF"/>
                      </a:solidFill>
                      <a:prstDash val="solid"/>
                    </a:lnB>
                    <a:solidFill>
                      <a:srgbClr val="F6F8F3"/>
                    </a:solidFill>
                  </a:tcPr>
                </a:tc>
              </a:tr>
            </a:tbl>
          </a:graphicData>
        </a:graphic>
      </p:graphicFrame>
      <p:sp>
        <p:nvSpPr>
          <p:cNvPr id="5" name="">
            <a:extLst xmlns:a="http://schemas.openxmlformats.org/drawingml/2006/main">
              <a:ext uri="{FF2B5EF4-FFF2-40B4-BE49-F238E27FC236}">
                <a16:creationId xmlns:a16="http://schemas.microsoft.com/office/drawing/2014/main" id="{1A231AAC-B2B9-4BBB-BA9D-6EC4CCAF3B19}"/>
              </a:ext>
            </a:extLst>
          </p:cNvPr>
          <p:cNvSpPr>
            <a:spLocks xmlns:a="http://schemas.openxmlformats.org/drawingml/2006/main" noGrp="1"/>
          </p:cNvSpPr>
          <p:nvPr/>
        </p:nvSpPr>
        <p:spPr>
          <a:xfrm xmlns:a="http://schemas.openxmlformats.org/drawingml/2006/main">
            <a:off x="628650" y="5305425"/>
            <a:ext cx="10906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007D76"/>
                </a:solidFill>
                <a:latin typeface="Arial"/>
                <a:ea typeface="Arial"/>
                <a:cs typeface="Arial"/>
              </a:defRPr>
            </a:defPPr>
            <a:lvl1pPr>
              <a:defRPr sz="2100" b="0">
                <a:solidFill>
                  <a:srgbClr val="007D76"/>
                </a:solidFill>
                <a:latin typeface="Arial"/>
                <a:ea typeface="Arial"/>
                <a:cs typeface="Arial"/>
              </a:defRPr>
            </a:lvl1pPr>
            <a:lvl2pPr>
              <a:defRPr sz="2100" b="0">
                <a:solidFill>
                  <a:srgbClr val="007D76"/>
                </a:solidFill>
                <a:latin typeface="Arial"/>
                <a:ea typeface="Arial"/>
                <a:cs typeface="Arial"/>
              </a:defRPr>
            </a:lvl2pPr>
            <a:lvl3pPr>
              <a:defRPr sz="2100" b="0">
                <a:solidFill>
                  <a:srgbClr val="007D76"/>
                </a:solidFill>
                <a:latin typeface="Arial"/>
                <a:ea typeface="Arial"/>
                <a:cs typeface="Arial"/>
              </a:defRPr>
            </a:lvl3pPr>
            <a:lvl4pPr>
              <a:defRPr sz="2100" b="0">
                <a:solidFill>
                  <a:srgbClr val="007D76"/>
                </a:solidFill>
                <a:latin typeface="Arial"/>
                <a:ea typeface="Arial"/>
                <a:cs typeface="Arial"/>
              </a:defRPr>
            </a:lvl4pPr>
            <a:lvl5pPr>
              <a:defRPr sz="2100" b="0">
                <a:solidFill>
                  <a:srgbClr val="007D76"/>
                </a:solidFill>
                <a:latin typeface="Arial"/>
                <a:ea typeface="Arial"/>
                <a:cs typeface="Arial"/>
              </a:defRPr>
            </a:lvl5pPr>
            <a:lvl6pPr>
              <a:defRPr sz="2100" b="0">
                <a:solidFill>
                  <a:srgbClr val="007D76"/>
                </a:solidFill>
                <a:latin typeface="Arial"/>
                <a:ea typeface="Arial"/>
                <a:cs typeface="Arial"/>
              </a:defRPr>
            </a:lvl6pPr>
            <a:lvl7pPr>
              <a:defRPr sz="2100" b="0">
                <a:solidFill>
                  <a:srgbClr val="007D76"/>
                </a:solidFill>
                <a:latin typeface="Arial"/>
                <a:ea typeface="Arial"/>
                <a:cs typeface="Arial"/>
              </a:defRPr>
            </a:lvl7pPr>
            <a:lvl8pPr>
              <a:defRPr sz="2100" b="0">
                <a:solidFill>
                  <a:srgbClr val="007D76"/>
                </a:solidFill>
                <a:latin typeface="Arial"/>
                <a:ea typeface="Arial"/>
                <a:cs typeface="Arial"/>
              </a:defRPr>
            </a:lvl8pPr>
            <a:lvl9pPr>
              <a:defRPr sz="2100" b="0">
                <a:solidFill>
                  <a:srgbClr val="007D76"/>
                </a:solidFill>
                <a:latin typeface="Arial"/>
                <a:ea typeface="Arial"/>
                <a:cs typeface="Arial"/>
              </a:defRPr>
            </a:lvl9pPr>
          </a:lstStyle>
          <a:p xmlns:a="http://schemas.openxmlformats.org/drawingml/2006/main">
            <a:pPr>
              <a:defRPr sz="2100" b="0">
                <a:solidFill>
                  <a:srgbClr val="007D76"/>
                </a:solidFill>
                <a:latin typeface="Arial"/>
                <a:ea typeface="Arial"/>
                <a:cs typeface="Arial"/>
              </a:defRPr>
            </a:pPr>
            <a:r>
              <a:rPr sz="2100" b="0">
                <a:solidFill>
                  <a:srgbClr val="007D76"/>
                </a:solidFill>
                <a:latin typeface="Arial"/>
                <a:ea typeface="Arial"/>
                <a:cs typeface="Arial"/>
              </a:rPr>
              <a:t>Typed output is necessary. A separate gate decides whether the action can be applied.</a:t>
            </a:r>
          </a:p>
        </p:txBody>
      </p:sp>
    </p:spTree>
    <p:extLst>
      <p:ext uri="{BB962C8B-B14F-4D97-AF65-F5344CB8AC3E}">
        <p14:creationId xmlns:p14="http://schemas.microsoft.com/office/powerpoint/2010/main" val="866929461"/>
      </p:ext>
    </p:extLst>
  </p:cSld>
</p:sld>
</file>

<file path=ppt/slides/slide7.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1466F65-B7B8-489F-A30F-262C18E6AFB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Experimental design</a:t>
            </a:r>
          </a:p>
        </p:txBody>
      </p:sp>
      <p:sp>
        <p:nvSpPr>
          <p:cNvPr id="3" name="">
            <a:extLst xmlns:a="http://schemas.openxmlformats.org/drawingml/2006/main">
              <a:ext uri="{FF2B5EF4-FFF2-40B4-BE49-F238E27FC236}">
                <a16:creationId xmlns:a16="http://schemas.microsoft.com/office/drawing/2014/main" id="{B633613E-6083-406C-8B0F-7E4507E622B3}"/>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07 / SELF-X</a:t>
            </a:r>
          </a:p>
        </p:txBody>
      </p:sp>
      <p:graphicFrame>
        <p:nvGraphicFramePr>
          <p:cNvPr id="4" name="">
            <a:extLst xmlns:a="http://schemas.openxmlformats.org/drawingml/2006/main">
              <a:ext uri="{FF2B5EF4-FFF2-40B4-BE49-F238E27FC236}">
                <a16:creationId xmlns:a16="http://schemas.microsoft.com/office/drawing/2014/main" id="{8F03C08C-18D1-4C84-B6C0-B9196CE2F180}"/>
              </a:ext>
            </a:extLst>
          </p:cNvPr>
          <p:cNvGraphicFramePr/>
          <p:nvPr/>
        </p:nvGraphicFramePr>
        <p:xfrm>
          <a:off xmlns:a="http://schemas.openxmlformats.org/drawingml/2006/main" x="609600" y="1743075"/>
          <a:ext xmlns:a="http://schemas.openxmlformats.org/drawingml/2006/main" cx="10972800" cy="3000375"/>
        </p:xfrm>
        <a:graphic xmlns:a="http://schemas.openxmlformats.org/drawingml/2006/main">
          <a:graphicData uri="http://schemas.openxmlformats.org/drawingml/2006/table">
            <a:tbl>
              <a:tblPr/>
              <a:tblGrid>
                <a:gridCol w="3286125"/>
                <a:gridCol w="1000125"/>
                <a:gridCol w="2000250"/>
                <a:gridCol w="4686300"/>
              </a:tblGrid>
              <a:tr h="750094">
                <a:tc>
                  <a:txBody>
                    <a:bodyPr/>
                    <a:lstStyle/>
                    <a:p>
                      <a:r>
                        <a:rPr sz="1725" b="1">
                          <a:solidFill>
                            <a:srgbClr val="102E36"/>
                          </a:solidFill>
                          <a:latin typeface="Arial"/>
                          <a:ea typeface="Arial"/>
                          <a:cs typeface="Arial"/>
                        </a:rPr>
                        <a:t>Experiment</a:t>
                      </a:r>
                    </a:p>
                  </a:txBody>
                  <a:tcPr marL="114300" marR="114300" marT="114300" marB="11430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Seeds</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Windows each</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A1 and A2 backend</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750094">
                <a:tc>
                  <a:txBody>
                    <a:bodyPr/>
                    <a:lstStyle/>
                    <a:p>
                      <a:r>
                        <a:rPr sz="1800">
                          <a:solidFill>
                            <a:srgbClr val="102E36"/>
                          </a:solidFill>
                          <a:latin typeface="Arial"/>
                          <a:ea typeface="Arial"/>
                          <a:cs typeface="Arial"/>
                        </a:rPr>
                        <a:t>Portable study</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5</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120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Deterministic policies</a:t>
                      </a:r>
                    </a:p>
                  </a:txBody>
                  <a:tcPr marL="114300" marR="114300" marT="114300" marB="114300">
                    <a:lnR w="9525">
                      <a:solidFill>
                        <a:srgbClr val="D9E3DF"/>
                      </a:solidFill>
                      <a:prstDash val="solid"/>
                    </a:lnR>
                    <a:lnB w="9525">
                      <a:solidFill>
                        <a:srgbClr val="D9E3DF"/>
                      </a:solidFill>
                      <a:prstDash val="solid"/>
                    </a:lnB>
                    <a:solidFill>
                      <a:srgbClr val="F6F8F3"/>
                    </a:solidFill>
                  </a:tcPr>
                </a:tc>
              </a:tr>
              <a:tr h="750094">
                <a:tc>
                  <a:txBody>
                    <a:bodyPr/>
                    <a:lstStyle/>
                    <a:p>
                      <a:r>
                        <a:rPr sz="1800">
                          <a:solidFill>
                            <a:srgbClr val="102E36"/>
                          </a:solidFill>
                          <a:latin typeface="Arial"/>
                          <a:ea typeface="Arial"/>
                          <a:cs typeface="Arial"/>
                        </a:rPr>
                        <a:t>Paced Gemini</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24</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Real Gemini 3.5 Flash-Lite</a:t>
                      </a:r>
                    </a:p>
                  </a:txBody>
                  <a:tcPr marL="114300" marR="114300" marT="114300" marB="114300">
                    <a:lnR w="9525">
                      <a:solidFill>
                        <a:srgbClr val="D9E3DF"/>
                      </a:solidFill>
                      <a:prstDash val="solid"/>
                    </a:lnR>
                    <a:lnB w="9525">
                      <a:solidFill>
                        <a:srgbClr val="D9E3DF"/>
                      </a:solidFill>
                      <a:prstDash val="solid"/>
                    </a:lnB>
                    <a:solidFill>
                      <a:srgbClr val="F6F8F3"/>
                    </a:solidFill>
                  </a:tcPr>
                </a:tc>
              </a:tr>
              <a:tr h="750094">
                <a:tc>
                  <a:txBody>
                    <a:bodyPr/>
                    <a:lstStyle/>
                    <a:p>
                      <a:r>
                        <a:rPr sz="1800">
                          <a:solidFill>
                            <a:srgbClr val="102E36"/>
                          </a:solidFill>
                          <a:latin typeface="Arial"/>
                          <a:ea typeface="Arial"/>
                          <a:cs typeface="Arial"/>
                        </a:rPr>
                        <a:t>Free-router diagnostic</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12</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Real free model or visible fallback</a:t>
                      </a:r>
                    </a:p>
                  </a:txBody>
                  <a:tcPr marL="114300" marR="114300" marT="114300" marB="114300">
                    <a:lnR w="9525">
                      <a:solidFill>
                        <a:srgbClr val="D9E3DF"/>
                      </a:solidFill>
                      <a:prstDash val="solid"/>
                    </a:lnR>
                    <a:lnB w="9525">
                      <a:solidFill>
                        <a:srgbClr val="D9E3DF"/>
                      </a:solidFill>
                      <a:prstDash val="solid"/>
                    </a:lnB>
                    <a:solidFill>
                      <a:srgbClr val="F6F8F3"/>
                    </a:solidFill>
                  </a:tcPr>
                </a:tc>
              </a:tr>
            </a:tbl>
          </a:graphicData>
        </a:graphic>
      </p:graphicFrame>
      <p:sp>
        <p:nvSpPr>
          <p:cNvPr id="5" name="">
            <a:extLst xmlns:a="http://schemas.openxmlformats.org/drawingml/2006/main">
              <a:ext uri="{FF2B5EF4-FFF2-40B4-BE49-F238E27FC236}">
                <a16:creationId xmlns:a16="http://schemas.microsoft.com/office/drawing/2014/main" id="{8A953572-B5E0-4155-B46A-87D824F5C296}"/>
              </a:ext>
            </a:extLst>
          </p:cNvPr>
          <p:cNvSpPr>
            <a:spLocks xmlns:a="http://schemas.openxmlformats.org/drawingml/2006/main" noGrp="1"/>
          </p:cNvSpPr>
          <p:nvPr/>
        </p:nvSpPr>
        <p:spPr>
          <a:xfrm xmlns:a="http://schemas.openxmlformats.org/drawingml/2006/main">
            <a:off x="647700" y="50577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E36"/>
                </a:solidFill>
                <a:latin typeface="Arial"/>
                <a:ea typeface="Arial"/>
                <a:cs typeface="Arial"/>
              </a:defRPr>
            </a:defPPr>
            <a:lvl1pPr>
              <a:defRPr sz="2100" b="0">
                <a:solidFill>
                  <a:srgbClr val="102E36"/>
                </a:solidFill>
                <a:latin typeface="Arial"/>
                <a:ea typeface="Arial"/>
                <a:cs typeface="Arial"/>
              </a:defRPr>
            </a:lvl1pPr>
            <a:lvl2pPr>
              <a:defRPr sz="2100" b="0">
                <a:solidFill>
                  <a:srgbClr val="102E36"/>
                </a:solidFill>
                <a:latin typeface="Arial"/>
                <a:ea typeface="Arial"/>
                <a:cs typeface="Arial"/>
              </a:defRPr>
            </a:lvl2pPr>
            <a:lvl3pPr>
              <a:defRPr sz="2100" b="0">
                <a:solidFill>
                  <a:srgbClr val="102E36"/>
                </a:solidFill>
                <a:latin typeface="Arial"/>
                <a:ea typeface="Arial"/>
                <a:cs typeface="Arial"/>
              </a:defRPr>
            </a:lvl3pPr>
            <a:lvl4pPr>
              <a:defRPr sz="2100" b="0">
                <a:solidFill>
                  <a:srgbClr val="102E36"/>
                </a:solidFill>
                <a:latin typeface="Arial"/>
                <a:ea typeface="Arial"/>
                <a:cs typeface="Arial"/>
              </a:defRPr>
            </a:lvl4pPr>
            <a:lvl5pPr>
              <a:defRPr sz="2100" b="0">
                <a:solidFill>
                  <a:srgbClr val="102E36"/>
                </a:solidFill>
                <a:latin typeface="Arial"/>
                <a:ea typeface="Arial"/>
                <a:cs typeface="Arial"/>
              </a:defRPr>
            </a:lvl5pPr>
            <a:lvl6pPr>
              <a:defRPr sz="2100" b="0">
                <a:solidFill>
                  <a:srgbClr val="102E36"/>
                </a:solidFill>
                <a:latin typeface="Arial"/>
                <a:ea typeface="Arial"/>
                <a:cs typeface="Arial"/>
              </a:defRPr>
            </a:lvl6pPr>
            <a:lvl7pPr>
              <a:defRPr sz="2100" b="0">
                <a:solidFill>
                  <a:srgbClr val="102E36"/>
                </a:solidFill>
                <a:latin typeface="Arial"/>
                <a:ea typeface="Arial"/>
                <a:cs typeface="Arial"/>
              </a:defRPr>
            </a:lvl7pPr>
            <a:lvl8pPr>
              <a:defRPr sz="2100" b="0">
                <a:solidFill>
                  <a:srgbClr val="102E36"/>
                </a:solidFill>
                <a:latin typeface="Arial"/>
                <a:ea typeface="Arial"/>
                <a:cs typeface="Arial"/>
              </a:defRPr>
            </a:lvl8pPr>
            <a:lvl9pPr>
              <a:defRPr sz="2100" b="0">
                <a:solidFill>
                  <a:srgbClr val="102E36"/>
                </a:solidFill>
                <a:latin typeface="Arial"/>
                <a:ea typeface="Arial"/>
                <a:cs typeface="Arial"/>
              </a:defRPr>
            </a:lvl9pPr>
          </a:lstStyle>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A0: static route    B1: feasible least-loaded route</a:t>
            </a:r>
          </a:p>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A1: no episode memory    A2: similar-state memory</a:t>
            </a:r>
          </a:p>
        </p:txBody>
      </p:sp>
    </p:spTree>
    <p:extLst>
      <p:ext uri="{BB962C8B-B14F-4D97-AF65-F5344CB8AC3E}">
        <p14:creationId xmlns:p14="http://schemas.microsoft.com/office/powerpoint/2010/main" val="2139689209"/>
      </p:ext>
    </p:extLst>
  </p:cSld>
</p:sld>
</file>

<file path=ppt/slides/slide8.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1F4C656-6082-4C7B-B396-E08C957ECD19}"/>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Offline latency results</a:t>
            </a:r>
          </a:p>
        </p:txBody>
      </p:sp>
      <p:sp>
        <p:nvSpPr>
          <p:cNvPr id="3" name="">
            <a:extLst xmlns:a="http://schemas.openxmlformats.org/drawingml/2006/main">
              <a:ext uri="{FF2B5EF4-FFF2-40B4-BE49-F238E27FC236}">
                <a16:creationId xmlns:a16="http://schemas.microsoft.com/office/drawing/2014/main" id="{5CEA655C-4591-4A27-8522-A0C02BD74EBB}"/>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08 / SELF-X</a:t>
            </a:r>
          </a:p>
        </p:txBody>
      </p:sp>
      <p:sp>
        <p:nvSpPr>
          <p:cNvPr id="4" name="">
            <a:extLst xmlns:a="http://schemas.openxmlformats.org/drawingml/2006/main">
              <a:ext uri="{FF2B5EF4-FFF2-40B4-BE49-F238E27FC236}">
                <a16:creationId xmlns:a16="http://schemas.microsoft.com/office/drawing/2014/main" id="{D9069A00-3377-4027-82DE-E9834A2EF22F}"/>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Five seeds; 600 windows per controller; modeled delay in ms</a:t>
            </a:r>
          </a:p>
        </p:txBody>
      </p:sp>
      <p:graphicFrame>
        <p:nvGraphicFramePr>
          <p:cNvPr id="5" name="Chart">
            <a:extLst xmlns:a="http://schemas.openxmlformats.org/drawingml/2006/main">
              <a:ext uri="{FF2B5EF4-FFF2-40B4-BE49-F238E27FC236}">
                <a16:creationId xmlns:a16="http://schemas.microsoft.com/office/drawing/2014/main" id="{8A15B0EB-BB25-4CCB-9933-A48F813A31AD}"/>
              </a:ext>
            </a:extLst>
          </p:cNvPr>
          <p:cNvGraphicFramePr/>
          <p:nvPr/>
        </p:nvGraphicFramePr>
        <p:xfrm>
          <a:off xmlns:a="http://schemas.openxmlformats.org/drawingml/2006/main" x="666750" y="1762125"/>
          <a:ext xmlns:a="http://schemas.openxmlformats.org/drawingml/2006/main" cx="6858000" cy="3714750"/>
        </p:xfrm>
        <a:graphic xmlns:a="http://schemas.openxmlformats.org/drawingml/2006/main">
          <a:graphicData uri="http://schemas.openxmlformats.org/drawingml/2006/chart">
            <c:chart xmlns:r="http://schemas.openxmlformats.org/officeDocument/2006/relationships" xmlns:c="http://schemas.openxmlformats.org/drawingml/2006/chart" r:id="Rdad05f794374460d"/>
          </a:graphicData>
        </a:graphic>
      </p:graphicFrame>
      <p:sp>
        <p:nvSpPr>
          <p:cNvPr id="6" name="">
            <a:extLst xmlns:a="http://schemas.openxmlformats.org/drawingml/2006/main">
              <a:ext uri="{FF2B5EF4-FFF2-40B4-BE49-F238E27FC236}">
                <a16:creationId xmlns:a16="http://schemas.microsoft.com/office/drawing/2014/main" id="{9E715F3B-DB69-4DFD-9878-FEA46D005AB9}"/>
              </a:ext>
            </a:extLst>
          </p:cNvPr>
          <p:cNvSpPr>
            <a:spLocks xmlns:a="http://schemas.openxmlformats.org/drawingml/2006/main" noGrp="1"/>
          </p:cNvSpPr>
          <p:nvPr/>
        </p:nvSpPr>
        <p:spPr>
          <a:xfrm xmlns:a="http://schemas.openxmlformats.org/drawingml/2006/main">
            <a:off x="8191500" y="1952625"/>
            <a:ext cx="323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07D76"/>
                </a:solidFill>
                <a:latin typeface="Arial"/>
                <a:ea typeface="Arial"/>
                <a:cs typeface="Arial"/>
              </a:defRPr>
            </a:defPPr>
            <a:lvl1pPr>
              <a:defRPr sz="2550" b="1">
                <a:solidFill>
                  <a:srgbClr val="007D76"/>
                </a:solidFill>
                <a:latin typeface="Arial"/>
                <a:ea typeface="Arial"/>
                <a:cs typeface="Arial"/>
              </a:defRPr>
            </a:lvl1pPr>
            <a:lvl2pPr>
              <a:defRPr sz="2550" b="1">
                <a:solidFill>
                  <a:srgbClr val="007D76"/>
                </a:solidFill>
                <a:latin typeface="Arial"/>
                <a:ea typeface="Arial"/>
                <a:cs typeface="Arial"/>
              </a:defRPr>
            </a:lvl2pPr>
            <a:lvl3pPr>
              <a:defRPr sz="2550" b="1">
                <a:solidFill>
                  <a:srgbClr val="007D76"/>
                </a:solidFill>
                <a:latin typeface="Arial"/>
                <a:ea typeface="Arial"/>
                <a:cs typeface="Arial"/>
              </a:defRPr>
            </a:lvl3pPr>
            <a:lvl4pPr>
              <a:defRPr sz="2550" b="1">
                <a:solidFill>
                  <a:srgbClr val="007D76"/>
                </a:solidFill>
                <a:latin typeface="Arial"/>
                <a:ea typeface="Arial"/>
                <a:cs typeface="Arial"/>
              </a:defRPr>
            </a:lvl4pPr>
            <a:lvl5pPr>
              <a:defRPr sz="2550" b="1">
                <a:solidFill>
                  <a:srgbClr val="007D76"/>
                </a:solidFill>
                <a:latin typeface="Arial"/>
                <a:ea typeface="Arial"/>
                <a:cs typeface="Arial"/>
              </a:defRPr>
            </a:lvl5pPr>
            <a:lvl6pPr>
              <a:defRPr sz="2550" b="1">
                <a:solidFill>
                  <a:srgbClr val="007D76"/>
                </a:solidFill>
                <a:latin typeface="Arial"/>
                <a:ea typeface="Arial"/>
                <a:cs typeface="Arial"/>
              </a:defRPr>
            </a:lvl6pPr>
            <a:lvl7pPr>
              <a:defRPr sz="2550" b="1">
                <a:solidFill>
                  <a:srgbClr val="007D76"/>
                </a:solidFill>
                <a:latin typeface="Arial"/>
                <a:ea typeface="Arial"/>
                <a:cs typeface="Arial"/>
              </a:defRPr>
            </a:lvl7pPr>
            <a:lvl8pPr>
              <a:defRPr sz="2550" b="1">
                <a:solidFill>
                  <a:srgbClr val="007D76"/>
                </a:solidFill>
                <a:latin typeface="Arial"/>
                <a:ea typeface="Arial"/>
                <a:cs typeface="Arial"/>
              </a:defRPr>
            </a:lvl8pPr>
            <a:lvl9pPr>
              <a:defRPr sz="2550" b="1">
                <a:solidFill>
                  <a:srgbClr val="007D76"/>
                </a:solidFill>
                <a:latin typeface="Arial"/>
                <a:ea typeface="Arial"/>
                <a:cs typeface="Arial"/>
              </a:defRPr>
            </a:lvl9pPr>
          </a:lstStyle>
          <a:p xmlns:a="http://schemas.openxmlformats.org/drawingml/2006/main">
            <a:pPr>
              <a:defRPr sz="2550" b="1">
                <a:solidFill>
                  <a:srgbClr val="007D76"/>
                </a:solidFill>
                <a:latin typeface="Arial"/>
                <a:ea typeface="Arial"/>
                <a:cs typeface="Arial"/>
              </a:defRPr>
            </a:pPr>
            <a:r>
              <a:rPr sz="2550" b="1">
                <a:solidFill>
                  <a:srgbClr val="007D76"/>
                </a:solidFill>
                <a:latin typeface="Arial"/>
                <a:ea typeface="Arial"/>
                <a:cs typeface="Arial"/>
              </a:rPr>
              <a:t>Memory did not improve</a:t>
            </a:r>
          </a:p>
          <a:p xmlns:a="http://schemas.openxmlformats.org/drawingml/2006/main">
            <a:pPr>
              <a:defRPr sz="2550" b="1">
                <a:solidFill>
                  <a:srgbClr val="007D76"/>
                </a:solidFill>
                <a:latin typeface="Arial"/>
                <a:ea typeface="Arial"/>
                <a:cs typeface="Arial"/>
              </a:defRPr>
            </a:pPr>
            <a:r>
              <a:rPr sz="2550" b="1">
                <a:solidFill>
                  <a:srgbClr val="007D76"/>
                </a:solidFill>
                <a:latin typeface="Arial"/>
                <a:ea typeface="Arial"/>
                <a:cs typeface="Arial"/>
              </a:rPr>
              <a:t>the offline controller</a:t>
            </a:r>
          </a:p>
        </p:txBody>
      </p:sp>
      <p:sp>
        <p:nvSpPr>
          <p:cNvPr id="7" name="">
            <a:extLst xmlns:a="http://schemas.openxmlformats.org/drawingml/2006/main">
              <a:ext uri="{FF2B5EF4-FFF2-40B4-BE49-F238E27FC236}">
                <a16:creationId xmlns:a16="http://schemas.microsoft.com/office/drawing/2014/main" id="{3F5B0CA3-6AA5-489E-BA79-01BF7E4979A6}"/>
              </a:ext>
            </a:extLst>
          </p:cNvPr>
          <p:cNvSpPr>
            <a:spLocks xmlns:a="http://schemas.openxmlformats.org/drawingml/2006/main" noGrp="1"/>
          </p:cNvSpPr>
          <p:nvPr/>
        </p:nvSpPr>
        <p:spPr>
          <a:xfrm xmlns:a="http://schemas.openxmlformats.org/drawingml/2006/main">
            <a:off x="8239125" y="3495675"/>
            <a:ext cx="3143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E36"/>
                </a:solidFill>
                <a:latin typeface="Arial"/>
                <a:ea typeface="Arial"/>
                <a:cs typeface="Arial"/>
              </a:defRPr>
            </a:defPPr>
            <a:lvl1pPr>
              <a:defRPr sz="2175" b="0">
                <a:solidFill>
                  <a:srgbClr val="102E36"/>
                </a:solidFill>
                <a:latin typeface="Arial"/>
                <a:ea typeface="Arial"/>
                <a:cs typeface="Arial"/>
              </a:defRPr>
            </a:lvl1pPr>
            <a:lvl2pPr>
              <a:defRPr sz="2175" b="0">
                <a:solidFill>
                  <a:srgbClr val="102E36"/>
                </a:solidFill>
                <a:latin typeface="Arial"/>
                <a:ea typeface="Arial"/>
                <a:cs typeface="Arial"/>
              </a:defRPr>
            </a:lvl2pPr>
            <a:lvl3pPr>
              <a:defRPr sz="2175" b="0">
                <a:solidFill>
                  <a:srgbClr val="102E36"/>
                </a:solidFill>
                <a:latin typeface="Arial"/>
                <a:ea typeface="Arial"/>
                <a:cs typeface="Arial"/>
              </a:defRPr>
            </a:lvl3pPr>
            <a:lvl4pPr>
              <a:defRPr sz="2175" b="0">
                <a:solidFill>
                  <a:srgbClr val="102E36"/>
                </a:solidFill>
                <a:latin typeface="Arial"/>
                <a:ea typeface="Arial"/>
                <a:cs typeface="Arial"/>
              </a:defRPr>
            </a:lvl4pPr>
            <a:lvl5pPr>
              <a:defRPr sz="2175" b="0">
                <a:solidFill>
                  <a:srgbClr val="102E36"/>
                </a:solidFill>
                <a:latin typeface="Arial"/>
                <a:ea typeface="Arial"/>
                <a:cs typeface="Arial"/>
              </a:defRPr>
            </a:lvl5pPr>
            <a:lvl6pPr>
              <a:defRPr sz="2175" b="0">
                <a:solidFill>
                  <a:srgbClr val="102E36"/>
                </a:solidFill>
                <a:latin typeface="Arial"/>
                <a:ea typeface="Arial"/>
                <a:cs typeface="Arial"/>
              </a:defRPr>
            </a:lvl6pPr>
            <a:lvl7pPr>
              <a:defRPr sz="2175" b="0">
                <a:solidFill>
                  <a:srgbClr val="102E36"/>
                </a:solidFill>
                <a:latin typeface="Arial"/>
                <a:ea typeface="Arial"/>
                <a:cs typeface="Arial"/>
              </a:defRPr>
            </a:lvl7pPr>
            <a:lvl8pPr>
              <a:defRPr sz="2175" b="0">
                <a:solidFill>
                  <a:srgbClr val="102E36"/>
                </a:solidFill>
                <a:latin typeface="Arial"/>
                <a:ea typeface="Arial"/>
                <a:cs typeface="Arial"/>
              </a:defRPr>
            </a:lvl8pPr>
            <a:lvl9pPr>
              <a:defRPr sz="2175" b="0">
                <a:solidFill>
                  <a:srgbClr val="102E36"/>
                </a:solidFill>
                <a:latin typeface="Arial"/>
                <a:ea typeface="Arial"/>
                <a:cs typeface="Arial"/>
              </a:defRPr>
            </a:lvl9pPr>
          </a:lstStyle>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A1: 23.86 ms</a:t>
            </a:r>
          </a:p>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A2: 24.98 ms</a:t>
            </a:r>
          </a:p>
          <a:p xmlns:a="http://schemas.openxmlformats.org/drawingml/2006/main">
            <a:r>
              <a:t/>
            </a:r>
          </a:p>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A2 minus A1:</a:t>
            </a:r>
          </a:p>
          <a:p xmlns:a="http://schemas.openxmlformats.org/drawingml/2006/main">
            <a:pPr>
              <a:defRPr sz="2175" b="0">
                <a:solidFill>
                  <a:srgbClr val="102E36"/>
                </a:solidFill>
                <a:latin typeface="Arial"/>
                <a:ea typeface="Arial"/>
                <a:cs typeface="Arial"/>
              </a:defRPr>
            </a:pPr>
            <a:r>
              <a:rPr sz="2175" b="0">
                <a:solidFill>
                  <a:srgbClr val="102E36"/>
                </a:solidFill>
                <a:latin typeface="Arial"/>
                <a:ea typeface="Arial"/>
                <a:cs typeface="Arial"/>
              </a:rPr>
              <a:t>+1.13 ms</a:t>
            </a:r>
          </a:p>
        </p:txBody>
      </p:sp>
    </p:spTree>
    <p:extLst>
      <p:ext uri="{BB962C8B-B14F-4D97-AF65-F5344CB8AC3E}">
        <p14:creationId xmlns:p14="http://schemas.microsoft.com/office/powerpoint/2010/main" val="1199689238"/>
      </p:ext>
    </p:extLst>
  </p:cSld>
</p:sld>
</file>

<file path=ppt/slides/slide9.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1F6D553-E3B2-4625-8B6B-87E63AA57B7C}"/>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Goodput and total loss</a:t>
            </a:r>
          </a:p>
        </p:txBody>
      </p:sp>
      <p:sp>
        <p:nvSpPr>
          <p:cNvPr id="3" name="">
            <a:extLst xmlns:a="http://schemas.openxmlformats.org/drawingml/2006/main">
              <a:ext uri="{FF2B5EF4-FFF2-40B4-BE49-F238E27FC236}">
                <a16:creationId xmlns:a16="http://schemas.microsoft.com/office/drawing/2014/main" id="{F94727F3-D00D-4000-9CAC-3EA8119D9A71}"/>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09 / SELF-X</a:t>
            </a:r>
          </a:p>
        </p:txBody>
      </p:sp>
      <p:sp>
        <p:nvSpPr>
          <p:cNvPr id="4" name="">
            <a:extLst xmlns:a="http://schemas.openxmlformats.org/drawingml/2006/main">
              <a:ext uri="{FF2B5EF4-FFF2-40B4-BE49-F238E27FC236}">
                <a16:creationId xmlns:a16="http://schemas.microsoft.com/office/drawing/2014/main" id="{A3EBCE17-FFBF-4A3F-B52A-0AEFBFF37008}"/>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Mean window loss includes deliberate meter drops</a:t>
            </a:r>
          </a:p>
        </p:txBody>
      </p:sp>
      <p:graphicFrame>
        <p:nvGraphicFramePr>
          <p:cNvPr id="5" name="">
            <a:extLst xmlns:a="http://schemas.openxmlformats.org/drawingml/2006/main">
              <a:ext uri="{FF2B5EF4-FFF2-40B4-BE49-F238E27FC236}">
                <a16:creationId xmlns:a16="http://schemas.microsoft.com/office/drawing/2014/main" id="{0E36B30E-64B7-42ED-9F52-FA040BBD0103}"/>
              </a:ext>
            </a:extLst>
          </p:cNvPr>
          <p:cNvGraphicFramePr/>
          <p:nvPr/>
        </p:nvGraphicFramePr>
        <p:xfrm>
          <a:off xmlns:a="http://schemas.openxmlformats.org/drawingml/2006/main" x="609600" y="1743075"/>
          <a:ext xmlns:a="http://schemas.openxmlformats.org/drawingml/2006/main" cx="10972800" cy="3333750"/>
        </p:xfrm>
        <a:graphic xmlns:a="http://schemas.openxmlformats.org/drawingml/2006/main">
          <a:graphicData uri="http://schemas.openxmlformats.org/drawingml/2006/table">
            <a:tbl>
              <a:tblPr/>
              <a:tblGrid>
                <a:gridCol w="2428875"/>
                <a:gridCol w="2847975"/>
                <a:gridCol w="3219450"/>
                <a:gridCol w="2476500"/>
              </a:tblGrid>
              <a:tr h="666750">
                <a:tc>
                  <a:txBody>
                    <a:bodyPr/>
                    <a:lstStyle/>
                    <a:p>
                      <a:r>
                        <a:rPr sz="1725" b="1">
                          <a:solidFill>
                            <a:srgbClr val="102E36"/>
                          </a:solidFill>
                          <a:latin typeface="Arial"/>
                          <a:ea typeface="Arial"/>
                          <a:cs typeface="Arial"/>
                        </a:rPr>
                        <a:t>Controller</a:t>
                      </a:r>
                    </a:p>
                  </a:txBody>
                  <a:tcPr marL="114300" marR="114300" marT="114300" marB="11430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Goodput Mbps</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Mean total loss %</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Safety vetoes</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666750">
                <a:tc>
                  <a:txBody>
                    <a:bodyPr/>
                    <a:lstStyle/>
                    <a:p>
                      <a:r>
                        <a:rPr sz="1800">
                          <a:solidFill>
                            <a:srgbClr val="102E36"/>
                          </a:solidFill>
                          <a:latin typeface="Arial"/>
                          <a:ea typeface="Arial"/>
                          <a:cs typeface="Arial"/>
                        </a:rPr>
                        <a:t>A0</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13.326</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9.966</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a:t>
                      </a:r>
                    </a:p>
                  </a:txBody>
                  <a:tcPr marL="114300" marR="114300" marT="114300" marB="114300">
                    <a:lnR w="9525">
                      <a:solidFill>
                        <a:srgbClr val="D9E3DF"/>
                      </a:solidFill>
                      <a:prstDash val="solid"/>
                    </a:lnR>
                    <a:lnB w="9525">
                      <a:solidFill>
                        <a:srgbClr val="D9E3DF"/>
                      </a:solidFill>
                      <a:prstDash val="solid"/>
                    </a:lnB>
                    <a:solidFill>
                      <a:srgbClr val="F6F8F3"/>
                    </a:solidFill>
                  </a:tcPr>
                </a:tc>
              </a:tr>
              <a:tr h="666750">
                <a:tc>
                  <a:txBody>
                    <a:bodyPr/>
                    <a:lstStyle/>
                    <a:p>
                      <a:r>
                        <a:rPr sz="1800">
                          <a:solidFill>
                            <a:srgbClr val="102E36"/>
                          </a:solidFill>
                          <a:latin typeface="Arial"/>
                          <a:ea typeface="Arial"/>
                          <a:cs typeface="Arial"/>
                        </a:rPr>
                        <a:t>B1</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13.399</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9.416</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a:t>
                      </a:r>
                    </a:p>
                  </a:txBody>
                  <a:tcPr marL="114300" marR="114300" marT="114300" marB="114300">
                    <a:lnR w="9525">
                      <a:solidFill>
                        <a:srgbClr val="D9E3DF"/>
                      </a:solidFill>
                      <a:prstDash val="solid"/>
                    </a:lnR>
                    <a:lnB w="9525">
                      <a:solidFill>
                        <a:srgbClr val="D9E3DF"/>
                      </a:solidFill>
                      <a:prstDash val="solid"/>
                    </a:lnB>
                    <a:solidFill>
                      <a:srgbClr val="F6F8F3"/>
                    </a:solidFill>
                  </a:tcPr>
                </a:tc>
              </a:tr>
              <a:tr h="666750">
                <a:tc>
                  <a:txBody>
                    <a:bodyPr/>
                    <a:lstStyle/>
                    <a:p>
                      <a:r>
                        <a:rPr sz="1800">
                          <a:solidFill>
                            <a:srgbClr val="102E36"/>
                          </a:solidFill>
                          <a:latin typeface="Arial"/>
                          <a:ea typeface="Arial"/>
                          <a:cs typeface="Arial"/>
                        </a:rPr>
                        <a:t>A1</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13.308</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10.013</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0</a:t>
                      </a:r>
                    </a:p>
                  </a:txBody>
                  <a:tcPr marL="114300" marR="114300" marT="114300" marB="114300">
                    <a:lnR w="9525">
                      <a:solidFill>
                        <a:srgbClr val="D9E3DF"/>
                      </a:solidFill>
                      <a:prstDash val="solid"/>
                    </a:lnR>
                    <a:lnB w="9525">
                      <a:solidFill>
                        <a:srgbClr val="D9E3DF"/>
                      </a:solidFill>
                      <a:prstDash val="solid"/>
                    </a:lnB>
                    <a:solidFill>
                      <a:srgbClr val="F6F8F3"/>
                    </a:solidFill>
                  </a:tcPr>
                </a:tc>
              </a:tr>
              <a:tr h="666750">
                <a:tc>
                  <a:txBody>
                    <a:bodyPr/>
                    <a:lstStyle/>
                    <a:p>
                      <a:r>
                        <a:rPr sz="1800">
                          <a:solidFill>
                            <a:srgbClr val="102E36"/>
                          </a:solidFill>
                          <a:latin typeface="Arial"/>
                          <a:ea typeface="Arial"/>
                          <a:cs typeface="Arial"/>
                        </a:rPr>
                        <a:t>A2</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13.233</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10.691</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62</a:t>
                      </a:r>
                    </a:p>
                  </a:txBody>
                  <a:tcPr marL="114300" marR="114300" marT="114300" marB="11430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416DCAC1-E71C-4FE5-B26A-F82C46890A53}"/>
              </a:ext>
            </a:extLst>
          </p:cNvPr>
          <p:cNvSpPr>
            <a:spLocks xmlns:a="http://schemas.openxmlformats.org/drawingml/2006/main" noGrp="1"/>
          </p:cNvSpPr>
          <p:nvPr/>
        </p:nvSpPr>
        <p:spPr>
          <a:xfrm xmlns:a="http://schemas.openxmlformats.org/drawingml/2006/main">
            <a:off x="647700" y="5305425"/>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07D76"/>
                </a:solidFill>
                <a:latin typeface="Arial"/>
                <a:ea typeface="Arial"/>
                <a:cs typeface="Arial"/>
              </a:defRPr>
            </a:defPPr>
            <a:lvl1pPr>
              <a:defRPr sz="2025" b="0">
                <a:solidFill>
                  <a:srgbClr val="007D76"/>
                </a:solidFill>
                <a:latin typeface="Arial"/>
                <a:ea typeface="Arial"/>
                <a:cs typeface="Arial"/>
              </a:defRPr>
            </a:lvl1pPr>
            <a:lvl2pPr>
              <a:defRPr sz="2025" b="0">
                <a:solidFill>
                  <a:srgbClr val="007D76"/>
                </a:solidFill>
                <a:latin typeface="Arial"/>
                <a:ea typeface="Arial"/>
                <a:cs typeface="Arial"/>
              </a:defRPr>
            </a:lvl2pPr>
            <a:lvl3pPr>
              <a:defRPr sz="2025" b="0">
                <a:solidFill>
                  <a:srgbClr val="007D76"/>
                </a:solidFill>
                <a:latin typeface="Arial"/>
                <a:ea typeface="Arial"/>
                <a:cs typeface="Arial"/>
              </a:defRPr>
            </a:lvl3pPr>
            <a:lvl4pPr>
              <a:defRPr sz="2025" b="0">
                <a:solidFill>
                  <a:srgbClr val="007D76"/>
                </a:solidFill>
                <a:latin typeface="Arial"/>
                <a:ea typeface="Arial"/>
                <a:cs typeface="Arial"/>
              </a:defRPr>
            </a:lvl4pPr>
            <a:lvl5pPr>
              <a:defRPr sz="2025" b="0">
                <a:solidFill>
                  <a:srgbClr val="007D76"/>
                </a:solidFill>
                <a:latin typeface="Arial"/>
                <a:ea typeface="Arial"/>
                <a:cs typeface="Arial"/>
              </a:defRPr>
            </a:lvl5pPr>
            <a:lvl6pPr>
              <a:defRPr sz="2025" b="0">
                <a:solidFill>
                  <a:srgbClr val="007D76"/>
                </a:solidFill>
                <a:latin typeface="Arial"/>
                <a:ea typeface="Arial"/>
                <a:cs typeface="Arial"/>
              </a:defRPr>
            </a:lvl6pPr>
            <a:lvl7pPr>
              <a:defRPr sz="2025" b="0">
                <a:solidFill>
                  <a:srgbClr val="007D76"/>
                </a:solidFill>
                <a:latin typeface="Arial"/>
                <a:ea typeface="Arial"/>
                <a:cs typeface="Arial"/>
              </a:defRPr>
            </a:lvl7pPr>
            <a:lvl8pPr>
              <a:defRPr sz="2025" b="0">
                <a:solidFill>
                  <a:srgbClr val="007D76"/>
                </a:solidFill>
                <a:latin typeface="Arial"/>
                <a:ea typeface="Arial"/>
                <a:cs typeface="Arial"/>
              </a:defRPr>
            </a:lvl8pPr>
            <a:lvl9pPr>
              <a:defRPr sz="2025" b="0">
                <a:solidFill>
                  <a:srgbClr val="007D76"/>
                </a:solidFill>
                <a:latin typeface="Arial"/>
                <a:ea typeface="Arial"/>
                <a:cs typeface="Arial"/>
              </a:defRPr>
            </a:lvl9pPr>
          </a:lstStyle>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A2 traded lower delay than A0 for lower goodput and more loss.</a:t>
            </a:r>
          </a:p>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Latency alone is insufficient evidence of a better controller.</a:t>
            </a:r>
          </a:p>
        </p:txBody>
      </p:sp>
    </p:spTree>
    <p:extLst>
      <p:ext uri="{BB962C8B-B14F-4D97-AF65-F5344CB8AC3E}">
        <p14:creationId xmlns:p14="http://schemas.microsoft.com/office/powerpoint/2010/main" val="827828242"/>
      </p:ext>
    </p:extLst>
  </p:cSld>
</p:sld>
</file>

<file path=ppt/slides/slide10.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755FE04-00D4-4010-8D92-381CCE85E4CF}"/>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Interpreting reflection and memory</a:t>
            </a:r>
          </a:p>
        </p:txBody>
      </p:sp>
      <p:sp>
        <p:nvSpPr>
          <p:cNvPr id="3" name="">
            <a:extLst xmlns:a="http://schemas.openxmlformats.org/drawingml/2006/main">
              <a:ext uri="{FF2B5EF4-FFF2-40B4-BE49-F238E27FC236}">
                <a16:creationId xmlns:a16="http://schemas.microsoft.com/office/drawing/2014/main" id="{FC80AA72-9927-4373-9DED-907C54AC8C0B}"/>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10 / SELF-X</a:t>
            </a:r>
          </a:p>
        </p:txBody>
      </p:sp>
      <p:sp>
        <p:nvSpPr>
          <p:cNvPr id="4" name="">
            <a:extLst xmlns:a="http://schemas.openxmlformats.org/drawingml/2006/main">
              <a:ext uri="{FF2B5EF4-FFF2-40B4-BE49-F238E27FC236}">
                <a16:creationId xmlns:a16="http://schemas.microsoft.com/office/drawing/2014/main" id="{0BCEA6FC-607D-4B9A-A93C-E53ECF5DCEC4}"/>
              </a:ext>
            </a:extLst>
          </p:cNvPr>
          <p:cNvSpPr>
            <a:spLocks xmlns:a="http://schemas.openxmlformats.org/drawingml/2006/main" noGrp="1"/>
          </p:cNvSpPr>
          <p:nvPr/>
        </p:nvSpPr>
        <p:spPr>
          <a:xfrm xmlns:a="http://schemas.openxmlformats.org/drawingml/2006/main">
            <a:off x="619125" y="1809750"/>
            <a:ext cx="10906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0">
                <a:solidFill>
                  <a:srgbClr val="007D76"/>
                </a:solidFill>
                <a:latin typeface="Arial"/>
                <a:ea typeface="Arial"/>
                <a:cs typeface="Arial"/>
              </a:defRPr>
            </a:defPPr>
            <a:lvl1pPr>
              <a:defRPr sz="3225" b="0">
                <a:solidFill>
                  <a:srgbClr val="007D76"/>
                </a:solidFill>
                <a:latin typeface="Arial"/>
                <a:ea typeface="Arial"/>
                <a:cs typeface="Arial"/>
              </a:defRPr>
            </a:lvl1pPr>
            <a:lvl2pPr>
              <a:defRPr sz="3225" b="0">
                <a:solidFill>
                  <a:srgbClr val="007D76"/>
                </a:solidFill>
                <a:latin typeface="Arial"/>
                <a:ea typeface="Arial"/>
                <a:cs typeface="Arial"/>
              </a:defRPr>
            </a:lvl2pPr>
            <a:lvl3pPr>
              <a:defRPr sz="3225" b="0">
                <a:solidFill>
                  <a:srgbClr val="007D76"/>
                </a:solidFill>
                <a:latin typeface="Arial"/>
                <a:ea typeface="Arial"/>
                <a:cs typeface="Arial"/>
              </a:defRPr>
            </a:lvl3pPr>
            <a:lvl4pPr>
              <a:defRPr sz="3225" b="0">
                <a:solidFill>
                  <a:srgbClr val="007D76"/>
                </a:solidFill>
                <a:latin typeface="Arial"/>
                <a:ea typeface="Arial"/>
                <a:cs typeface="Arial"/>
              </a:defRPr>
            </a:lvl4pPr>
            <a:lvl5pPr>
              <a:defRPr sz="3225" b="0">
                <a:solidFill>
                  <a:srgbClr val="007D76"/>
                </a:solidFill>
                <a:latin typeface="Arial"/>
                <a:ea typeface="Arial"/>
                <a:cs typeface="Arial"/>
              </a:defRPr>
            </a:lvl5pPr>
            <a:lvl6pPr>
              <a:defRPr sz="3225" b="0">
                <a:solidFill>
                  <a:srgbClr val="007D76"/>
                </a:solidFill>
                <a:latin typeface="Arial"/>
                <a:ea typeface="Arial"/>
                <a:cs typeface="Arial"/>
              </a:defRPr>
            </a:lvl6pPr>
            <a:lvl7pPr>
              <a:defRPr sz="3225" b="0">
                <a:solidFill>
                  <a:srgbClr val="007D76"/>
                </a:solidFill>
                <a:latin typeface="Arial"/>
                <a:ea typeface="Arial"/>
                <a:cs typeface="Arial"/>
              </a:defRPr>
            </a:lvl7pPr>
            <a:lvl8pPr>
              <a:defRPr sz="3225" b="0">
                <a:solidFill>
                  <a:srgbClr val="007D76"/>
                </a:solidFill>
                <a:latin typeface="Arial"/>
                <a:ea typeface="Arial"/>
                <a:cs typeface="Arial"/>
              </a:defRPr>
            </a:lvl8pPr>
            <a:lvl9pPr>
              <a:defRPr sz="3225" b="0">
                <a:solidFill>
                  <a:srgbClr val="007D76"/>
                </a:solidFill>
                <a:latin typeface="Arial"/>
                <a:ea typeface="Arial"/>
                <a:cs typeface="Arial"/>
              </a:defRPr>
            </a:lvl9pPr>
          </a:lstStyle>
          <a:p xmlns:a="http://schemas.openxmlformats.org/drawingml/2006/main">
            <a:pPr>
              <a:defRPr sz="3225" b="0">
                <a:solidFill>
                  <a:srgbClr val="007D76"/>
                </a:solidFill>
                <a:latin typeface="Arial"/>
                <a:ea typeface="Arial"/>
                <a:cs typeface="Arial"/>
              </a:defRPr>
            </a:pPr>
            <a:r>
              <a:rPr sz="3225" b="0">
                <a:solidFill>
                  <a:srgbClr val="007D76"/>
                </a:solidFill>
                <a:latin typeface="Arial"/>
                <a:ea typeface="Arial"/>
                <a:cs typeface="Arial"/>
              </a:rPr>
              <a:t>62 vetoes in the offline memory condition</a:t>
            </a:r>
          </a:p>
        </p:txBody>
      </p:sp>
      <p:sp>
        <p:nvSpPr>
          <p:cNvPr id="5" name="">
            <a:extLst xmlns:a="http://schemas.openxmlformats.org/drawingml/2006/main">
              <a:ext uri="{FF2B5EF4-FFF2-40B4-BE49-F238E27FC236}">
                <a16:creationId xmlns:a16="http://schemas.microsoft.com/office/drawing/2014/main" id="{6F3AAB23-4EFA-414D-91E0-9E7D2BB48B7D}"/>
              </a:ext>
            </a:extLst>
          </p:cNvPr>
          <p:cNvSpPr>
            <a:spLocks xmlns:a="http://schemas.openxmlformats.org/drawingml/2006/main" noGrp="1"/>
          </p:cNvSpPr>
          <p:nvPr/>
        </p:nvSpPr>
        <p:spPr>
          <a:xfrm xmlns:a="http://schemas.openxmlformats.org/drawingml/2006/main">
            <a:off x="638175" y="30956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A similar state can require a different feasible action.</a:t>
            </a:r>
          </a:p>
        </p:txBody>
      </p:sp>
      <p:sp>
        <p:nvSpPr>
          <p:cNvPr id="6" name="">
            <a:extLst xmlns:a="http://schemas.openxmlformats.org/drawingml/2006/main">
              <a:ext uri="{FF2B5EF4-FFF2-40B4-BE49-F238E27FC236}">
                <a16:creationId xmlns:a16="http://schemas.microsoft.com/office/drawing/2014/main" id="{CC15BA17-5868-46C9-B2E4-7C317943FF78}"/>
              </a:ext>
            </a:extLst>
          </p:cNvPr>
          <p:cNvSpPr>
            <a:spLocks xmlns:a="http://schemas.openxmlformats.org/drawingml/2006/main" noGrp="1"/>
          </p:cNvSpPr>
          <p:nvPr/>
        </p:nvSpPr>
        <p:spPr>
          <a:xfrm xmlns:a="http://schemas.openxmlformats.org/drawingml/2006/main">
            <a:off x="638175" y="402907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Reward pruning can discard informative failed episodes.</a:t>
            </a:r>
          </a:p>
        </p:txBody>
      </p:sp>
      <p:sp>
        <p:nvSpPr>
          <p:cNvPr id="7" name="">
            <a:extLst xmlns:a="http://schemas.openxmlformats.org/drawingml/2006/main">
              <a:ext uri="{FF2B5EF4-FFF2-40B4-BE49-F238E27FC236}">
                <a16:creationId xmlns:a16="http://schemas.microsoft.com/office/drawing/2014/main" id="{FD213432-5EAF-4C92-9BB8-5AB0B8955742}"/>
              </a:ext>
            </a:extLst>
          </p:cNvPr>
          <p:cNvSpPr>
            <a:spLocks xmlns:a="http://schemas.openxmlformats.org/drawingml/2006/main" noGrp="1"/>
          </p:cNvSpPr>
          <p:nvPr/>
        </p:nvSpPr>
        <p:spPr>
          <a:xfrm xmlns:a="http://schemas.openxmlformats.org/drawingml/2006/main">
            <a:off x="638175" y="4962525"/>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A stored explanation supports adaptation; it does not guarantee improvement.</a:t>
            </a:r>
          </a:p>
        </p:txBody>
      </p:sp>
    </p:spTree>
    <p:extLst>
      <p:ext uri="{BB962C8B-B14F-4D97-AF65-F5344CB8AC3E}">
        <p14:creationId xmlns:p14="http://schemas.microsoft.com/office/powerpoint/2010/main" val="150227452"/>
      </p:ext>
    </p:extLst>
  </p:cSld>
</p:sld>
</file>

<file path=ppt/slides/slide11.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4968C37-B2E2-47FF-ABC3-B8B2EE0AC4EA}"/>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Gemini integration results</a:t>
            </a:r>
          </a:p>
        </p:txBody>
      </p:sp>
      <p:sp>
        <p:nvSpPr>
          <p:cNvPr id="3" name="">
            <a:extLst xmlns:a="http://schemas.openxmlformats.org/drawingml/2006/main">
              <a:ext uri="{FF2B5EF4-FFF2-40B4-BE49-F238E27FC236}">
                <a16:creationId xmlns:a16="http://schemas.microsoft.com/office/drawing/2014/main" id="{CB85250C-D5D4-4DC9-92FE-084396DAFAA1}"/>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11 / SELF-X</a:t>
            </a:r>
          </a:p>
        </p:txBody>
      </p:sp>
      <p:sp>
        <p:nvSpPr>
          <p:cNvPr id="4" name="">
            <a:extLst xmlns:a="http://schemas.openxmlformats.org/drawingml/2006/main">
              <a:ext uri="{FF2B5EF4-FFF2-40B4-BE49-F238E27FC236}">
                <a16:creationId xmlns:a16="http://schemas.microsoft.com/office/drawing/2014/main" id="{0B436925-B00A-4A7D-9D45-28D44AE0CA49}"/>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Three seeds × 24 windows per controller; network results are simulated</a:t>
            </a:r>
          </a:p>
        </p:txBody>
      </p:sp>
      <p:graphicFrame>
        <p:nvGraphicFramePr>
          <p:cNvPr id="5" name="Chart">
            <a:extLst xmlns:a="http://schemas.openxmlformats.org/drawingml/2006/main">
              <a:ext uri="{FF2B5EF4-FFF2-40B4-BE49-F238E27FC236}">
                <a16:creationId xmlns:a16="http://schemas.microsoft.com/office/drawing/2014/main" id="{8DFB7BF7-937A-46BD-9CCD-5404544D6BF4}"/>
              </a:ext>
            </a:extLst>
          </p:cNvPr>
          <p:cNvGraphicFramePr/>
          <p:nvPr/>
        </p:nvGraphicFramePr>
        <p:xfrm>
          <a:off xmlns:a="http://schemas.openxmlformats.org/drawingml/2006/main" x="666750" y="1809750"/>
          <a:ext xmlns:a="http://schemas.openxmlformats.org/drawingml/2006/main" cx="6858000" cy="3619500"/>
        </p:xfrm>
        <a:graphic xmlns:a="http://schemas.openxmlformats.org/drawingml/2006/main">
          <a:graphicData uri="http://schemas.openxmlformats.org/drawingml/2006/chart">
            <c:chart xmlns:r="http://schemas.openxmlformats.org/officeDocument/2006/relationships" xmlns:c="http://schemas.openxmlformats.org/drawingml/2006/chart" r:id="R0f099ecc72e84cc3"/>
          </a:graphicData>
        </a:graphic>
      </p:graphicFrame>
      <p:sp>
        <p:nvSpPr>
          <p:cNvPr id="6" name="">
            <a:extLst xmlns:a="http://schemas.openxmlformats.org/drawingml/2006/main">
              <a:ext uri="{FF2B5EF4-FFF2-40B4-BE49-F238E27FC236}">
                <a16:creationId xmlns:a16="http://schemas.microsoft.com/office/drawing/2014/main" id="{B244BD7F-C896-42C4-898C-20705F6DB6DB}"/>
              </a:ext>
            </a:extLst>
          </p:cNvPr>
          <p:cNvSpPr>
            <a:spLocks xmlns:a="http://schemas.openxmlformats.org/drawingml/2006/main" noGrp="1"/>
          </p:cNvSpPr>
          <p:nvPr/>
        </p:nvSpPr>
        <p:spPr>
          <a:xfrm xmlns:a="http://schemas.openxmlformats.org/drawingml/2006/main">
            <a:off x="8191500" y="1809750"/>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007D76"/>
                </a:solidFill>
                <a:latin typeface="Arial"/>
                <a:ea typeface="Arial"/>
                <a:cs typeface="Arial"/>
              </a:defRPr>
            </a:defPPr>
            <a:lvl1pPr>
              <a:defRPr sz="4050" b="1">
                <a:solidFill>
                  <a:srgbClr val="007D76"/>
                </a:solidFill>
                <a:latin typeface="Arial"/>
                <a:ea typeface="Arial"/>
                <a:cs typeface="Arial"/>
              </a:defRPr>
            </a:lvl1pPr>
            <a:lvl2pPr>
              <a:defRPr sz="4050" b="1">
                <a:solidFill>
                  <a:srgbClr val="007D76"/>
                </a:solidFill>
                <a:latin typeface="Arial"/>
                <a:ea typeface="Arial"/>
                <a:cs typeface="Arial"/>
              </a:defRPr>
            </a:lvl2pPr>
            <a:lvl3pPr>
              <a:defRPr sz="4050" b="1">
                <a:solidFill>
                  <a:srgbClr val="007D76"/>
                </a:solidFill>
                <a:latin typeface="Arial"/>
                <a:ea typeface="Arial"/>
                <a:cs typeface="Arial"/>
              </a:defRPr>
            </a:lvl3pPr>
            <a:lvl4pPr>
              <a:defRPr sz="4050" b="1">
                <a:solidFill>
                  <a:srgbClr val="007D76"/>
                </a:solidFill>
                <a:latin typeface="Arial"/>
                <a:ea typeface="Arial"/>
                <a:cs typeface="Arial"/>
              </a:defRPr>
            </a:lvl4pPr>
            <a:lvl5pPr>
              <a:defRPr sz="4050" b="1">
                <a:solidFill>
                  <a:srgbClr val="007D76"/>
                </a:solidFill>
                <a:latin typeface="Arial"/>
                <a:ea typeface="Arial"/>
                <a:cs typeface="Arial"/>
              </a:defRPr>
            </a:lvl5pPr>
            <a:lvl6pPr>
              <a:defRPr sz="4050" b="1">
                <a:solidFill>
                  <a:srgbClr val="007D76"/>
                </a:solidFill>
                <a:latin typeface="Arial"/>
                <a:ea typeface="Arial"/>
                <a:cs typeface="Arial"/>
              </a:defRPr>
            </a:lvl6pPr>
            <a:lvl7pPr>
              <a:defRPr sz="4050" b="1">
                <a:solidFill>
                  <a:srgbClr val="007D76"/>
                </a:solidFill>
                <a:latin typeface="Arial"/>
                <a:ea typeface="Arial"/>
                <a:cs typeface="Arial"/>
              </a:defRPr>
            </a:lvl7pPr>
            <a:lvl8pPr>
              <a:defRPr sz="4050" b="1">
                <a:solidFill>
                  <a:srgbClr val="007D76"/>
                </a:solidFill>
                <a:latin typeface="Arial"/>
                <a:ea typeface="Arial"/>
                <a:cs typeface="Arial"/>
              </a:defRPr>
            </a:lvl8pPr>
            <a:lvl9pPr>
              <a:defRPr sz="4050" b="1">
                <a:solidFill>
                  <a:srgbClr val="007D76"/>
                </a:solidFill>
                <a:latin typeface="Arial"/>
                <a:ea typeface="Arial"/>
                <a:cs typeface="Arial"/>
              </a:defRPr>
            </a:lvl9pPr>
          </a:lstStyle>
          <a:p xmlns:a="http://schemas.openxmlformats.org/drawingml/2006/main">
            <a:pPr>
              <a:defRPr sz="4050" b="1">
                <a:solidFill>
                  <a:srgbClr val="007D76"/>
                </a:solidFill>
                <a:latin typeface="Arial"/>
                <a:ea typeface="Arial"/>
                <a:cs typeface="Arial"/>
              </a:defRPr>
            </a:pPr>
            <a:r>
              <a:rPr sz="4050" b="1">
                <a:solidFill>
                  <a:srgbClr val="007D76"/>
                </a:solidFill>
                <a:latin typeface="Arial"/>
                <a:ea typeface="Arial"/>
                <a:cs typeface="Arial"/>
              </a:rPr>
              <a:t>288 / 288</a:t>
            </a:r>
          </a:p>
        </p:txBody>
      </p:sp>
      <p:sp>
        <p:nvSpPr>
          <p:cNvPr id="7" name="">
            <a:extLst xmlns:a="http://schemas.openxmlformats.org/drawingml/2006/main">
              <a:ext uri="{FF2B5EF4-FFF2-40B4-BE49-F238E27FC236}">
                <a16:creationId xmlns:a16="http://schemas.microsoft.com/office/drawing/2014/main" id="{B19C7D68-DF3F-414C-B8C7-931987238ED5}"/>
              </a:ext>
            </a:extLst>
          </p:cNvPr>
          <p:cNvSpPr>
            <a:spLocks xmlns:a="http://schemas.openxmlformats.org/drawingml/2006/main" noGrp="1"/>
          </p:cNvSpPr>
          <p:nvPr/>
        </p:nvSpPr>
        <p:spPr>
          <a:xfrm xmlns:a="http://schemas.openxmlformats.org/drawingml/2006/main">
            <a:off x="8248650" y="2714625"/>
            <a:ext cx="319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02E36"/>
                </a:solidFill>
                <a:latin typeface="Arial"/>
                <a:ea typeface="Arial"/>
                <a:cs typeface="Arial"/>
              </a:defRPr>
            </a:defPPr>
            <a:lvl1pPr>
              <a:defRPr sz="1875" b="0">
                <a:solidFill>
                  <a:srgbClr val="102E36"/>
                </a:solidFill>
                <a:latin typeface="Arial"/>
                <a:ea typeface="Arial"/>
                <a:cs typeface="Arial"/>
              </a:defRPr>
            </a:lvl1pPr>
            <a:lvl2pPr>
              <a:defRPr sz="1875" b="0">
                <a:solidFill>
                  <a:srgbClr val="102E36"/>
                </a:solidFill>
                <a:latin typeface="Arial"/>
                <a:ea typeface="Arial"/>
                <a:cs typeface="Arial"/>
              </a:defRPr>
            </a:lvl2pPr>
            <a:lvl3pPr>
              <a:defRPr sz="1875" b="0">
                <a:solidFill>
                  <a:srgbClr val="102E36"/>
                </a:solidFill>
                <a:latin typeface="Arial"/>
                <a:ea typeface="Arial"/>
                <a:cs typeface="Arial"/>
              </a:defRPr>
            </a:lvl3pPr>
            <a:lvl4pPr>
              <a:defRPr sz="1875" b="0">
                <a:solidFill>
                  <a:srgbClr val="102E36"/>
                </a:solidFill>
                <a:latin typeface="Arial"/>
                <a:ea typeface="Arial"/>
                <a:cs typeface="Arial"/>
              </a:defRPr>
            </a:lvl4pPr>
            <a:lvl5pPr>
              <a:defRPr sz="1875" b="0">
                <a:solidFill>
                  <a:srgbClr val="102E36"/>
                </a:solidFill>
                <a:latin typeface="Arial"/>
                <a:ea typeface="Arial"/>
                <a:cs typeface="Arial"/>
              </a:defRPr>
            </a:lvl5pPr>
            <a:lvl6pPr>
              <a:defRPr sz="1875" b="0">
                <a:solidFill>
                  <a:srgbClr val="102E36"/>
                </a:solidFill>
                <a:latin typeface="Arial"/>
                <a:ea typeface="Arial"/>
                <a:cs typeface="Arial"/>
              </a:defRPr>
            </a:lvl6pPr>
            <a:lvl7pPr>
              <a:defRPr sz="1875" b="0">
                <a:solidFill>
                  <a:srgbClr val="102E36"/>
                </a:solidFill>
                <a:latin typeface="Arial"/>
                <a:ea typeface="Arial"/>
                <a:cs typeface="Arial"/>
              </a:defRPr>
            </a:lvl7pPr>
            <a:lvl8pPr>
              <a:defRPr sz="1875" b="0">
                <a:solidFill>
                  <a:srgbClr val="102E36"/>
                </a:solidFill>
                <a:latin typeface="Arial"/>
                <a:ea typeface="Arial"/>
                <a:cs typeface="Arial"/>
              </a:defRPr>
            </a:lvl8pPr>
            <a:lvl9pPr>
              <a:defRPr sz="1875" b="0">
                <a:solidFill>
                  <a:srgbClr val="102E36"/>
                </a:solidFill>
                <a:latin typeface="Arial"/>
                <a:ea typeface="Arial"/>
                <a:cs typeface="Arial"/>
              </a:defRPr>
            </a:lvl9pPr>
          </a:lstStyle>
          <a:p xmlns:a="http://schemas.openxmlformats.org/drawingml/2006/main">
            <a:pPr>
              <a:defRPr sz="1875" b="0">
                <a:solidFill>
                  <a:srgbClr val="102E36"/>
                </a:solidFill>
                <a:latin typeface="Arial"/>
                <a:ea typeface="Arial"/>
                <a:cs typeface="Arial"/>
              </a:defRPr>
            </a:pPr>
            <a:r>
              <a:rPr sz="1875" b="0">
                <a:solidFill>
                  <a:srgbClr val="102E36"/>
                </a:solidFill>
                <a:latin typeface="Arial"/>
                <a:ea typeface="Arial"/>
                <a:cs typeface="Arial"/>
              </a:rPr>
              <a:t>successful decision and</a:t>
            </a:r>
          </a:p>
          <a:p xmlns:a="http://schemas.openxmlformats.org/drawingml/2006/main">
            <a:pPr>
              <a:defRPr sz="1875" b="0">
                <a:solidFill>
                  <a:srgbClr val="102E36"/>
                </a:solidFill>
                <a:latin typeface="Arial"/>
                <a:ea typeface="Arial"/>
                <a:cs typeface="Arial"/>
              </a:defRPr>
            </a:pPr>
            <a:r>
              <a:rPr sz="1875" b="0">
                <a:solidFill>
                  <a:srgbClr val="102E36"/>
                </a:solidFill>
                <a:latin typeface="Arial"/>
                <a:ea typeface="Arial"/>
                <a:cs typeface="Arial"/>
              </a:rPr>
              <a:t>reflection API calls</a:t>
            </a:r>
          </a:p>
        </p:txBody>
      </p:sp>
      <p:sp>
        <p:nvSpPr>
          <p:cNvPr id="8" name="">
            <a:extLst xmlns:a="http://schemas.openxmlformats.org/drawingml/2006/main">
              <a:ext uri="{FF2B5EF4-FFF2-40B4-BE49-F238E27FC236}">
                <a16:creationId xmlns:a16="http://schemas.microsoft.com/office/drawing/2014/main" id="{7B08CC5B-A8E4-461A-A1A4-C9CA31C6786E}"/>
              </a:ext>
            </a:extLst>
          </p:cNvPr>
          <p:cNvSpPr>
            <a:spLocks xmlns:a="http://schemas.openxmlformats.org/drawingml/2006/main" noGrp="1"/>
          </p:cNvSpPr>
          <p:nvPr/>
        </p:nvSpPr>
        <p:spPr>
          <a:xfrm xmlns:a="http://schemas.openxmlformats.org/drawingml/2006/main">
            <a:off x="8248650" y="3876675"/>
            <a:ext cx="314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A1 decisions: 72/72</a:t>
            </a:r>
          </a:p>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A2 decisions: 72/72</a:t>
            </a:r>
          </a:p>
          <a:p xmlns:a="http://schemas.openxmlformats.org/drawingml/2006/main">
            <a:r>
              <a:t/>
            </a:r>
          </a:p>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Vetoes: 48 → 22</a:t>
            </a:r>
          </a:p>
        </p:txBody>
      </p:sp>
      <p:sp>
        <p:nvSpPr>
          <p:cNvPr id="9" name="">
            <a:extLst xmlns:a="http://schemas.openxmlformats.org/drawingml/2006/main">
              <a:ext uri="{FF2B5EF4-FFF2-40B4-BE49-F238E27FC236}">
                <a16:creationId xmlns:a16="http://schemas.microsoft.com/office/drawing/2014/main" id="{E931FDCB-B9A6-4158-8E98-B4896DF66685}"/>
              </a:ext>
            </a:extLst>
          </p:cNvPr>
          <p:cNvSpPr>
            <a:spLocks xmlns:a="http://schemas.openxmlformats.org/drawingml/2006/main" noGrp="1"/>
          </p:cNvSpPr>
          <p:nvPr/>
        </p:nvSpPr>
        <p:spPr>
          <a:xfrm xmlns:a="http://schemas.openxmlformats.org/drawingml/2006/main">
            <a:off x="666750" y="5657850"/>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007D76"/>
                </a:solidFill>
                <a:latin typeface="Arial"/>
                <a:ea typeface="Arial"/>
                <a:cs typeface="Arial"/>
              </a:defRPr>
            </a:defPPr>
            <a:lvl1pPr>
              <a:defRPr sz="1875" b="0">
                <a:solidFill>
                  <a:srgbClr val="007D76"/>
                </a:solidFill>
                <a:latin typeface="Arial"/>
                <a:ea typeface="Arial"/>
                <a:cs typeface="Arial"/>
              </a:defRPr>
            </a:lvl1pPr>
            <a:lvl2pPr>
              <a:defRPr sz="1875" b="0">
                <a:solidFill>
                  <a:srgbClr val="007D76"/>
                </a:solidFill>
                <a:latin typeface="Arial"/>
                <a:ea typeface="Arial"/>
                <a:cs typeface="Arial"/>
              </a:defRPr>
            </a:lvl2pPr>
            <a:lvl3pPr>
              <a:defRPr sz="1875" b="0">
                <a:solidFill>
                  <a:srgbClr val="007D76"/>
                </a:solidFill>
                <a:latin typeface="Arial"/>
                <a:ea typeface="Arial"/>
                <a:cs typeface="Arial"/>
              </a:defRPr>
            </a:lvl3pPr>
            <a:lvl4pPr>
              <a:defRPr sz="1875" b="0">
                <a:solidFill>
                  <a:srgbClr val="007D76"/>
                </a:solidFill>
                <a:latin typeface="Arial"/>
                <a:ea typeface="Arial"/>
                <a:cs typeface="Arial"/>
              </a:defRPr>
            </a:lvl4pPr>
            <a:lvl5pPr>
              <a:defRPr sz="1875" b="0">
                <a:solidFill>
                  <a:srgbClr val="007D76"/>
                </a:solidFill>
                <a:latin typeface="Arial"/>
                <a:ea typeface="Arial"/>
                <a:cs typeface="Arial"/>
              </a:defRPr>
            </a:lvl5pPr>
            <a:lvl6pPr>
              <a:defRPr sz="1875" b="0">
                <a:solidFill>
                  <a:srgbClr val="007D76"/>
                </a:solidFill>
                <a:latin typeface="Arial"/>
                <a:ea typeface="Arial"/>
                <a:cs typeface="Arial"/>
              </a:defRPr>
            </a:lvl6pPr>
            <a:lvl7pPr>
              <a:defRPr sz="1875" b="0">
                <a:solidFill>
                  <a:srgbClr val="007D76"/>
                </a:solidFill>
                <a:latin typeface="Arial"/>
                <a:ea typeface="Arial"/>
                <a:cs typeface="Arial"/>
              </a:defRPr>
            </a:lvl7pPr>
            <a:lvl8pPr>
              <a:defRPr sz="1875" b="0">
                <a:solidFill>
                  <a:srgbClr val="007D76"/>
                </a:solidFill>
                <a:latin typeface="Arial"/>
                <a:ea typeface="Arial"/>
                <a:cs typeface="Arial"/>
              </a:defRPr>
            </a:lvl8pPr>
            <a:lvl9pPr>
              <a:defRPr sz="1875" b="0">
                <a:solidFill>
                  <a:srgbClr val="007D76"/>
                </a:solidFill>
                <a:latin typeface="Arial"/>
                <a:ea typeface="Arial"/>
                <a:cs typeface="Arial"/>
              </a:defRPr>
            </a:lvl9pPr>
          </a:lstStyle>
          <a:p xmlns:a="http://schemas.openxmlformats.org/drawingml/2006/main">
            <a:pPr>
              <a:defRPr sz="1875" b="0">
                <a:solidFill>
                  <a:srgbClr val="007D76"/>
                </a:solidFill>
                <a:latin typeface="Arial"/>
                <a:ea typeface="Arial"/>
                <a:cs typeface="Arial"/>
              </a:defRPr>
            </a:pPr>
            <a:r>
              <a:rPr sz="1875" b="0">
                <a:solidFill>
                  <a:srgbClr val="007D76"/>
                </a:solidFill>
                <a:latin typeface="Arial"/>
                <a:ea typeface="Arial"/>
                <a:cs typeface="Arial"/>
              </a:rPr>
              <a:t>A2 latency differs from A1 by -0.017 ms; goodput and loss are equal.</a:t>
            </a:r>
          </a:p>
        </p:txBody>
      </p:sp>
    </p:spTree>
    <p:extLst>
      <p:ext uri="{BB962C8B-B14F-4D97-AF65-F5344CB8AC3E}">
        <p14:creationId xmlns:p14="http://schemas.microsoft.com/office/powerpoint/2010/main" val="632112439"/>
      </p:ext>
    </p:extLst>
  </p:cSld>
</p:sld>
</file>

<file path=ppt/slides/slide12.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267328-023A-4E89-B5D4-F90372CF09B0}"/>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Free model availability</a:t>
            </a:r>
          </a:p>
        </p:txBody>
      </p:sp>
      <p:sp>
        <p:nvSpPr>
          <p:cNvPr id="3" name="">
            <a:extLst xmlns:a="http://schemas.openxmlformats.org/drawingml/2006/main">
              <a:ext uri="{FF2B5EF4-FFF2-40B4-BE49-F238E27FC236}">
                <a16:creationId xmlns:a16="http://schemas.microsoft.com/office/drawing/2014/main" id="{A8211180-4D2C-4CEA-8A4D-5E24FD706564}"/>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12 / SELF-X</a:t>
            </a:r>
          </a:p>
        </p:txBody>
      </p:sp>
      <p:sp>
        <p:nvSpPr>
          <p:cNvPr id="4" name="">
            <a:extLst xmlns:a="http://schemas.openxmlformats.org/drawingml/2006/main">
              <a:ext uri="{FF2B5EF4-FFF2-40B4-BE49-F238E27FC236}">
                <a16:creationId xmlns:a16="http://schemas.microsoft.com/office/drawing/2014/main" id="{C018DA25-9ABF-403B-B050-7B82D7413E8D}"/>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One structured healthy-network check per discovered zero-price model ID</a:t>
            </a:r>
          </a:p>
        </p:txBody>
      </p:sp>
      <p:sp>
        <p:nvSpPr>
          <p:cNvPr id="5" name="">
            <a:extLst xmlns:a="http://schemas.openxmlformats.org/drawingml/2006/main">
              <a:ext uri="{FF2B5EF4-FFF2-40B4-BE49-F238E27FC236}">
                <a16:creationId xmlns:a16="http://schemas.microsoft.com/office/drawing/2014/main" id="{2593F5D6-0D7A-4291-A070-AB231D377AE3}"/>
              </a:ext>
            </a:extLst>
          </p:cNvPr>
          <p:cNvSpPr>
            <a:spLocks xmlns:a="http://schemas.openxmlformats.org/drawingml/2006/main" noGrp="1"/>
          </p:cNvSpPr>
          <p:nvPr/>
        </p:nvSpPr>
        <p:spPr>
          <a:xfrm xmlns:a="http://schemas.openxmlformats.org/drawingml/2006/main">
            <a:off x="619125" y="1771650"/>
            <a:ext cx="5810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600" b="1">
                <a:solidFill>
                  <a:srgbClr val="007D76"/>
                </a:solidFill>
                <a:latin typeface="Arial"/>
                <a:ea typeface="Arial"/>
                <a:cs typeface="Arial"/>
              </a:defRPr>
            </a:defPPr>
            <a:lvl1pPr>
              <a:defRPr sz="6600" b="1">
                <a:solidFill>
                  <a:srgbClr val="007D76"/>
                </a:solidFill>
                <a:latin typeface="Arial"/>
                <a:ea typeface="Arial"/>
                <a:cs typeface="Arial"/>
              </a:defRPr>
            </a:lvl1pPr>
            <a:lvl2pPr>
              <a:defRPr sz="6600" b="1">
                <a:solidFill>
                  <a:srgbClr val="007D76"/>
                </a:solidFill>
                <a:latin typeface="Arial"/>
                <a:ea typeface="Arial"/>
                <a:cs typeface="Arial"/>
              </a:defRPr>
            </a:lvl2pPr>
            <a:lvl3pPr>
              <a:defRPr sz="6600" b="1">
                <a:solidFill>
                  <a:srgbClr val="007D76"/>
                </a:solidFill>
                <a:latin typeface="Arial"/>
                <a:ea typeface="Arial"/>
                <a:cs typeface="Arial"/>
              </a:defRPr>
            </a:lvl3pPr>
            <a:lvl4pPr>
              <a:defRPr sz="6600" b="1">
                <a:solidFill>
                  <a:srgbClr val="007D76"/>
                </a:solidFill>
                <a:latin typeface="Arial"/>
                <a:ea typeface="Arial"/>
                <a:cs typeface="Arial"/>
              </a:defRPr>
            </a:lvl4pPr>
            <a:lvl5pPr>
              <a:defRPr sz="6600" b="1">
                <a:solidFill>
                  <a:srgbClr val="007D76"/>
                </a:solidFill>
                <a:latin typeface="Arial"/>
                <a:ea typeface="Arial"/>
                <a:cs typeface="Arial"/>
              </a:defRPr>
            </a:lvl5pPr>
            <a:lvl6pPr>
              <a:defRPr sz="6600" b="1">
                <a:solidFill>
                  <a:srgbClr val="007D76"/>
                </a:solidFill>
                <a:latin typeface="Arial"/>
                <a:ea typeface="Arial"/>
                <a:cs typeface="Arial"/>
              </a:defRPr>
            </a:lvl6pPr>
            <a:lvl7pPr>
              <a:defRPr sz="6600" b="1">
                <a:solidFill>
                  <a:srgbClr val="007D76"/>
                </a:solidFill>
                <a:latin typeface="Arial"/>
                <a:ea typeface="Arial"/>
                <a:cs typeface="Arial"/>
              </a:defRPr>
            </a:lvl7pPr>
            <a:lvl8pPr>
              <a:defRPr sz="6600" b="1">
                <a:solidFill>
                  <a:srgbClr val="007D76"/>
                </a:solidFill>
                <a:latin typeface="Arial"/>
                <a:ea typeface="Arial"/>
                <a:cs typeface="Arial"/>
              </a:defRPr>
            </a:lvl8pPr>
            <a:lvl9pPr>
              <a:defRPr sz="6600" b="1">
                <a:solidFill>
                  <a:srgbClr val="007D76"/>
                </a:solidFill>
                <a:latin typeface="Arial"/>
                <a:ea typeface="Arial"/>
                <a:cs typeface="Arial"/>
              </a:defRPr>
            </a:lvl9pPr>
          </a:lstStyle>
          <a:p xmlns:a="http://schemas.openxmlformats.org/drawingml/2006/main">
            <a:pPr>
              <a:defRPr sz="6600" b="1">
                <a:solidFill>
                  <a:srgbClr val="007D76"/>
                </a:solidFill>
                <a:latin typeface="Arial"/>
                <a:ea typeface="Arial"/>
                <a:cs typeface="Arial"/>
              </a:defRPr>
            </a:pPr>
            <a:r>
              <a:rPr sz="6600" b="1">
                <a:solidFill>
                  <a:srgbClr val="007D76"/>
                </a:solidFill>
                <a:latin typeface="Arial"/>
                <a:ea typeface="Arial"/>
                <a:cs typeface="Arial"/>
              </a:rPr>
              <a:t>9 / 17</a:t>
            </a:r>
          </a:p>
        </p:txBody>
      </p:sp>
      <p:sp>
        <p:nvSpPr>
          <p:cNvPr id="6" name="">
            <a:extLst xmlns:a="http://schemas.openxmlformats.org/drawingml/2006/main">
              <a:ext uri="{FF2B5EF4-FFF2-40B4-BE49-F238E27FC236}">
                <a16:creationId xmlns:a16="http://schemas.microsoft.com/office/drawing/2014/main" id="{9037C495-9E2D-4926-B54F-8124683F165E}"/>
              </a:ext>
            </a:extLst>
          </p:cNvPr>
          <p:cNvSpPr>
            <a:spLocks xmlns:a="http://schemas.openxmlformats.org/drawingml/2006/main" noGrp="1"/>
          </p:cNvSpPr>
          <p:nvPr/>
        </p:nvSpPr>
        <p:spPr>
          <a:xfrm xmlns:a="http://schemas.openxmlformats.org/drawingml/2006/main">
            <a:off x="685800" y="3267075"/>
            <a:ext cx="609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102E36"/>
                </a:solidFill>
                <a:latin typeface="Arial"/>
                <a:ea typeface="Arial"/>
                <a:cs typeface="Arial"/>
              </a:defRPr>
            </a:defPPr>
            <a:lvl1pPr>
              <a:defRPr sz="2400" b="0">
                <a:solidFill>
                  <a:srgbClr val="102E36"/>
                </a:solidFill>
                <a:latin typeface="Arial"/>
                <a:ea typeface="Arial"/>
                <a:cs typeface="Arial"/>
              </a:defRPr>
            </a:lvl1pPr>
            <a:lvl2pPr>
              <a:defRPr sz="2400" b="0">
                <a:solidFill>
                  <a:srgbClr val="102E36"/>
                </a:solidFill>
                <a:latin typeface="Arial"/>
                <a:ea typeface="Arial"/>
                <a:cs typeface="Arial"/>
              </a:defRPr>
            </a:lvl2pPr>
            <a:lvl3pPr>
              <a:defRPr sz="2400" b="0">
                <a:solidFill>
                  <a:srgbClr val="102E36"/>
                </a:solidFill>
                <a:latin typeface="Arial"/>
                <a:ea typeface="Arial"/>
                <a:cs typeface="Arial"/>
              </a:defRPr>
            </a:lvl3pPr>
            <a:lvl4pPr>
              <a:defRPr sz="2400" b="0">
                <a:solidFill>
                  <a:srgbClr val="102E36"/>
                </a:solidFill>
                <a:latin typeface="Arial"/>
                <a:ea typeface="Arial"/>
                <a:cs typeface="Arial"/>
              </a:defRPr>
            </a:lvl4pPr>
            <a:lvl5pPr>
              <a:defRPr sz="2400" b="0">
                <a:solidFill>
                  <a:srgbClr val="102E36"/>
                </a:solidFill>
                <a:latin typeface="Arial"/>
                <a:ea typeface="Arial"/>
                <a:cs typeface="Arial"/>
              </a:defRPr>
            </a:lvl5pPr>
            <a:lvl6pPr>
              <a:defRPr sz="2400" b="0">
                <a:solidFill>
                  <a:srgbClr val="102E36"/>
                </a:solidFill>
                <a:latin typeface="Arial"/>
                <a:ea typeface="Arial"/>
                <a:cs typeface="Arial"/>
              </a:defRPr>
            </a:lvl6pPr>
            <a:lvl7pPr>
              <a:defRPr sz="2400" b="0">
                <a:solidFill>
                  <a:srgbClr val="102E36"/>
                </a:solidFill>
                <a:latin typeface="Arial"/>
                <a:ea typeface="Arial"/>
                <a:cs typeface="Arial"/>
              </a:defRPr>
            </a:lvl7pPr>
            <a:lvl8pPr>
              <a:defRPr sz="2400" b="0">
                <a:solidFill>
                  <a:srgbClr val="102E36"/>
                </a:solidFill>
                <a:latin typeface="Arial"/>
                <a:ea typeface="Arial"/>
                <a:cs typeface="Arial"/>
              </a:defRPr>
            </a:lvl8pPr>
            <a:lvl9pPr>
              <a:defRPr sz="2400" b="0">
                <a:solidFill>
                  <a:srgbClr val="102E36"/>
                </a:solidFill>
                <a:latin typeface="Arial"/>
                <a:ea typeface="Arial"/>
                <a:cs typeface="Arial"/>
              </a:defRPr>
            </a:lvl9pPr>
          </a:lstStyle>
          <a:p xmlns:a="http://schemas.openxmlformats.org/drawingml/2006/main">
            <a:pPr>
              <a:defRPr sz="2400" b="0">
                <a:solidFill>
                  <a:srgbClr val="102E36"/>
                </a:solidFill>
                <a:latin typeface="Arial"/>
                <a:ea typeface="Arial"/>
                <a:cs typeface="Arial"/>
              </a:defRPr>
            </a:pPr>
            <a:r>
              <a:rPr sz="2400" b="0">
                <a:solidFill>
                  <a:srgbClr val="102E36"/>
                </a:solidFill>
                <a:latin typeface="Arial"/>
                <a:ea typeface="Arial"/>
                <a:cs typeface="Arial"/>
              </a:rPr>
              <a:t>models returned valid decisions</a:t>
            </a:r>
          </a:p>
        </p:txBody>
      </p:sp>
      <p:sp>
        <p:nvSpPr>
          <p:cNvPr id="7" name="">
            <a:extLst xmlns:a="http://schemas.openxmlformats.org/drawingml/2006/main">
              <a:ext uri="{FF2B5EF4-FFF2-40B4-BE49-F238E27FC236}">
                <a16:creationId xmlns:a16="http://schemas.microsoft.com/office/drawing/2014/main" id="{45EBFB36-5088-48B2-81B2-19125C39D860}"/>
              </a:ext>
            </a:extLst>
          </p:cNvPr>
          <p:cNvSpPr>
            <a:spLocks xmlns:a="http://schemas.openxmlformats.org/drawingml/2006/main" noGrp="1"/>
          </p:cNvSpPr>
          <p:nvPr/>
        </p:nvSpPr>
        <p:spPr>
          <a:xfrm xmlns:a="http://schemas.openxmlformats.org/drawingml/2006/main">
            <a:off x="7143750" y="1905000"/>
            <a:ext cx="428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02E36"/>
                </a:solidFill>
                <a:latin typeface="Arial"/>
                <a:ea typeface="Arial"/>
                <a:cs typeface="Arial"/>
              </a:defRPr>
            </a:defPPr>
            <a:lvl1pPr>
              <a:defRPr sz="2325" b="0">
                <a:solidFill>
                  <a:srgbClr val="102E36"/>
                </a:solidFill>
                <a:latin typeface="Arial"/>
                <a:ea typeface="Arial"/>
                <a:cs typeface="Arial"/>
              </a:defRPr>
            </a:lvl1pPr>
            <a:lvl2pPr>
              <a:defRPr sz="2325" b="0">
                <a:solidFill>
                  <a:srgbClr val="102E36"/>
                </a:solidFill>
                <a:latin typeface="Arial"/>
                <a:ea typeface="Arial"/>
                <a:cs typeface="Arial"/>
              </a:defRPr>
            </a:lvl2pPr>
            <a:lvl3pPr>
              <a:defRPr sz="2325" b="0">
                <a:solidFill>
                  <a:srgbClr val="102E36"/>
                </a:solidFill>
                <a:latin typeface="Arial"/>
                <a:ea typeface="Arial"/>
                <a:cs typeface="Arial"/>
              </a:defRPr>
            </a:lvl3pPr>
            <a:lvl4pPr>
              <a:defRPr sz="2325" b="0">
                <a:solidFill>
                  <a:srgbClr val="102E36"/>
                </a:solidFill>
                <a:latin typeface="Arial"/>
                <a:ea typeface="Arial"/>
                <a:cs typeface="Arial"/>
              </a:defRPr>
            </a:lvl4pPr>
            <a:lvl5pPr>
              <a:defRPr sz="2325" b="0">
                <a:solidFill>
                  <a:srgbClr val="102E36"/>
                </a:solidFill>
                <a:latin typeface="Arial"/>
                <a:ea typeface="Arial"/>
                <a:cs typeface="Arial"/>
              </a:defRPr>
            </a:lvl5pPr>
            <a:lvl6pPr>
              <a:defRPr sz="2325" b="0">
                <a:solidFill>
                  <a:srgbClr val="102E36"/>
                </a:solidFill>
                <a:latin typeface="Arial"/>
                <a:ea typeface="Arial"/>
                <a:cs typeface="Arial"/>
              </a:defRPr>
            </a:lvl6pPr>
            <a:lvl7pPr>
              <a:defRPr sz="2325" b="0">
                <a:solidFill>
                  <a:srgbClr val="102E36"/>
                </a:solidFill>
                <a:latin typeface="Arial"/>
                <a:ea typeface="Arial"/>
                <a:cs typeface="Arial"/>
              </a:defRPr>
            </a:lvl7pPr>
            <a:lvl8pPr>
              <a:defRPr sz="2325" b="0">
                <a:solidFill>
                  <a:srgbClr val="102E36"/>
                </a:solidFill>
                <a:latin typeface="Arial"/>
                <a:ea typeface="Arial"/>
                <a:cs typeface="Arial"/>
              </a:defRPr>
            </a:lvl8pPr>
            <a:lvl9pPr>
              <a:defRPr sz="2325" b="0">
                <a:solidFill>
                  <a:srgbClr val="102E36"/>
                </a:solidFill>
                <a:latin typeface="Arial"/>
                <a:ea typeface="Arial"/>
                <a:cs typeface="Arial"/>
              </a:defRPr>
            </a:lvl9pPr>
          </a:lstStyle>
          <a:p xmlns:a="http://schemas.openxmlformats.org/drawingml/2006/main">
            <a:pPr>
              <a:defRPr sz="2325" b="0">
                <a:solidFill>
                  <a:srgbClr val="102E36"/>
                </a:solidFill>
                <a:latin typeface="Arial"/>
                <a:ea typeface="Arial"/>
                <a:cs typeface="Arial"/>
              </a:defRPr>
            </a:pPr>
            <a:r>
              <a:rPr sz="2325" b="0">
                <a:solidFill>
                  <a:srgbClr val="102E36"/>
                </a:solidFill>
                <a:latin typeface="Arial"/>
                <a:ea typeface="Arial"/>
                <a:cs typeface="Arial"/>
              </a:rPr>
              <a:t>8 checks were unavailable</a:t>
            </a:r>
          </a:p>
          <a:p xmlns:a="http://schemas.openxmlformats.org/drawingml/2006/main">
            <a:pPr>
              <a:defRPr sz="2325" b="0">
                <a:solidFill>
                  <a:srgbClr val="102E36"/>
                </a:solidFill>
                <a:latin typeface="Arial"/>
                <a:ea typeface="Arial"/>
                <a:cs typeface="Arial"/>
              </a:defRPr>
            </a:pPr>
            <a:r>
              <a:rPr sz="2325" b="0">
                <a:solidFill>
                  <a:srgbClr val="102E36"/>
                </a:solidFill>
                <a:latin typeface="Arial"/>
                <a:ea typeface="Arial"/>
                <a:cs typeface="Arial"/>
              </a:rPr>
              <a:t>or unsuitable in this run.</a:t>
            </a:r>
          </a:p>
        </p:txBody>
      </p:sp>
      <p:sp>
        <p:nvSpPr>
          <p:cNvPr id="8" name="">
            <a:extLst xmlns:a="http://schemas.openxmlformats.org/drawingml/2006/main">
              <a:ext uri="{FF2B5EF4-FFF2-40B4-BE49-F238E27FC236}">
                <a16:creationId xmlns:a16="http://schemas.microsoft.com/office/drawing/2014/main" id="{A47A0F10-3B03-4403-855C-D63303D9FB4E}"/>
              </a:ext>
            </a:extLst>
          </p:cNvPr>
          <p:cNvSpPr>
            <a:spLocks xmlns:a="http://schemas.openxmlformats.org/drawingml/2006/main" noGrp="1"/>
          </p:cNvSpPr>
          <p:nvPr/>
        </p:nvSpPr>
        <p:spPr>
          <a:xfrm xmlns:a="http://schemas.openxmlformats.org/drawingml/2006/main">
            <a:off x="7143750" y="3581400"/>
            <a:ext cx="4286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E36"/>
                </a:solidFill>
                <a:latin typeface="Arial"/>
                <a:ea typeface="Arial"/>
                <a:cs typeface="Arial"/>
              </a:defRPr>
            </a:defPPr>
            <a:lvl1pPr>
              <a:defRPr sz="2100" b="0">
                <a:solidFill>
                  <a:srgbClr val="102E36"/>
                </a:solidFill>
                <a:latin typeface="Arial"/>
                <a:ea typeface="Arial"/>
                <a:cs typeface="Arial"/>
              </a:defRPr>
            </a:lvl1pPr>
            <a:lvl2pPr>
              <a:defRPr sz="2100" b="0">
                <a:solidFill>
                  <a:srgbClr val="102E36"/>
                </a:solidFill>
                <a:latin typeface="Arial"/>
                <a:ea typeface="Arial"/>
                <a:cs typeface="Arial"/>
              </a:defRPr>
            </a:lvl2pPr>
            <a:lvl3pPr>
              <a:defRPr sz="2100" b="0">
                <a:solidFill>
                  <a:srgbClr val="102E36"/>
                </a:solidFill>
                <a:latin typeface="Arial"/>
                <a:ea typeface="Arial"/>
                <a:cs typeface="Arial"/>
              </a:defRPr>
            </a:lvl3pPr>
            <a:lvl4pPr>
              <a:defRPr sz="2100" b="0">
                <a:solidFill>
                  <a:srgbClr val="102E36"/>
                </a:solidFill>
                <a:latin typeface="Arial"/>
                <a:ea typeface="Arial"/>
                <a:cs typeface="Arial"/>
              </a:defRPr>
            </a:lvl4pPr>
            <a:lvl5pPr>
              <a:defRPr sz="2100" b="0">
                <a:solidFill>
                  <a:srgbClr val="102E36"/>
                </a:solidFill>
                <a:latin typeface="Arial"/>
                <a:ea typeface="Arial"/>
                <a:cs typeface="Arial"/>
              </a:defRPr>
            </a:lvl5pPr>
            <a:lvl6pPr>
              <a:defRPr sz="2100" b="0">
                <a:solidFill>
                  <a:srgbClr val="102E36"/>
                </a:solidFill>
                <a:latin typeface="Arial"/>
                <a:ea typeface="Arial"/>
                <a:cs typeface="Arial"/>
              </a:defRPr>
            </a:lvl6pPr>
            <a:lvl7pPr>
              <a:defRPr sz="2100" b="0">
                <a:solidFill>
                  <a:srgbClr val="102E36"/>
                </a:solidFill>
                <a:latin typeface="Arial"/>
                <a:ea typeface="Arial"/>
                <a:cs typeface="Arial"/>
              </a:defRPr>
            </a:lvl7pPr>
            <a:lvl8pPr>
              <a:defRPr sz="2100" b="0">
                <a:solidFill>
                  <a:srgbClr val="102E36"/>
                </a:solidFill>
                <a:latin typeface="Arial"/>
                <a:ea typeface="Arial"/>
                <a:cs typeface="Arial"/>
              </a:defRPr>
            </a:lvl8pPr>
            <a:lvl9pPr>
              <a:defRPr sz="2100" b="0">
                <a:solidFill>
                  <a:srgbClr val="102E36"/>
                </a:solidFill>
                <a:latin typeface="Arial"/>
                <a:ea typeface="Arial"/>
                <a:cs typeface="Arial"/>
              </a:defRPr>
            </a:lvl9pPr>
          </a:lstStyle>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Free-router diagnostic:</a:t>
            </a:r>
          </a:p>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A1 API decisions 3/12</a:t>
            </a:r>
          </a:p>
          <a:p xmlns:a="http://schemas.openxmlformats.org/drawingml/2006/main">
            <a:pPr>
              <a:defRPr sz="2100" b="0">
                <a:solidFill>
                  <a:srgbClr val="102E36"/>
                </a:solidFill>
                <a:latin typeface="Arial"/>
                <a:ea typeface="Arial"/>
                <a:cs typeface="Arial"/>
              </a:defRPr>
            </a:pPr>
            <a:r>
              <a:rPr sz="2100" b="0">
                <a:solidFill>
                  <a:srgbClr val="102E36"/>
                </a:solidFill>
                <a:latin typeface="Arial"/>
                <a:ea typeface="Arial"/>
                <a:cs typeface="Arial"/>
              </a:rPr>
              <a:t>A2 API decisions 0/12</a:t>
            </a:r>
          </a:p>
        </p:txBody>
      </p:sp>
      <p:sp>
        <p:nvSpPr>
          <p:cNvPr id="9" name="">
            <a:extLst xmlns:a="http://schemas.openxmlformats.org/drawingml/2006/main">
              <a:ext uri="{FF2B5EF4-FFF2-40B4-BE49-F238E27FC236}">
                <a16:creationId xmlns:a16="http://schemas.microsoft.com/office/drawing/2014/main" id="{F36975AC-A8D6-4C73-907D-C8689A47181C}"/>
              </a:ext>
            </a:extLst>
          </p:cNvPr>
          <p:cNvSpPr>
            <a:spLocks xmlns:a="http://schemas.openxmlformats.org/drawingml/2006/main" noGrp="1"/>
          </p:cNvSpPr>
          <p:nvPr/>
        </p:nvSpPr>
        <p:spPr>
          <a:xfrm xmlns:a="http://schemas.openxmlformats.org/drawingml/2006/main">
            <a:off x="666750" y="5448300"/>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007D76"/>
                </a:solidFill>
                <a:latin typeface="Arial"/>
                <a:ea typeface="Arial"/>
                <a:cs typeface="Arial"/>
              </a:defRPr>
            </a:defPPr>
            <a:lvl1pPr>
              <a:defRPr sz="2175" b="0">
                <a:solidFill>
                  <a:srgbClr val="007D76"/>
                </a:solidFill>
                <a:latin typeface="Arial"/>
                <a:ea typeface="Arial"/>
                <a:cs typeface="Arial"/>
              </a:defRPr>
            </a:lvl1pPr>
            <a:lvl2pPr>
              <a:defRPr sz="2175" b="0">
                <a:solidFill>
                  <a:srgbClr val="007D76"/>
                </a:solidFill>
                <a:latin typeface="Arial"/>
                <a:ea typeface="Arial"/>
                <a:cs typeface="Arial"/>
              </a:defRPr>
            </a:lvl2pPr>
            <a:lvl3pPr>
              <a:defRPr sz="2175" b="0">
                <a:solidFill>
                  <a:srgbClr val="007D76"/>
                </a:solidFill>
                <a:latin typeface="Arial"/>
                <a:ea typeface="Arial"/>
                <a:cs typeface="Arial"/>
              </a:defRPr>
            </a:lvl3pPr>
            <a:lvl4pPr>
              <a:defRPr sz="2175" b="0">
                <a:solidFill>
                  <a:srgbClr val="007D76"/>
                </a:solidFill>
                <a:latin typeface="Arial"/>
                <a:ea typeface="Arial"/>
                <a:cs typeface="Arial"/>
              </a:defRPr>
            </a:lvl4pPr>
            <a:lvl5pPr>
              <a:defRPr sz="2175" b="0">
                <a:solidFill>
                  <a:srgbClr val="007D76"/>
                </a:solidFill>
                <a:latin typeface="Arial"/>
                <a:ea typeface="Arial"/>
                <a:cs typeface="Arial"/>
              </a:defRPr>
            </a:lvl5pPr>
            <a:lvl6pPr>
              <a:defRPr sz="2175" b="0">
                <a:solidFill>
                  <a:srgbClr val="007D76"/>
                </a:solidFill>
                <a:latin typeface="Arial"/>
                <a:ea typeface="Arial"/>
                <a:cs typeface="Arial"/>
              </a:defRPr>
            </a:lvl6pPr>
            <a:lvl7pPr>
              <a:defRPr sz="2175" b="0">
                <a:solidFill>
                  <a:srgbClr val="007D76"/>
                </a:solidFill>
                <a:latin typeface="Arial"/>
                <a:ea typeface="Arial"/>
                <a:cs typeface="Arial"/>
              </a:defRPr>
            </a:lvl7pPr>
            <a:lvl8pPr>
              <a:defRPr sz="2175" b="0">
                <a:solidFill>
                  <a:srgbClr val="007D76"/>
                </a:solidFill>
                <a:latin typeface="Arial"/>
                <a:ea typeface="Arial"/>
                <a:cs typeface="Arial"/>
              </a:defRPr>
            </a:lvl8pPr>
            <a:lvl9pPr>
              <a:defRPr sz="2175" b="0">
                <a:solidFill>
                  <a:srgbClr val="007D76"/>
                </a:solidFill>
                <a:latin typeface="Arial"/>
                <a:ea typeface="Arial"/>
                <a:cs typeface="Arial"/>
              </a:defRPr>
            </a:lvl9pPr>
          </a:lstStyle>
          <a:p xmlns:a="http://schemas.openxmlformats.org/drawingml/2006/main">
            <a:pPr>
              <a:defRPr sz="2175" b="0">
                <a:solidFill>
                  <a:srgbClr val="007D76"/>
                </a:solidFill>
                <a:latin typeface="Arial"/>
                <a:ea typeface="Arial"/>
                <a:cs typeface="Arial"/>
              </a:defRPr>
            </a:pPr>
            <a:r>
              <a:rPr sz="2175" b="0">
                <a:solidFill>
                  <a:srgbClr val="007D76"/>
                </a:solidFill>
                <a:latin typeface="Arial"/>
                <a:ea typeface="Arial"/>
                <a:cs typeface="Arial"/>
              </a:rPr>
              <a:t>Availability and JSON compatibility are separate from control quality.</a:t>
            </a:r>
          </a:p>
        </p:txBody>
      </p:sp>
    </p:spTree>
    <p:extLst>
      <p:ext uri="{BB962C8B-B14F-4D97-AF65-F5344CB8AC3E}">
        <p14:creationId xmlns:p14="http://schemas.microsoft.com/office/powerpoint/2010/main" val="873866802"/>
      </p:ext>
    </p:extLst>
  </p:cSld>
</p:sld>
</file>

<file path=ppt/slides/slide13.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3AECAB6-468B-4423-8E93-B9ABCC93DDA1}"/>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Related work</a:t>
            </a:r>
          </a:p>
        </p:txBody>
      </p:sp>
      <p:sp>
        <p:nvSpPr>
          <p:cNvPr id="3" name="">
            <a:extLst xmlns:a="http://schemas.openxmlformats.org/drawingml/2006/main">
              <a:ext uri="{FF2B5EF4-FFF2-40B4-BE49-F238E27FC236}">
                <a16:creationId xmlns:a16="http://schemas.microsoft.com/office/drawing/2014/main" id="{8C397C5B-7A79-4583-9D9D-4BC9C2FB4012}"/>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13 / SELF-X</a:t>
            </a:r>
          </a:p>
        </p:txBody>
      </p:sp>
      <p:graphicFrame>
        <p:nvGraphicFramePr>
          <p:cNvPr id="4" name="">
            <a:extLst xmlns:a="http://schemas.openxmlformats.org/drawingml/2006/main">
              <a:ext uri="{FF2B5EF4-FFF2-40B4-BE49-F238E27FC236}">
                <a16:creationId xmlns:a16="http://schemas.microsoft.com/office/drawing/2014/main" id="{7C275E3E-D743-49CF-95C9-5F380915F235}"/>
              </a:ext>
            </a:extLst>
          </p:cNvPr>
          <p:cNvGraphicFramePr/>
          <p:nvPr/>
        </p:nvGraphicFramePr>
        <p:xfrm>
          <a:off xmlns:a="http://schemas.openxmlformats.org/drawingml/2006/main" x="609600" y="1781175"/>
          <a:ext xmlns:a="http://schemas.openxmlformats.org/drawingml/2006/main" cx="10972800" cy="3238500"/>
        </p:xfrm>
        <a:graphic xmlns:a="http://schemas.openxmlformats.org/drawingml/2006/main">
          <a:graphicData uri="http://schemas.openxmlformats.org/drawingml/2006/table">
            <a:tbl>
              <a:tblPr/>
              <a:tblGrid>
                <a:gridCol w="2714625"/>
                <a:gridCol w="3952875"/>
                <a:gridCol w="4305300"/>
              </a:tblGrid>
              <a:tr h="809625">
                <a:tc>
                  <a:txBody>
                    <a:bodyPr/>
                    <a:lstStyle/>
                    <a:p>
                      <a:r>
                        <a:rPr sz="1725" b="1">
                          <a:solidFill>
                            <a:srgbClr val="102E36"/>
                          </a:solidFill>
                          <a:latin typeface="Arial"/>
                          <a:ea typeface="Arial"/>
                          <a:cs typeface="Arial"/>
                        </a:rPr>
                        <a:t>Work</a:t>
                      </a:r>
                    </a:p>
                  </a:txBody>
                  <a:tcPr marL="114300" marR="114300" marT="114300" marB="11430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Relevance</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Comparison boundary</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809625">
                <a:tc>
                  <a:txBody>
                    <a:bodyPr/>
                    <a:lstStyle/>
                    <a:p>
                      <a:r>
                        <a:rPr sz="1800">
                          <a:solidFill>
                            <a:srgbClr val="102E36"/>
                          </a:solidFill>
                          <a:latin typeface="Arial"/>
                          <a:ea typeface="Arial"/>
                          <a:cs typeface="Arial"/>
                        </a:rPr>
                        <a:t>Reflexion (2023)</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Verbal feedback and episode memory</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Different tasks; no SDN score transfer</a:t>
                      </a:r>
                    </a:p>
                  </a:txBody>
                  <a:tcPr marL="114300" marR="114300" marT="114300" marB="114300">
                    <a:lnR w="9525">
                      <a:solidFill>
                        <a:srgbClr val="D9E3DF"/>
                      </a:solidFill>
                      <a:prstDash val="solid"/>
                    </a:lnR>
                    <a:lnB w="9525">
                      <a:solidFill>
                        <a:srgbClr val="D9E3DF"/>
                      </a:solidFill>
                      <a:prstDash val="solid"/>
                    </a:lnB>
                    <a:solidFill>
                      <a:srgbClr val="F6F8F3"/>
                    </a:solidFill>
                  </a:tcPr>
                </a:tc>
              </a:tr>
              <a:tr h="809625">
                <a:tc>
                  <a:txBody>
                    <a:bodyPr/>
                    <a:lstStyle/>
                    <a:p>
                      <a:r>
                        <a:rPr sz="1800">
                          <a:solidFill>
                            <a:srgbClr val="102E36"/>
                          </a:solidFill>
                          <a:latin typeface="Arial"/>
                          <a:ea typeface="Arial"/>
                          <a:cs typeface="Arial"/>
                        </a:rPr>
                        <a:t>RouteNet (2019)</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Topology-aware network KPI modeling</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15.4% worst-case MRE is prediction error</a:t>
                      </a:r>
                    </a:p>
                  </a:txBody>
                  <a:tcPr marL="114300" marR="114300" marT="114300" marB="114300">
                    <a:lnR w="9525">
                      <a:solidFill>
                        <a:srgbClr val="D9E3DF"/>
                      </a:solidFill>
                      <a:prstDash val="solid"/>
                    </a:lnR>
                    <a:lnB w="9525">
                      <a:solidFill>
                        <a:srgbClr val="D9E3DF"/>
                      </a:solidFill>
                      <a:prstDash val="solid"/>
                    </a:lnB>
                    <a:solidFill>
                      <a:srgbClr val="F6F8F3"/>
                    </a:solidFill>
                  </a:tcPr>
                </a:tc>
              </a:tr>
              <a:tr h="809625">
                <a:tc>
                  <a:txBody>
                    <a:bodyPr/>
                    <a:lstStyle/>
                    <a:p>
                      <a:r>
                        <a:rPr sz="1800">
                          <a:solidFill>
                            <a:srgbClr val="102E36"/>
                          </a:solidFill>
                          <a:latin typeface="Arial"/>
                          <a:ea typeface="Arial"/>
                          <a:cs typeface="Arial"/>
                        </a:rPr>
                        <a:t>Local A0 and B1</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Static and feasible greedy baselines</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Measured on the same demand</a:t>
                      </a:r>
                    </a:p>
                  </a:txBody>
                  <a:tcPr marL="114300" marR="114300" marT="114300" marB="114300">
                    <a:lnR w="9525">
                      <a:solidFill>
                        <a:srgbClr val="D9E3DF"/>
                      </a:solidFill>
                      <a:prstDash val="solid"/>
                    </a:lnR>
                    <a:lnB w="9525">
                      <a:solidFill>
                        <a:srgbClr val="D9E3DF"/>
                      </a:solidFill>
                      <a:prstDash val="solid"/>
                    </a:lnB>
                    <a:solidFill>
                      <a:srgbClr val="F6F8F3"/>
                    </a:solidFill>
                  </a:tcPr>
                </a:tc>
              </a:tr>
            </a:tbl>
          </a:graphicData>
        </a:graphic>
      </p:graphicFrame>
      <p:sp>
        <p:nvSpPr>
          <p:cNvPr id="5" name="">
            <a:extLst xmlns:a="http://schemas.openxmlformats.org/drawingml/2006/main">
              <a:ext uri="{FF2B5EF4-FFF2-40B4-BE49-F238E27FC236}">
                <a16:creationId xmlns:a16="http://schemas.microsoft.com/office/drawing/2014/main" id="{778495BA-5AD7-428C-8930-8F4E9513C87F}"/>
              </a:ext>
            </a:extLst>
          </p:cNvPr>
          <p:cNvSpPr>
            <a:spLocks xmlns:a="http://schemas.openxmlformats.org/drawingml/2006/main" noGrp="1"/>
          </p:cNvSpPr>
          <p:nvPr/>
        </p:nvSpPr>
        <p:spPr>
          <a:xfrm xmlns:a="http://schemas.openxmlformats.org/drawingml/2006/main">
            <a:off x="647700" y="5372100"/>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07D76"/>
                </a:solidFill>
                <a:latin typeface="Arial"/>
                <a:ea typeface="Arial"/>
                <a:cs typeface="Arial"/>
              </a:defRPr>
            </a:defPPr>
            <a:lvl1pPr>
              <a:defRPr sz="2025" b="0">
                <a:solidFill>
                  <a:srgbClr val="007D76"/>
                </a:solidFill>
                <a:latin typeface="Arial"/>
                <a:ea typeface="Arial"/>
                <a:cs typeface="Arial"/>
              </a:defRPr>
            </a:lvl1pPr>
            <a:lvl2pPr>
              <a:defRPr sz="2025" b="0">
                <a:solidFill>
                  <a:srgbClr val="007D76"/>
                </a:solidFill>
                <a:latin typeface="Arial"/>
                <a:ea typeface="Arial"/>
                <a:cs typeface="Arial"/>
              </a:defRPr>
            </a:lvl2pPr>
            <a:lvl3pPr>
              <a:defRPr sz="2025" b="0">
                <a:solidFill>
                  <a:srgbClr val="007D76"/>
                </a:solidFill>
                <a:latin typeface="Arial"/>
                <a:ea typeface="Arial"/>
                <a:cs typeface="Arial"/>
              </a:defRPr>
            </a:lvl3pPr>
            <a:lvl4pPr>
              <a:defRPr sz="2025" b="0">
                <a:solidFill>
                  <a:srgbClr val="007D76"/>
                </a:solidFill>
                <a:latin typeface="Arial"/>
                <a:ea typeface="Arial"/>
                <a:cs typeface="Arial"/>
              </a:defRPr>
            </a:lvl4pPr>
            <a:lvl5pPr>
              <a:defRPr sz="2025" b="0">
                <a:solidFill>
                  <a:srgbClr val="007D76"/>
                </a:solidFill>
                <a:latin typeface="Arial"/>
                <a:ea typeface="Arial"/>
                <a:cs typeface="Arial"/>
              </a:defRPr>
            </a:lvl5pPr>
            <a:lvl6pPr>
              <a:defRPr sz="2025" b="0">
                <a:solidFill>
                  <a:srgbClr val="007D76"/>
                </a:solidFill>
                <a:latin typeface="Arial"/>
                <a:ea typeface="Arial"/>
                <a:cs typeface="Arial"/>
              </a:defRPr>
            </a:lvl6pPr>
            <a:lvl7pPr>
              <a:defRPr sz="2025" b="0">
                <a:solidFill>
                  <a:srgbClr val="007D76"/>
                </a:solidFill>
                <a:latin typeface="Arial"/>
                <a:ea typeface="Arial"/>
                <a:cs typeface="Arial"/>
              </a:defRPr>
            </a:lvl7pPr>
            <a:lvl8pPr>
              <a:defRPr sz="2025" b="0">
                <a:solidFill>
                  <a:srgbClr val="007D76"/>
                </a:solidFill>
                <a:latin typeface="Arial"/>
                <a:ea typeface="Arial"/>
                <a:cs typeface="Arial"/>
              </a:defRPr>
            </a:lvl8pPr>
            <a:lvl9pPr>
              <a:defRPr sz="2025" b="0">
                <a:solidFill>
                  <a:srgbClr val="007D76"/>
                </a:solidFill>
                <a:latin typeface="Arial"/>
                <a:ea typeface="Arial"/>
                <a:cs typeface="Arial"/>
              </a:defRPr>
            </a:lvl9pPr>
          </a:lstStyle>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Published measurements retain their original task and units.</a:t>
            </a:r>
          </a:p>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They are not substituted for local experimental results.</a:t>
            </a:r>
          </a:p>
        </p:txBody>
      </p:sp>
    </p:spTree>
    <p:extLst>
      <p:ext uri="{BB962C8B-B14F-4D97-AF65-F5344CB8AC3E}">
        <p14:creationId xmlns:p14="http://schemas.microsoft.com/office/powerpoint/2010/main" val="1927552453"/>
      </p:ext>
    </p:extLst>
  </p:cSld>
</p:sld>
</file>

<file path=ppt/slides/slide14.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BE6F9E2-3E34-47C8-8267-F778B4379A7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Engineering corrections and validation</a:t>
            </a:r>
          </a:p>
        </p:txBody>
      </p:sp>
      <p:sp>
        <p:nvSpPr>
          <p:cNvPr id="3" name="">
            <a:extLst xmlns:a="http://schemas.openxmlformats.org/drawingml/2006/main">
              <a:ext uri="{FF2B5EF4-FFF2-40B4-BE49-F238E27FC236}">
                <a16:creationId xmlns:a16="http://schemas.microsoft.com/office/drawing/2014/main" id="{D6D1C632-37BB-4D7C-8103-49B6E6CB877A}"/>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14 / SELF-X</a:t>
            </a:r>
          </a:p>
        </p:txBody>
      </p:sp>
      <p:sp>
        <p:nvSpPr>
          <p:cNvPr id="4" name="">
            <a:extLst xmlns:a="http://schemas.openxmlformats.org/drawingml/2006/main">
              <a:ext uri="{FF2B5EF4-FFF2-40B4-BE49-F238E27FC236}">
                <a16:creationId xmlns:a16="http://schemas.microsoft.com/office/drawing/2014/main" id="{F439BFA5-87AB-4EA2-AD6C-A732087959F8}"/>
              </a:ext>
            </a:extLst>
          </p:cNvPr>
          <p:cNvSpPr>
            <a:spLocks xmlns:a="http://schemas.openxmlformats.org/drawingml/2006/main" noGrp="1"/>
          </p:cNvSpPr>
          <p:nvPr/>
        </p:nvSpPr>
        <p:spPr>
          <a:xfrm xmlns:a="http://schemas.openxmlformats.org/drawingml/2006/main">
            <a:off x="647700" y="17145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02E36"/>
                </a:solidFill>
                <a:latin typeface="Arial"/>
                <a:ea typeface="Arial"/>
                <a:cs typeface="Arial"/>
              </a:defRPr>
            </a:defPPr>
            <a:lvl1pPr>
              <a:defRPr sz="2325" b="0">
                <a:solidFill>
                  <a:srgbClr val="102E36"/>
                </a:solidFill>
                <a:latin typeface="Arial"/>
                <a:ea typeface="Arial"/>
                <a:cs typeface="Arial"/>
              </a:defRPr>
            </a:lvl1pPr>
            <a:lvl2pPr>
              <a:defRPr sz="2325" b="0">
                <a:solidFill>
                  <a:srgbClr val="102E36"/>
                </a:solidFill>
                <a:latin typeface="Arial"/>
                <a:ea typeface="Arial"/>
                <a:cs typeface="Arial"/>
              </a:defRPr>
            </a:lvl2pPr>
            <a:lvl3pPr>
              <a:defRPr sz="2325" b="0">
                <a:solidFill>
                  <a:srgbClr val="102E36"/>
                </a:solidFill>
                <a:latin typeface="Arial"/>
                <a:ea typeface="Arial"/>
                <a:cs typeface="Arial"/>
              </a:defRPr>
            </a:lvl3pPr>
            <a:lvl4pPr>
              <a:defRPr sz="2325" b="0">
                <a:solidFill>
                  <a:srgbClr val="102E36"/>
                </a:solidFill>
                <a:latin typeface="Arial"/>
                <a:ea typeface="Arial"/>
                <a:cs typeface="Arial"/>
              </a:defRPr>
            </a:lvl4pPr>
            <a:lvl5pPr>
              <a:defRPr sz="2325" b="0">
                <a:solidFill>
                  <a:srgbClr val="102E36"/>
                </a:solidFill>
                <a:latin typeface="Arial"/>
                <a:ea typeface="Arial"/>
                <a:cs typeface="Arial"/>
              </a:defRPr>
            </a:lvl5pPr>
            <a:lvl6pPr>
              <a:defRPr sz="2325" b="0">
                <a:solidFill>
                  <a:srgbClr val="102E36"/>
                </a:solidFill>
                <a:latin typeface="Arial"/>
                <a:ea typeface="Arial"/>
                <a:cs typeface="Arial"/>
              </a:defRPr>
            </a:lvl6pPr>
            <a:lvl7pPr>
              <a:defRPr sz="2325" b="0">
                <a:solidFill>
                  <a:srgbClr val="102E36"/>
                </a:solidFill>
                <a:latin typeface="Arial"/>
                <a:ea typeface="Arial"/>
                <a:cs typeface="Arial"/>
              </a:defRPr>
            </a:lvl7pPr>
            <a:lvl8pPr>
              <a:defRPr sz="2325" b="0">
                <a:solidFill>
                  <a:srgbClr val="102E36"/>
                </a:solidFill>
                <a:latin typeface="Arial"/>
                <a:ea typeface="Arial"/>
                <a:cs typeface="Arial"/>
              </a:defRPr>
            </a:lvl8pPr>
            <a:lvl9pPr>
              <a:defRPr sz="2325" b="0">
                <a:solidFill>
                  <a:srgbClr val="102E36"/>
                </a:solidFill>
                <a:latin typeface="Arial"/>
                <a:ea typeface="Arial"/>
                <a:cs typeface="Arial"/>
              </a:defRPr>
            </a:lvl9pPr>
          </a:lstStyle>
          <a:p xmlns:a="http://schemas.openxmlformats.org/drawingml/2006/main">
            <a:pPr>
              <a:defRPr sz="2325" b="0">
                <a:solidFill>
                  <a:srgbClr val="102E36"/>
                </a:solidFill>
                <a:latin typeface="Arial"/>
                <a:ea typeface="Arial"/>
                <a:cs typeface="Arial"/>
              </a:defRPr>
            </a:pPr>
            <a:r>
              <a:rPr sz="2325" b="0">
                <a:solidFill>
                  <a:srgbClr val="102E36"/>
                </a:solidFill>
                <a:latin typeface="Arial"/>
                <a:ea typeface="Arial"/>
                <a:cs typeface="Arial"/>
              </a:rPr>
              <a:t>Outputs and experiment paths stay inside selfx.</a:t>
            </a:r>
          </a:p>
        </p:txBody>
      </p:sp>
      <p:sp>
        <p:nvSpPr>
          <p:cNvPr id="5" name="">
            <a:extLst xmlns:a="http://schemas.openxmlformats.org/drawingml/2006/main">
              <a:ext uri="{FF2B5EF4-FFF2-40B4-BE49-F238E27FC236}">
                <a16:creationId xmlns:a16="http://schemas.microsoft.com/office/drawing/2014/main" id="{9C9ED4EC-511D-4535-B2AF-94DAA45652BF}"/>
              </a:ext>
            </a:extLst>
          </p:cNvPr>
          <p:cNvSpPr>
            <a:spLocks xmlns:a="http://schemas.openxmlformats.org/drawingml/2006/main" noGrp="1"/>
          </p:cNvSpPr>
          <p:nvPr/>
        </p:nvSpPr>
        <p:spPr>
          <a:xfrm xmlns:a="http://schemas.openxmlformats.org/drawingml/2006/main">
            <a:off x="647700" y="27432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02E36"/>
                </a:solidFill>
                <a:latin typeface="Arial"/>
                <a:ea typeface="Arial"/>
                <a:cs typeface="Arial"/>
              </a:defRPr>
            </a:defPPr>
            <a:lvl1pPr>
              <a:defRPr sz="2325" b="0">
                <a:solidFill>
                  <a:srgbClr val="102E36"/>
                </a:solidFill>
                <a:latin typeface="Arial"/>
                <a:ea typeface="Arial"/>
                <a:cs typeface="Arial"/>
              </a:defRPr>
            </a:lvl1pPr>
            <a:lvl2pPr>
              <a:defRPr sz="2325" b="0">
                <a:solidFill>
                  <a:srgbClr val="102E36"/>
                </a:solidFill>
                <a:latin typeface="Arial"/>
                <a:ea typeface="Arial"/>
                <a:cs typeface="Arial"/>
              </a:defRPr>
            </a:lvl2pPr>
            <a:lvl3pPr>
              <a:defRPr sz="2325" b="0">
                <a:solidFill>
                  <a:srgbClr val="102E36"/>
                </a:solidFill>
                <a:latin typeface="Arial"/>
                <a:ea typeface="Arial"/>
                <a:cs typeface="Arial"/>
              </a:defRPr>
            </a:lvl3pPr>
            <a:lvl4pPr>
              <a:defRPr sz="2325" b="0">
                <a:solidFill>
                  <a:srgbClr val="102E36"/>
                </a:solidFill>
                <a:latin typeface="Arial"/>
                <a:ea typeface="Arial"/>
                <a:cs typeface="Arial"/>
              </a:defRPr>
            </a:lvl4pPr>
            <a:lvl5pPr>
              <a:defRPr sz="2325" b="0">
                <a:solidFill>
                  <a:srgbClr val="102E36"/>
                </a:solidFill>
                <a:latin typeface="Arial"/>
                <a:ea typeface="Arial"/>
                <a:cs typeface="Arial"/>
              </a:defRPr>
            </a:lvl5pPr>
            <a:lvl6pPr>
              <a:defRPr sz="2325" b="0">
                <a:solidFill>
                  <a:srgbClr val="102E36"/>
                </a:solidFill>
                <a:latin typeface="Arial"/>
                <a:ea typeface="Arial"/>
                <a:cs typeface="Arial"/>
              </a:defRPr>
            </a:lvl6pPr>
            <a:lvl7pPr>
              <a:defRPr sz="2325" b="0">
                <a:solidFill>
                  <a:srgbClr val="102E36"/>
                </a:solidFill>
                <a:latin typeface="Arial"/>
                <a:ea typeface="Arial"/>
                <a:cs typeface="Arial"/>
              </a:defRPr>
            </a:lvl7pPr>
            <a:lvl8pPr>
              <a:defRPr sz="2325" b="0">
                <a:solidFill>
                  <a:srgbClr val="102E36"/>
                </a:solidFill>
                <a:latin typeface="Arial"/>
                <a:ea typeface="Arial"/>
                <a:cs typeface="Arial"/>
              </a:defRPr>
            </a:lvl8pPr>
            <a:lvl9pPr>
              <a:defRPr sz="2325" b="0">
                <a:solidFill>
                  <a:srgbClr val="102E36"/>
                </a:solidFill>
                <a:latin typeface="Arial"/>
                <a:ea typeface="Arial"/>
                <a:cs typeface="Arial"/>
              </a:defRPr>
            </a:lvl9pPr>
          </a:lstStyle>
          <a:p xmlns:a="http://schemas.openxmlformats.org/drawingml/2006/main">
            <a:pPr>
              <a:defRPr sz="2325" b="0">
                <a:solidFill>
                  <a:srgbClr val="102E36"/>
                </a:solidFill>
                <a:latin typeface="Arial"/>
                <a:ea typeface="Arial"/>
                <a:cs typeface="Arial"/>
              </a:defRPr>
            </a:pPr>
            <a:r>
              <a:rPr sz="2325" b="0">
                <a:solidFill>
                  <a:srgbClr val="102E36"/>
                </a:solidFill>
                <a:latin typeface="Arial"/>
                <a:ea typeface="Arial"/>
                <a:cs typeface="Arial"/>
              </a:rPr>
              <a:t>Metered OpenFlow rules preserve observed forwarding.</a:t>
            </a:r>
          </a:p>
        </p:txBody>
      </p:sp>
      <p:sp>
        <p:nvSpPr>
          <p:cNvPr id="6" name="">
            <a:extLst xmlns:a="http://schemas.openxmlformats.org/drawingml/2006/main">
              <a:ext uri="{FF2B5EF4-FFF2-40B4-BE49-F238E27FC236}">
                <a16:creationId xmlns:a16="http://schemas.microsoft.com/office/drawing/2014/main" id="{61BA6CBC-BFD0-4270-A65E-37FB7CD8F2BA}"/>
              </a:ext>
            </a:extLst>
          </p:cNvPr>
          <p:cNvSpPr>
            <a:spLocks xmlns:a="http://schemas.openxmlformats.org/drawingml/2006/main" noGrp="1"/>
          </p:cNvSpPr>
          <p:nvPr/>
        </p:nvSpPr>
        <p:spPr>
          <a:xfrm xmlns:a="http://schemas.openxmlformats.org/drawingml/2006/main">
            <a:off x="647700" y="37719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02E36"/>
                </a:solidFill>
                <a:latin typeface="Arial"/>
                <a:ea typeface="Arial"/>
                <a:cs typeface="Arial"/>
              </a:defRPr>
            </a:defPPr>
            <a:lvl1pPr>
              <a:defRPr sz="2325" b="0">
                <a:solidFill>
                  <a:srgbClr val="102E36"/>
                </a:solidFill>
                <a:latin typeface="Arial"/>
                <a:ea typeface="Arial"/>
                <a:cs typeface="Arial"/>
              </a:defRPr>
            </a:lvl1pPr>
            <a:lvl2pPr>
              <a:defRPr sz="2325" b="0">
                <a:solidFill>
                  <a:srgbClr val="102E36"/>
                </a:solidFill>
                <a:latin typeface="Arial"/>
                <a:ea typeface="Arial"/>
                <a:cs typeface="Arial"/>
              </a:defRPr>
            </a:lvl2pPr>
            <a:lvl3pPr>
              <a:defRPr sz="2325" b="0">
                <a:solidFill>
                  <a:srgbClr val="102E36"/>
                </a:solidFill>
                <a:latin typeface="Arial"/>
                <a:ea typeface="Arial"/>
                <a:cs typeface="Arial"/>
              </a:defRPr>
            </a:lvl3pPr>
            <a:lvl4pPr>
              <a:defRPr sz="2325" b="0">
                <a:solidFill>
                  <a:srgbClr val="102E36"/>
                </a:solidFill>
                <a:latin typeface="Arial"/>
                <a:ea typeface="Arial"/>
                <a:cs typeface="Arial"/>
              </a:defRPr>
            </a:lvl4pPr>
            <a:lvl5pPr>
              <a:defRPr sz="2325" b="0">
                <a:solidFill>
                  <a:srgbClr val="102E36"/>
                </a:solidFill>
                <a:latin typeface="Arial"/>
                <a:ea typeface="Arial"/>
                <a:cs typeface="Arial"/>
              </a:defRPr>
            </a:lvl5pPr>
            <a:lvl6pPr>
              <a:defRPr sz="2325" b="0">
                <a:solidFill>
                  <a:srgbClr val="102E36"/>
                </a:solidFill>
                <a:latin typeface="Arial"/>
                <a:ea typeface="Arial"/>
                <a:cs typeface="Arial"/>
              </a:defRPr>
            </a:lvl6pPr>
            <a:lvl7pPr>
              <a:defRPr sz="2325" b="0">
                <a:solidFill>
                  <a:srgbClr val="102E36"/>
                </a:solidFill>
                <a:latin typeface="Arial"/>
                <a:ea typeface="Arial"/>
                <a:cs typeface="Arial"/>
              </a:defRPr>
            </a:lvl7pPr>
            <a:lvl8pPr>
              <a:defRPr sz="2325" b="0">
                <a:solidFill>
                  <a:srgbClr val="102E36"/>
                </a:solidFill>
                <a:latin typeface="Arial"/>
                <a:ea typeface="Arial"/>
                <a:cs typeface="Arial"/>
              </a:defRPr>
            </a:lvl8pPr>
            <a:lvl9pPr>
              <a:defRPr sz="2325" b="0">
                <a:solidFill>
                  <a:srgbClr val="102E36"/>
                </a:solidFill>
                <a:latin typeface="Arial"/>
                <a:ea typeface="Arial"/>
                <a:cs typeface="Arial"/>
              </a:defRPr>
            </a:lvl9pPr>
          </a:lstStyle>
          <a:p xmlns:a="http://schemas.openxmlformats.org/drawingml/2006/main">
            <a:pPr>
              <a:defRPr sz="2325" b="0">
                <a:solidFill>
                  <a:srgbClr val="102E36"/>
                </a:solidFill>
                <a:latin typeface="Arial"/>
                <a:ea typeface="Arial"/>
                <a:cs typeface="Arial"/>
              </a:defRPr>
            </a:pPr>
            <a:r>
              <a:rPr sz="2325" b="0">
                <a:solidFill>
                  <a:srgbClr val="102E36"/>
                </a:solidFill>
                <a:latin typeface="Arial"/>
                <a:ea typeface="Arial"/>
                <a:cs typeface="Arial"/>
              </a:rPr>
              <a:t>Rerouting requires a validated alternative egress.</a:t>
            </a:r>
          </a:p>
        </p:txBody>
      </p:sp>
      <p:sp>
        <p:nvSpPr>
          <p:cNvPr id="7" name="">
            <a:extLst xmlns:a="http://schemas.openxmlformats.org/drawingml/2006/main">
              <a:ext uri="{FF2B5EF4-FFF2-40B4-BE49-F238E27FC236}">
                <a16:creationId xmlns:a16="http://schemas.microsoft.com/office/drawing/2014/main" id="{5978972F-93B3-4BAA-B76D-6DB5C9BE8D0D}"/>
              </a:ext>
            </a:extLst>
          </p:cNvPr>
          <p:cNvSpPr>
            <a:spLocks xmlns:a="http://schemas.openxmlformats.org/drawingml/2006/main" noGrp="1"/>
          </p:cNvSpPr>
          <p:nvPr/>
        </p:nvSpPr>
        <p:spPr>
          <a:xfrm xmlns:a="http://schemas.openxmlformats.org/drawingml/2006/main">
            <a:off x="647700" y="48006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02E36"/>
                </a:solidFill>
                <a:latin typeface="Arial"/>
                <a:ea typeface="Arial"/>
                <a:cs typeface="Arial"/>
              </a:defRPr>
            </a:defPPr>
            <a:lvl1pPr>
              <a:defRPr sz="2325" b="0">
                <a:solidFill>
                  <a:srgbClr val="102E36"/>
                </a:solidFill>
                <a:latin typeface="Arial"/>
                <a:ea typeface="Arial"/>
                <a:cs typeface="Arial"/>
              </a:defRPr>
            </a:lvl1pPr>
            <a:lvl2pPr>
              <a:defRPr sz="2325" b="0">
                <a:solidFill>
                  <a:srgbClr val="102E36"/>
                </a:solidFill>
                <a:latin typeface="Arial"/>
                <a:ea typeface="Arial"/>
                <a:cs typeface="Arial"/>
              </a:defRPr>
            </a:lvl2pPr>
            <a:lvl3pPr>
              <a:defRPr sz="2325" b="0">
                <a:solidFill>
                  <a:srgbClr val="102E36"/>
                </a:solidFill>
                <a:latin typeface="Arial"/>
                <a:ea typeface="Arial"/>
                <a:cs typeface="Arial"/>
              </a:defRPr>
            </a:lvl3pPr>
            <a:lvl4pPr>
              <a:defRPr sz="2325" b="0">
                <a:solidFill>
                  <a:srgbClr val="102E36"/>
                </a:solidFill>
                <a:latin typeface="Arial"/>
                <a:ea typeface="Arial"/>
                <a:cs typeface="Arial"/>
              </a:defRPr>
            </a:lvl4pPr>
            <a:lvl5pPr>
              <a:defRPr sz="2325" b="0">
                <a:solidFill>
                  <a:srgbClr val="102E36"/>
                </a:solidFill>
                <a:latin typeface="Arial"/>
                <a:ea typeface="Arial"/>
                <a:cs typeface="Arial"/>
              </a:defRPr>
            </a:lvl5pPr>
            <a:lvl6pPr>
              <a:defRPr sz="2325" b="0">
                <a:solidFill>
                  <a:srgbClr val="102E36"/>
                </a:solidFill>
                <a:latin typeface="Arial"/>
                <a:ea typeface="Arial"/>
                <a:cs typeface="Arial"/>
              </a:defRPr>
            </a:lvl6pPr>
            <a:lvl7pPr>
              <a:defRPr sz="2325" b="0">
                <a:solidFill>
                  <a:srgbClr val="102E36"/>
                </a:solidFill>
                <a:latin typeface="Arial"/>
                <a:ea typeface="Arial"/>
                <a:cs typeface="Arial"/>
              </a:defRPr>
            </a:lvl7pPr>
            <a:lvl8pPr>
              <a:defRPr sz="2325" b="0">
                <a:solidFill>
                  <a:srgbClr val="102E36"/>
                </a:solidFill>
                <a:latin typeface="Arial"/>
                <a:ea typeface="Arial"/>
                <a:cs typeface="Arial"/>
              </a:defRPr>
            </a:lvl8pPr>
            <a:lvl9pPr>
              <a:defRPr sz="2325" b="0">
                <a:solidFill>
                  <a:srgbClr val="102E36"/>
                </a:solidFill>
                <a:latin typeface="Arial"/>
                <a:ea typeface="Arial"/>
                <a:cs typeface="Arial"/>
              </a:defRPr>
            </a:lvl9pPr>
          </a:lstStyle>
          <a:p xmlns:a="http://schemas.openxmlformats.org/drawingml/2006/main">
            <a:pPr>
              <a:defRPr sz="2325" b="0">
                <a:solidFill>
                  <a:srgbClr val="102E36"/>
                </a:solidFill>
                <a:latin typeface="Arial"/>
                <a:ea typeface="Arial"/>
                <a:cs typeface="Arial"/>
              </a:defRPr>
            </a:pPr>
            <a:r>
              <a:rPr sz="2325" b="0">
                <a:solidFill>
                  <a:srgbClr val="102E36"/>
                </a:solidFill>
                <a:latin typeface="Arial"/>
                <a:ea typeface="Arial"/>
                <a:cs typeface="Arial"/>
              </a:rPr>
              <a:t>Tests cover conservation, reproducibility, provider fallback and dashboard access.</a:t>
            </a:r>
          </a:p>
        </p:txBody>
      </p:sp>
    </p:spTree>
    <p:extLst>
      <p:ext uri="{BB962C8B-B14F-4D97-AF65-F5344CB8AC3E}">
        <p14:creationId xmlns:p14="http://schemas.microsoft.com/office/powerpoint/2010/main" val="1195250947"/>
      </p:ext>
    </p:extLst>
  </p:cSld>
</p:sld>
</file>

<file path=ppt/slides/slide15.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D8D00CF-4E4C-47EC-8334-31DD443AA758}"/>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Limitations and next experiments</a:t>
            </a:r>
          </a:p>
        </p:txBody>
      </p:sp>
      <p:sp>
        <p:nvSpPr>
          <p:cNvPr id="3" name="">
            <a:extLst xmlns:a="http://schemas.openxmlformats.org/drawingml/2006/main">
              <a:ext uri="{FF2B5EF4-FFF2-40B4-BE49-F238E27FC236}">
                <a16:creationId xmlns:a16="http://schemas.microsoft.com/office/drawing/2014/main" id="{E531368B-F4DA-4184-9FA4-C0BBABF85C3C}"/>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15 / SELF-X</a:t>
            </a:r>
          </a:p>
        </p:txBody>
      </p:sp>
      <p:sp>
        <p:nvSpPr>
          <p:cNvPr id="4" name="">
            <a:extLst xmlns:a="http://schemas.openxmlformats.org/drawingml/2006/main">
              <a:ext uri="{FF2B5EF4-FFF2-40B4-BE49-F238E27FC236}">
                <a16:creationId xmlns:a16="http://schemas.microsoft.com/office/drawing/2014/main" id="{5A441393-ED00-4559-AA35-9CD3323AEB9B}"/>
              </a:ext>
            </a:extLst>
          </p:cNvPr>
          <p:cNvSpPr>
            <a:spLocks xmlns:a="http://schemas.openxmlformats.org/drawingml/2006/main" noGrp="1"/>
          </p:cNvSpPr>
          <p:nvPr/>
        </p:nvSpPr>
        <p:spPr>
          <a:xfrm xmlns:a="http://schemas.openxmlformats.org/drawingml/2006/main">
            <a:off x="647700" y="1743075"/>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The fluid model is not packet capture or a physical-network measurement.</a:t>
            </a:r>
          </a:p>
        </p:txBody>
      </p:sp>
      <p:sp>
        <p:nvSpPr>
          <p:cNvPr id="5" name="">
            <a:extLst xmlns:a="http://schemas.openxmlformats.org/drawingml/2006/main">
              <a:ext uri="{FF2B5EF4-FFF2-40B4-BE49-F238E27FC236}">
                <a16:creationId xmlns:a16="http://schemas.microsoft.com/office/drawing/2014/main" id="{82CC4244-14CB-44A9-955B-84F20C7F3F90}"/>
              </a:ext>
            </a:extLst>
          </p:cNvPr>
          <p:cNvSpPr>
            <a:spLocks xmlns:a="http://schemas.openxmlformats.org/drawingml/2006/main" noGrp="1"/>
          </p:cNvSpPr>
          <p:nvPr/>
        </p:nvSpPr>
        <p:spPr>
          <a:xfrm xmlns:a="http://schemas.openxmlformats.org/drawingml/2006/main">
            <a:off x="647700" y="278130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The hand-designed embedding has no formal learning or stability guarantee.</a:t>
            </a:r>
          </a:p>
        </p:txBody>
      </p:sp>
      <p:sp>
        <p:nvSpPr>
          <p:cNvPr id="6" name="">
            <a:extLst xmlns:a="http://schemas.openxmlformats.org/drawingml/2006/main">
              <a:ext uri="{FF2B5EF4-FFF2-40B4-BE49-F238E27FC236}">
                <a16:creationId xmlns:a16="http://schemas.microsoft.com/office/drawing/2014/main" id="{3727DDC9-1A8A-4496-9809-E514CE340324}"/>
              </a:ext>
            </a:extLst>
          </p:cNvPr>
          <p:cNvSpPr>
            <a:spLocks xmlns:a="http://schemas.openxmlformats.org/drawingml/2006/main" noGrp="1"/>
          </p:cNvSpPr>
          <p:nvPr/>
        </p:nvSpPr>
        <p:spPr>
          <a:xfrm xmlns:a="http://schemas.openxmlformats.org/drawingml/2006/main">
            <a:off x="647700" y="3819525"/>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Paced live API calls do not meet a five-second real-time deadline.</a:t>
            </a:r>
          </a:p>
        </p:txBody>
      </p:sp>
      <p:sp>
        <p:nvSpPr>
          <p:cNvPr id="7" name="">
            <a:extLst xmlns:a="http://schemas.openxmlformats.org/drawingml/2006/main">
              <a:ext uri="{FF2B5EF4-FFF2-40B4-BE49-F238E27FC236}">
                <a16:creationId xmlns:a16="http://schemas.microsoft.com/office/drawing/2014/main" id="{8B104696-6E6C-41B9-9DBA-47415F2D1967}"/>
              </a:ext>
            </a:extLst>
          </p:cNvPr>
          <p:cNvSpPr>
            <a:spLocks xmlns:a="http://schemas.openxmlformats.org/drawingml/2006/main" noGrp="1"/>
          </p:cNvSpPr>
          <p:nvPr/>
        </p:nvSpPr>
        <p:spPr>
          <a:xfrm xmlns:a="http://schemas.openxmlformats.org/drawingml/2006/main">
            <a:off x="647700" y="485775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02E36"/>
                </a:solidFill>
                <a:latin typeface="Arial"/>
                <a:ea typeface="Arial"/>
                <a:cs typeface="Arial"/>
              </a:defRPr>
            </a:defPPr>
            <a:lvl1pPr>
              <a:defRPr sz="2250" b="0">
                <a:solidFill>
                  <a:srgbClr val="102E36"/>
                </a:solidFill>
                <a:latin typeface="Arial"/>
                <a:ea typeface="Arial"/>
                <a:cs typeface="Arial"/>
              </a:defRPr>
            </a:lvl1pPr>
            <a:lvl2pPr>
              <a:defRPr sz="2250" b="0">
                <a:solidFill>
                  <a:srgbClr val="102E36"/>
                </a:solidFill>
                <a:latin typeface="Arial"/>
                <a:ea typeface="Arial"/>
                <a:cs typeface="Arial"/>
              </a:defRPr>
            </a:lvl2pPr>
            <a:lvl3pPr>
              <a:defRPr sz="2250" b="0">
                <a:solidFill>
                  <a:srgbClr val="102E36"/>
                </a:solidFill>
                <a:latin typeface="Arial"/>
                <a:ea typeface="Arial"/>
                <a:cs typeface="Arial"/>
              </a:defRPr>
            </a:lvl3pPr>
            <a:lvl4pPr>
              <a:defRPr sz="2250" b="0">
                <a:solidFill>
                  <a:srgbClr val="102E36"/>
                </a:solidFill>
                <a:latin typeface="Arial"/>
                <a:ea typeface="Arial"/>
                <a:cs typeface="Arial"/>
              </a:defRPr>
            </a:lvl4pPr>
            <a:lvl5pPr>
              <a:defRPr sz="2250" b="0">
                <a:solidFill>
                  <a:srgbClr val="102E36"/>
                </a:solidFill>
                <a:latin typeface="Arial"/>
                <a:ea typeface="Arial"/>
                <a:cs typeface="Arial"/>
              </a:defRPr>
            </a:lvl5pPr>
            <a:lvl6pPr>
              <a:defRPr sz="2250" b="0">
                <a:solidFill>
                  <a:srgbClr val="102E36"/>
                </a:solidFill>
                <a:latin typeface="Arial"/>
                <a:ea typeface="Arial"/>
                <a:cs typeface="Arial"/>
              </a:defRPr>
            </a:lvl6pPr>
            <a:lvl7pPr>
              <a:defRPr sz="2250" b="0">
                <a:solidFill>
                  <a:srgbClr val="102E36"/>
                </a:solidFill>
                <a:latin typeface="Arial"/>
                <a:ea typeface="Arial"/>
                <a:cs typeface="Arial"/>
              </a:defRPr>
            </a:lvl7pPr>
            <a:lvl8pPr>
              <a:defRPr sz="2250" b="0">
                <a:solidFill>
                  <a:srgbClr val="102E36"/>
                </a:solidFill>
                <a:latin typeface="Arial"/>
                <a:ea typeface="Arial"/>
                <a:cs typeface="Arial"/>
              </a:defRPr>
            </a:lvl8pPr>
            <a:lvl9pPr>
              <a:defRPr sz="2250" b="0">
                <a:solidFill>
                  <a:srgbClr val="102E36"/>
                </a:solidFill>
                <a:latin typeface="Arial"/>
                <a:ea typeface="Arial"/>
                <a:cs typeface="Arial"/>
              </a:defRPr>
            </a:lvl9pPr>
          </a:lstStyle>
          <a:p xmlns:a="http://schemas.openxmlformats.org/drawingml/2006/main">
            <a:pPr>
              <a:defRPr sz="2250" b="0">
                <a:solidFill>
                  <a:srgbClr val="102E36"/>
                </a:solidFill>
                <a:latin typeface="Arial"/>
                <a:ea typeface="Arial"/>
                <a:cs typeface="Arial"/>
              </a:defRPr>
            </a:pPr>
            <a:r>
              <a:rPr sz="2250" b="0">
                <a:solidFill>
                  <a:srgbClr val="102E36"/>
                </a:solidFill>
                <a:latin typeface="Arial"/>
                <a:ea typeface="Arial"/>
                <a:cs typeface="Arial"/>
              </a:rPr>
              <a:t>Next: endpoint-instrumented Linux tests, fixed models, more workloads and topologies.</a:t>
            </a:r>
          </a:p>
        </p:txBody>
      </p:sp>
    </p:spTree>
    <p:extLst>
      <p:ext uri="{BB962C8B-B14F-4D97-AF65-F5344CB8AC3E}">
        <p14:creationId xmlns:p14="http://schemas.microsoft.com/office/powerpoint/2010/main" val="39732591"/>
      </p:ext>
    </p:extLst>
  </p:cSld>
</p:sld>
</file>

<file path=ppt/slides/slide16.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56F9244-5B57-4FEB-9D5F-5470F72D0BD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Expanded benchmark coverage</a:t>
            </a:r>
          </a:p>
        </p:txBody>
      </p:sp>
      <p:sp>
        <p:nvSpPr>
          <p:cNvPr id="3" name="">
            <a:extLst xmlns:a="http://schemas.openxmlformats.org/drawingml/2006/main">
              <a:ext uri="{FF2B5EF4-FFF2-40B4-BE49-F238E27FC236}">
                <a16:creationId xmlns:a16="http://schemas.microsoft.com/office/drawing/2014/main" id="{35A66B59-8C7F-4A4F-BB37-2B70BD76ACB0}"/>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16 / SELF-X</a:t>
            </a:r>
          </a:p>
        </p:txBody>
      </p:sp>
      <p:sp>
        <p:nvSpPr>
          <p:cNvPr id="4" name="">
            <a:extLst xmlns:a="http://schemas.openxmlformats.org/drawingml/2006/main">
              <a:ext uri="{FF2B5EF4-FFF2-40B4-BE49-F238E27FC236}">
                <a16:creationId xmlns:a16="http://schemas.microsoft.com/office/drawing/2014/main" id="{7AC6D1C6-6D63-4EFC-AABF-44F42E052093}"/>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Offline decisions; all network values are simulated</a:t>
            </a:r>
          </a:p>
        </p:txBody>
      </p:sp>
      <p:sp>
        <p:nvSpPr>
          <p:cNvPr id="5" name="">
            <a:extLst xmlns:a="http://schemas.openxmlformats.org/drawingml/2006/main">
              <a:ext uri="{FF2B5EF4-FFF2-40B4-BE49-F238E27FC236}">
                <a16:creationId xmlns:a16="http://schemas.microsoft.com/office/drawing/2014/main" id="{570E97D7-F7FC-413E-8167-DF103BF8E92F}"/>
              </a:ext>
            </a:extLst>
          </p:cNvPr>
          <p:cNvSpPr>
            <a:spLocks xmlns:a="http://schemas.openxmlformats.org/drawingml/2006/main" noGrp="1"/>
          </p:cNvSpPr>
          <p:nvPr/>
        </p:nvSpPr>
        <p:spPr>
          <a:xfrm xmlns:a="http://schemas.openxmlformats.org/drawingml/2006/main">
            <a:off x="638175" y="16954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000" b="1">
                <a:solidFill>
                  <a:srgbClr val="007D76"/>
                </a:solidFill>
                <a:latin typeface="Arial"/>
                <a:ea typeface="Arial"/>
                <a:cs typeface="Arial"/>
              </a:defRPr>
            </a:defPPr>
            <a:lvl1pPr>
              <a:defRPr sz="6000" b="1">
                <a:solidFill>
                  <a:srgbClr val="007D76"/>
                </a:solidFill>
                <a:latin typeface="Arial"/>
                <a:ea typeface="Arial"/>
                <a:cs typeface="Arial"/>
              </a:defRPr>
            </a:lvl1pPr>
            <a:lvl2pPr>
              <a:defRPr sz="6000" b="1">
                <a:solidFill>
                  <a:srgbClr val="007D76"/>
                </a:solidFill>
                <a:latin typeface="Arial"/>
                <a:ea typeface="Arial"/>
                <a:cs typeface="Arial"/>
              </a:defRPr>
            </a:lvl2pPr>
            <a:lvl3pPr>
              <a:defRPr sz="6000" b="1">
                <a:solidFill>
                  <a:srgbClr val="007D76"/>
                </a:solidFill>
                <a:latin typeface="Arial"/>
                <a:ea typeface="Arial"/>
                <a:cs typeface="Arial"/>
              </a:defRPr>
            </a:lvl3pPr>
            <a:lvl4pPr>
              <a:defRPr sz="6000" b="1">
                <a:solidFill>
                  <a:srgbClr val="007D76"/>
                </a:solidFill>
                <a:latin typeface="Arial"/>
                <a:ea typeface="Arial"/>
                <a:cs typeface="Arial"/>
              </a:defRPr>
            </a:lvl4pPr>
            <a:lvl5pPr>
              <a:defRPr sz="6000" b="1">
                <a:solidFill>
                  <a:srgbClr val="007D76"/>
                </a:solidFill>
                <a:latin typeface="Arial"/>
                <a:ea typeface="Arial"/>
                <a:cs typeface="Arial"/>
              </a:defRPr>
            </a:lvl5pPr>
            <a:lvl6pPr>
              <a:defRPr sz="6000" b="1">
                <a:solidFill>
                  <a:srgbClr val="007D76"/>
                </a:solidFill>
                <a:latin typeface="Arial"/>
                <a:ea typeface="Arial"/>
                <a:cs typeface="Arial"/>
              </a:defRPr>
            </a:lvl6pPr>
            <a:lvl7pPr>
              <a:defRPr sz="6000" b="1">
                <a:solidFill>
                  <a:srgbClr val="007D76"/>
                </a:solidFill>
                <a:latin typeface="Arial"/>
                <a:ea typeface="Arial"/>
                <a:cs typeface="Arial"/>
              </a:defRPr>
            </a:lvl7pPr>
            <a:lvl8pPr>
              <a:defRPr sz="6000" b="1">
                <a:solidFill>
                  <a:srgbClr val="007D76"/>
                </a:solidFill>
                <a:latin typeface="Arial"/>
                <a:ea typeface="Arial"/>
                <a:cs typeface="Arial"/>
              </a:defRPr>
            </a:lvl8pPr>
            <a:lvl9pPr>
              <a:defRPr sz="6000" b="1">
                <a:solidFill>
                  <a:srgbClr val="007D76"/>
                </a:solidFill>
                <a:latin typeface="Arial"/>
                <a:ea typeface="Arial"/>
                <a:cs typeface="Arial"/>
              </a:defRPr>
            </a:lvl9pPr>
          </a:lstStyle>
          <a:p xmlns:a="http://schemas.openxmlformats.org/drawingml/2006/main">
            <a:pPr>
              <a:defRPr sz="6000" b="1">
                <a:solidFill>
                  <a:srgbClr val="007D76"/>
                </a:solidFill>
                <a:latin typeface="Arial"/>
                <a:ea typeface="Arial"/>
                <a:cs typeface="Arial"/>
              </a:defRPr>
            </a:pPr>
            <a:r>
              <a:rPr sz="6000" b="1">
                <a:solidFill>
                  <a:srgbClr val="007D76"/>
                </a:solidFill>
                <a:latin typeface="Arial"/>
                <a:ea typeface="Arial"/>
                <a:cs typeface="Arial"/>
              </a:rPr>
              <a:t>57,600</a:t>
            </a:r>
          </a:p>
        </p:txBody>
      </p:sp>
      <p:sp>
        <p:nvSpPr>
          <p:cNvPr id="6" name="">
            <a:extLst xmlns:a="http://schemas.openxmlformats.org/drawingml/2006/main">
              <a:ext uri="{FF2B5EF4-FFF2-40B4-BE49-F238E27FC236}">
                <a16:creationId xmlns:a16="http://schemas.microsoft.com/office/drawing/2014/main" id="{D1C0A246-C6B9-4581-B0EC-66B5690FF3D8}"/>
              </a:ext>
            </a:extLst>
          </p:cNvPr>
          <p:cNvSpPr>
            <a:spLocks xmlns:a="http://schemas.openxmlformats.org/drawingml/2006/main" noGrp="1"/>
          </p:cNvSpPr>
          <p:nvPr/>
        </p:nvSpPr>
        <p:spPr>
          <a:xfrm xmlns:a="http://schemas.openxmlformats.org/drawingml/2006/main">
            <a:off x="685800" y="28384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0">
                <a:solidFill>
                  <a:srgbClr val="102E36"/>
                </a:solidFill>
                <a:latin typeface="Arial"/>
                <a:ea typeface="Arial"/>
                <a:cs typeface="Arial"/>
              </a:defRPr>
            </a:defPPr>
            <a:lvl1pPr>
              <a:defRPr sz="2475" b="0">
                <a:solidFill>
                  <a:srgbClr val="102E36"/>
                </a:solidFill>
                <a:latin typeface="Arial"/>
                <a:ea typeface="Arial"/>
                <a:cs typeface="Arial"/>
              </a:defRPr>
            </a:lvl1pPr>
            <a:lvl2pPr>
              <a:defRPr sz="2475" b="0">
                <a:solidFill>
                  <a:srgbClr val="102E36"/>
                </a:solidFill>
                <a:latin typeface="Arial"/>
                <a:ea typeface="Arial"/>
                <a:cs typeface="Arial"/>
              </a:defRPr>
            </a:lvl2pPr>
            <a:lvl3pPr>
              <a:defRPr sz="2475" b="0">
                <a:solidFill>
                  <a:srgbClr val="102E36"/>
                </a:solidFill>
                <a:latin typeface="Arial"/>
                <a:ea typeface="Arial"/>
                <a:cs typeface="Arial"/>
              </a:defRPr>
            </a:lvl3pPr>
            <a:lvl4pPr>
              <a:defRPr sz="2475" b="0">
                <a:solidFill>
                  <a:srgbClr val="102E36"/>
                </a:solidFill>
                <a:latin typeface="Arial"/>
                <a:ea typeface="Arial"/>
                <a:cs typeface="Arial"/>
              </a:defRPr>
            </a:lvl4pPr>
            <a:lvl5pPr>
              <a:defRPr sz="2475" b="0">
                <a:solidFill>
                  <a:srgbClr val="102E36"/>
                </a:solidFill>
                <a:latin typeface="Arial"/>
                <a:ea typeface="Arial"/>
                <a:cs typeface="Arial"/>
              </a:defRPr>
            </a:lvl5pPr>
            <a:lvl6pPr>
              <a:defRPr sz="2475" b="0">
                <a:solidFill>
                  <a:srgbClr val="102E36"/>
                </a:solidFill>
                <a:latin typeface="Arial"/>
                <a:ea typeface="Arial"/>
                <a:cs typeface="Arial"/>
              </a:defRPr>
            </a:lvl6pPr>
            <a:lvl7pPr>
              <a:defRPr sz="2475" b="0">
                <a:solidFill>
                  <a:srgbClr val="102E36"/>
                </a:solidFill>
                <a:latin typeface="Arial"/>
                <a:ea typeface="Arial"/>
                <a:cs typeface="Arial"/>
              </a:defRPr>
            </a:lvl7pPr>
            <a:lvl8pPr>
              <a:defRPr sz="2475" b="0">
                <a:solidFill>
                  <a:srgbClr val="102E36"/>
                </a:solidFill>
                <a:latin typeface="Arial"/>
                <a:ea typeface="Arial"/>
                <a:cs typeface="Arial"/>
              </a:defRPr>
            </a:lvl8pPr>
            <a:lvl9pPr>
              <a:defRPr sz="2475" b="0">
                <a:solidFill>
                  <a:srgbClr val="102E36"/>
                </a:solidFill>
                <a:latin typeface="Arial"/>
                <a:ea typeface="Arial"/>
                <a:cs typeface="Arial"/>
              </a:defRPr>
            </a:lvl9pPr>
          </a:lstStyle>
          <a:p xmlns:a="http://schemas.openxmlformats.org/drawingml/2006/main">
            <a:pPr>
              <a:defRPr sz="2475" b="0">
                <a:solidFill>
                  <a:srgbClr val="102E36"/>
                </a:solidFill>
                <a:latin typeface="Arial"/>
                <a:ea typeface="Arial"/>
                <a:cs typeface="Arial"/>
              </a:defRPr>
            </a:pPr>
            <a:r>
              <a:rPr sz="2475" b="0">
                <a:solidFill>
                  <a:srgbClr val="102E36"/>
                </a:solidFill>
                <a:latin typeface="Arial"/>
                <a:ea typeface="Arial"/>
                <a:cs typeface="Arial"/>
              </a:rPr>
              <a:t>measured control windows</a:t>
            </a:r>
          </a:p>
        </p:txBody>
      </p:sp>
      <p:graphicFrame>
        <p:nvGraphicFramePr>
          <p:cNvPr id="7" name="">
            <a:extLst xmlns:a="http://schemas.openxmlformats.org/drawingml/2006/main">
              <a:ext uri="{FF2B5EF4-FFF2-40B4-BE49-F238E27FC236}">
                <a16:creationId xmlns:a16="http://schemas.microsoft.com/office/drawing/2014/main" id="{7640383C-2B9D-425A-990B-1E0AEBB57072}"/>
              </a:ext>
            </a:extLst>
          </p:cNvPr>
          <p:cNvGraphicFramePr/>
          <p:nvPr/>
        </p:nvGraphicFramePr>
        <p:xfrm>
          <a:off xmlns:a="http://schemas.openxmlformats.org/drawingml/2006/main" x="609600" y="3790950"/>
          <a:ext xmlns:a="http://schemas.openxmlformats.org/drawingml/2006/main" cx="10972800" cy="1714500"/>
        </p:xfrm>
        <a:graphic xmlns:a="http://schemas.openxmlformats.org/drawingml/2006/main">
          <a:graphicData uri="http://schemas.openxmlformats.org/drawingml/2006/table">
            <a:tbl>
              <a:tblPr/>
              <a:tblGrid>
                <a:gridCol w="3619500"/>
                <a:gridCol w="3619500"/>
                <a:gridCol w="3733800"/>
              </a:tblGrid>
              <a:tr h="571500">
                <a:tc>
                  <a:txBody>
                    <a:bodyPr/>
                    <a:lstStyle/>
                    <a:p>
                      <a:r>
                        <a:rPr sz="1725" b="1">
                          <a:solidFill>
                            <a:srgbClr val="102E36"/>
                          </a:solidFill>
                          <a:latin typeface="Arial"/>
                          <a:ea typeface="Arial"/>
                          <a:cs typeface="Arial"/>
                        </a:rPr>
                        <a:t>Traffic scenarios</a:t>
                      </a:r>
                    </a:p>
                  </a:txBody>
                  <a:tcPr marL="114300" marR="114300" marT="114300" marB="11430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Paired seeds</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Windows per condition</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571500">
                <a:tc>
                  <a:txBody>
                    <a:bodyPr/>
                    <a:lstStyle/>
                    <a:p>
                      <a:r>
                        <a:rPr sz="1800">
                          <a:solidFill>
                            <a:srgbClr val="102E36"/>
                          </a:solidFill>
                          <a:latin typeface="Arial"/>
                          <a:ea typeface="Arial"/>
                          <a:cs typeface="Arial"/>
                        </a:rPr>
                        <a:t>6</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120 per seed</a:t>
                      </a:r>
                    </a:p>
                  </a:txBody>
                  <a:tcPr marL="114300" marR="114300" marT="114300" marB="114300">
                    <a:lnR w="9525">
                      <a:solidFill>
                        <a:srgbClr val="D9E3DF"/>
                      </a:solidFill>
                      <a:prstDash val="solid"/>
                    </a:lnR>
                    <a:lnB w="9525">
                      <a:solidFill>
                        <a:srgbClr val="D9E3DF"/>
                      </a:solidFill>
                      <a:prstDash val="solid"/>
                    </a:lnB>
                    <a:solidFill>
                      <a:srgbClr val="F6F8F3"/>
                    </a:solidFill>
                  </a:tcPr>
                </a:tc>
              </a:tr>
              <a:tr h="571500">
                <a:tc>
                  <a:txBody>
                    <a:bodyPr/>
                    <a:lstStyle/>
                    <a:p>
                      <a:r>
                        <a:rPr sz="1800">
                          <a:solidFill>
                            <a:srgbClr val="102E36"/>
                          </a:solidFill>
                          <a:latin typeface="Arial"/>
                          <a:ea typeface="Arial"/>
                          <a:cs typeface="Arial"/>
                        </a:rPr>
                        <a:t>8 controllers</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600 simulated seconds</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per scenario and seed</a:t>
                      </a:r>
                    </a:p>
                  </a:txBody>
                  <a:tcPr marL="114300" marR="114300" marT="114300" marB="114300">
                    <a:lnR w="9525">
                      <a:solidFill>
                        <a:srgbClr val="D9E3DF"/>
                      </a:solidFill>
                      <a:prstDash val="solid"/>
                    </a:lnR>
                    <a:lnB w="9525">
                      <a:solidFill>
                        <a:srgbClr val="D9E3DF"/>
                      </a:solidFill>
                      <a:prstDash val="solid"/>
                    </a:lnB>
                    <a:solidFill>
                      <a:srgbClr val="F6F8F3"/>
                    </a:solidFill>
                  </a:tcPr>
                </a:tc>
              </a:tr>
            </a:tbl>
          </a:graphicData>
        </a:graphic>
      </p:graphicFrame>
      <p:sp>
        <p:nvSpPr>
          <p:cNvPr id="8" name="">
            <a:extLst xmlns:a="http://schemas.openxmlformats.org/drawingml/2006/main">
              <a:ext uri="{FF2B5EF4-FFF2-40B4-BE49-F238E27FC236}">
                <a16:creationId xmlns:a16="http://schemas.microsoft.com/office/drawing/2014/main" id="{7409D885-F65C-4FDA-B20A-02BED231DA7A}"/>
              </a:ext>
            </a:extLst>
          </p:cNvPr>
          <p:cNvSpPr>
            <a:spLocks xmlns:a="http://schemas.openxmlformats.org/drawingml/2006/main" noGrp="1"/>
          </p:cNvSpPr>
          <p:nvPr/>
        </p:nvSpPr>
        <p:spPr>
          <a:xfrm xmlns:a="http://schemas.openxmlformats.org/drawingml/2006/main">
            <a:off x="647700" y="57340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02E36"/>
                </a:solidFill>
                <a:latin typeface="Arial"/>
                <a:ea typeface="Arial"/>
                <a:cs typeface="Arial"/>
              </a:defRPr>
            </a:defPPr>
            <a:lvl1pPr>
              <a:defRPr sz="1875" b="0">
                <a:solidFill>
                  <a:srgbClr val="102E36"/>
                </a:solidFill>
                <a:latin typeface="Arial"/>
                <a:ea typeface="Arial"/>
                <a:cs typeface="Arial"/>
              </a:defRPr>
            </a:lvl1pPr>
            <a:lvl2pPr>
              <a:defRPr sz="1875" b="0">
                <a:solidFill>
                  <a:srgbClr val="102E36"/>
                </a:solidFill>
                <a:latin typeface="Arial"/>
                <a:ea typeface="Arial"/>
                <a:cs typeface="Arial"/>
              </a:defRPr>
            </a:lvl2pPr>
            <a:lvl3pPr>
              <a:defRPr sz="1875" b="0">
                <a:solidFill>
                  <a:srgbClr val="102E36"/>
                </a:solidFill>
                <a:latin typeface="Arial"/>
                <a:ea typeface="Arial"/>
                <a:cs typeface="Arial"/>
              </a:defRPr>
            </a:lvl3pPr>
            <a:lvl4pPr>
              <a:defRPr sz="1875" b="0">
                <a:solidFill>
                  <a:srgbClr val="102E36"/>
                </a:solidFill>
                <a:latin typeface="Arial"/>
                <a:ea typeface="Arial"/>
                <a:cs typeface="Arial"/>
              </a:defRPr>
            </a:lvl4pPr>
            <a:lvl5pPr>
              <a:defRPr sz="1875" b="0">
                <a:solidFill>
                  <a:srgbClr val="102E36"/>
                </a:solidFill>
                <a:latin typeface="Arial"/>
                <a:ea typeface="Arial"/>
                <a:cs typeface="Arial"/>
              </a:defRPr>
            </a:lvl5pPr>
            <a:lvl6pPr>
              <a:defRPr sz="1875" b="0">
                <a:solidFill>
                  <a:srgbClr val="102E36"/>
                </a:solidFill>
                <a:latin typeface="Arial"/>
                <a:ea typeface="Arial"/>
                <a:cs typeface="Arial"/>
              </a:defRPr>
            </a:lvl6pPr>
            <a:lvl7pPr>
              <a:defRPr sz="1875" b="0">
                <a:solidFill>
                  <a:srgbClr val="102E36"/>
                </a:solidFill>
                <a:latin typeface="Arial"/>
                <a:ea typeface="Arial"/>
                <a:cs typeface="Arial"/>
              </a:defRPr>
            </a:lvl7pPr>
            <a:lvl8pPr>
              <a:defRPr sz="1875" b="0">
                <a:solidFill>
                  <a:srgbClr val="102E36"/>
                </a:solidFill>
                <a:latin typeface="Arial"/>
                <a:ea typeface="Arial"/>
                <a:cs typeface="Arial"/>
              </a:defRPr>
            </a:lvl8pPr>
            <a:lvl9pPr>
              <a:defRPr sz="1875" b="0">
                <a:solidFill>
                  <a:srgbClr val="102E36"/>
                </a:solidFill>
                <a:latin typeface="Arial"/>
                <a:ea typeface="Arial"/>
                <a:cs typeface="Arial"/>
              </a:defRPr>
            </a:lvl9pPr>
          </a:lstStyle>
          <a:p xmlns:a="http://schemas.openxmlformats.org/drawingml/2006/main">
            <a:pPr>
              <a:defRPr sz="1875" b="0">
                <a:solidFill>
                  <a:srgbClr val="102E36"/>
                </a:solidFill>
                <a:latin typeface="Arial"/>
                <a:ea typeface="Arial"/>
                <a:cs typeface="Arial"/>
              </a:defRPr>
            </a:pPr>
            <a:r>
              <a:rPr sz="1875" b="0">
                <a:solidFill>
                  <a:srgbClr val="102E36"/>
                </a:solidFill>
                <a:latin typeface="Arial"/>
                <a:ea typeface="Arial"/>
                <a:cs typeface="Arial"/>
              </a:rPr>
              <a:t>Includes original A2, guarded H1 and A3, plus a myopic model reference.</a:t>
            </a:r>
          </a:p>
        </p:txBody>
      </p:sp>
    </p:spTree>
    <p:extLst>
      <p:ext uri="{BB962C8B-B14F-4D97-AF65-F5344CB8AC3E}">
        <p14:creationId xmlns:p14="http://schemas.microsoft.com/office/powerpoint/2010/main" val="406067130"/>
      </p:ext>
    </p:extLst>
  </p:cSld>
</p:sld>
</file>

<file path=ppt/slides/slide17.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5045992-0CF4-4570-9FF6-25B45FD7371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Scenario delay benchmark</a:t>
            </a:r>
          </a:p>
        </p:txBody>
      </p:sp>
      <p:sp>
        <p:nvSpPr>
          <p:cNvPr id="3" name="">
            <a:extLst xmlns:a="http://schemas.openxmlformats.org/drawingml/2006/main">
              <a:ext uri="{FF2B5EF4-FFF2-40B4-BE49-F238E27FC236}">
                <a16:creationId xmlns:a16="http://schemas.microsoft.com/office/drawing/2014/main" id="{A796095B-EFA5-44AC-9E7A-BFAB8ED3D867}"/>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17 / SELF-X</a:t>
            </a:r>
          </a:p>
        </p:txBody>
      </p:sp>
      <p:sp>
        <p:nvSpPr>
          <p:cNvPr id="4" name="">
            <a:extLst xmlns:a="http://schemas.openxmlformats.org/drawingml/2006/main">
              <a:ext uri="{FF2B5EF4-FFF2-40B4-BE49-F238E27FC236}">
                <a16:creationId xmlns:a16="http://schemas.microsoft.com/office/drawing/2014/main" id="{B10FB723-F24D-48E8-A6E4-B0D1159B6D46}"/>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Mean modeled delay in milliseconds; 1,200 windows per cell</a:t>
            </a:r>
          </a:p>
        </p:txBody>
      </p:sp>
      <p:graphicFrame>
        <p:nvGraphicFramePr>
          <p:cNvPr id="5" name="">
            <a:extLst xmlns:a="http://schemas.openxmlformats.org/drawingml/2006/main">
              <a:ext uri="{FF2B5EF4-FFF2-40B4-BE49-F238E27FC236}">
                <a16:creationId xmlns:a16="http://schemas.microsoft.com/office/drawing/2014/main" id="{413E9B18-D54A-4B4B-97F2-84F08D757227}"/>
              </a:ext>
            </a:extLst>
          </p:cNvPr>
          <p:cNvGraphicFramePr/>
          <p:nvPr/>
        </p:nvGraphicFramePr>
        <p:xfrm>
          <a:off xmlns:a="http://schemas.openxmlformats.org/drawingml/2006/main" x="609600" y="1704975"/>
          <a:ext xmlns:a="http://schemas.openxmlformats.org/drawingml/2006/main" cx="10972800" cy="3333750"/>
        </p:xfrm>
        <a:graphic xmlns:a="http://schemas.openxmlformats.org/drawingml/2006/main">
          <a:graphicData uri="http://schemas.openxmlformats.org/drawingml/2006/table">
            <a:tbl>
              <a:tblPr/>
              <a:tblGrid>
                <a:gridCol w="1752600"/>
                <a:gridCol w="1152525"/>
                <a:gridCol w="1152525"/>
                <a:gridCol w="1152525"/>
                <a:gridCol w="1152525"/>
                <a:gridCol w="1152525"/>
                <a:gridCol w="1152525"/>
                <a:gridCol w="1152525"/>
                <a:gridCol w="1152525"/>
              </a:tblGrid>
              <a:tr h="476250">
                <a:tc>
                  <a:txBody>
                    <a:bodyPr/>
                    <a:lstStyle/>
                    <a:p>
                      <a:r>
                        <a:rPr sz="1725" b="1">
                          <a:solidFill>
                            <a:srgbClr val="102E36"/>
                          </a:solidFill>
                          <a:latin typeface="Arial"/>
                          <a:ea typeface="Arial"/>
                          <a:cs typeface="Arial"/>
                        </a:rPr>
                        <a:t>Scenario</a:t>
                      </a:r>
                    </a:p>
                  </a:txBody>
                  <a:tcPr marL="114300" marR="114300" marT="114300" marB="11430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A0</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B1</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B2</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A1</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A2</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H1</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A3</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O1</a:t>
                      </a:r>
                    </a:p>
                  </a:txBody>
                  <a:tcPr marL="114300" marR="114300" marT="114300" marB="11430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476250">
                <a:tc>
                  <a:txBody>
                    <a:bodyPr/>
                    <a:lstStyle/>
                    <a:p>
                      <a:r>
                        <a:rPr sz="1800">
                          <a:solidFill>
                            <a:srgbClr val="102E36"/>
                          </a:solidFill>
                          <a:latin typeface="Arial"/>
                          <a:ea typeface="Arial"/>
                          <a:cs typeface="Arial"/>
                        </a:rPr>
                        <a:t>Mixed</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30.45</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27.38</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28.79</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23.73</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24.57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23.90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24.37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23.77</a:t>
                      </a:r>
                    </a:p>
                  </a:txBody>
                  <a:tcPr marL="114300" marR="114300" marT="114300" marB="114300">
                    <a:lnR w="9525">
                      <a:solidFill>
                        <a:srgbClr val="D9E3DF"/>
                      </a:solidFill>
                      <a:prstDash val="solid"/>
                    </a:lnR>
                    <a:lnB w="9525">
                      <a:solidFill>
                        <a:srgbClr val="D9E3DF"/>
                      </a:solidFill>
                      <a:prstDash val="solid"/>
                    </a:lnB>
                    <a:solidFill>
                      <a:srgbClr val="F6F8F3"/>
                    </a:solidFill>
                  </a:tcPr>
                </a:tc>
              </a:tr>
              <a:tr h="476250">
                <a:tc>
                  <a:txBody>
                    <a:bodyPr/>
                    <a:lstStyle/>
                    <a:p>
                      <a:r>
                        <a:rPr sz="1800">
                          <a:solidFill>
                            <a:srgbClr val="102E36"/>
                          </a:solidFill>
                          <a:latin typeface="Arial"/>
                          <a:ea typeface="Arial"/>
                          <a:cs typeface="Arial"/>
                        </a:rPr>
                        <a:t>Flash</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26.37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10.80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18.76</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10.04</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11.60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10.09</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10.70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10.04</a:t>
                      </a:r>
                    </a:p>
                  </a:txBody>
                  <a:tcPr marL="114300" marR="114300" marT="114300" marB="114300">
                    <a:lnR w="9525">
                      <a:solidFill>
                        <a:srgbClr val="D9E3DF"/>
                      </a:solidFill>
                      <a:prstDash val="solid"/>
                    </a:lnR>
                    <a:lnB w="9525">
                      <a:solidFill>
                        <a:srgbClr val="D9E3DF"/>
                      </a:solidFill>
                      <a:prstDash val="solid"/>
                    </a:lnB>
                    <a:solidFill>
                      <a:srgbClr val="F6F8F3"/>
                    </a:solidFill>
                  </a:tcPr>
                </a:tc>
              </a:tr>
              <a:tr h="476250">
                <a:tc>
                  <a:txBody>
                    <a:bodyPr/>
                    <a:lstStyle/>
                    <a:p>
                      <a:r>
                        <a:rPr sz="1800">
                          <a:solidFill>
                            <a:srgbClr val="102E36"/>
                          </a:solidFill>
                          <a:latin typeface="Arial"/>
                          <a:ea typeface="Arial"/>
                          <a:cs typeface="Arial"/>
                        </a:rPr>
                        <a:t>Alt busy</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21.82</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21.82</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21.82</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13.29</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13.28</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13.51</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13.51</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13.63</a:t>
                      </a:r>
                    </a:p>
                  </a:txBody>
                  <a:tcPr marL="114300" marR="114300" marT="114300" marB="114300">
                    <a:lnR w="9525">
                      <a:solidFill>
                        <a:srgbClr val="D9E3DF"/>
                      </a:solidFill>
                      <a:prstDash val="solid"/>
                    </a:lnR>
                    <a:lnB w="9525">
                      <a:solidFill>
                        <a:srgbClr val="D9E3DF"/>
                      </a:solidFill>
                      <a:prstDash val="solid"/>
                    </a:lnB>
                    <a:solidFill>
                      <a:srgbClr val="F6F8F3"/>
                    </a:solidFill>
                  </a:tcPr>
                </a:tc>
              </a:tr>
              <a:tr h="476250">
                <a:tc>
                  <a:txBody>
                    <a:bodyPr/>
                    <a:lstStyle/>
                    <a:p>
                      <a:r>
                        <a:rPr sz="1800">
                          <a:solidFill>
                            <a:srgbClr val="102E36"/>
                          </a:solidFill>
                          <a:latin typeface="Arial"/>
                          <a:ea typeface="Arial"/>
                          <a:cs typeface="Arial"/>
                        </a:rPr>
                        <a:t>Shift</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25.58</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15.21</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19.93</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8.57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8.57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8.62</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8.62</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8.98</a:t>
                      </a:r>
                    </a:p>
                  </a:txBody>
                  <a:tcPr marL="114300" marR="114300" marT="114300" marB="114300">
                    <a:lnR w="9525">
                      <a:solidFill>
                        <a:srgbClr val="D9E3DF"/>
                      </a:solidFill>
                      <a:prstDash val="solid"/>
                    </a:lnR>
                    <a:lnB w="9525">
                      <a:solidFill>
                        <a:srgbClr val="D9E3DF"/>
                      </a:solidFill>
                      <a:prstDash val="solid"/>
                    </a:lnB>
                    <a:solidFill>
                      <a:srgbClr val="F6F8F3"/>
                    </a:solidFill>
                  </a:tcPr>
                </a:tc>
              </a:tr>
              <a:tr h="476250">
                <a:tc>
                  <a:txBody>
                    <a:bodyPr/>
                    <a:lstStyle/>
                    <a:p>
                      <a:r>
                        <a:rPr sz="1800">
                          <a:solidFill>
                            <a:srgbClr val="102E36"/>
                          </a:solidFill>
                          <a:latin typeface="Arial"/>
                          <a:ea typeface="Arial"/>
                          <a:cs typeface="Arial"/>
                        </a:rPr>
                        <a:t>Overload</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35.77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35.77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35.77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35.77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35.77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35.77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35.77</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35.77</a:t>
                      </a:r>
                    </a:p>
                  </a:txBody>
                  <a:tcPr marL="114300" marR="114300" marT="114300" marB="114300">
                    <a:lnR w="9525">
                      <a:solidFill>
                        <a:srgbClr val="D9E3DF"/>
                      </a:solidFill>
                      <a:prstDash val="solid"/>
                    </a:lnR>
                    <a:lnB w="9525">
                      <a:solidFill>
                        <a:srgbClr val="D9E3DF"/>
                      </a:solidFill>
                      <a:prstDash val="solid"/>
                    </a:lnB>
                    <a:solidFill>
                      <a:srgbClr val="F6F8F3"/>
                    </a:solidFill>
                  </a:tcPr>
                </a:tc>
              </a:tr>
              <a:tr h="476250">
                <a:tc>
                  <a:txBody>
                    <a:bodyPr/>
                    <a:lstStyle/>
                    <a:p>
                      <a:r>
                        <a:rPr sz="1800">
                          <a:solidFill>
                            <a:srgbClr val="102E36"/>
                          </a:solidFill>
                          <a:latin typeface="Arial"/>
                          <a:ea typeface="Arial"/>
                          <a:cs typeface="Arial"/>
                        </a:rPr>
                        <a:t>Light</a:t>
                      </a:r>
                    </a:p>
                  </a:txBody>
                  <a:tcPr marL="114300" marR="114300" marT="114300" marB="11430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8.00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8.00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8.00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8.00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8.00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8.00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8.00</a:t>
                      </a:r>
                    </a:p>
                  </a:txBody>
                  <a:tcPr marL="114300" marR="114300" marT="114300" marB="114300">
                    <a:lnR w="9525">
                      <a:solidFill>
                        <a:srgbClr val="D9E3DF"/>
                      </a:solidFill>
                      <a:prstDash val="solid"/>
                    </a:lnR>
                    <a:lnB w="9525">
                      <a:solidFill>
                        <a:srgbClr val="D9E3DF"/>
                      </a:solidFill>
                      <a:prstDash val="solid"/>
                    </a:lnB>
                    <a:solidFill>
                      <a:srgbClr val="F6F8F3"/>
                    </a:solidFill>
                  </a:tcPr>
                </a:tc>
                <a:tc>
                  <a:txBody>
                    <a:bodyPr/>
                    <a:lstStyle/>
                    <a:p>
                      <a:r>
                        <a:rPr sz="1800">
                          <a:solidFill>
                            <a:srgbClr val="102E36"/>
                          </a:solidFill>
                          <a:latin typeface="Arial"/>
                          <a:ea typeface="Arial"/>
                          <a:cs typeface="Arial"/>
                        </a:rPr>
                        <a:t>8.00</a:t>
                      </a:r>
                    </a:p>
                  </a:txBody>
                  <a:tcPr marL="114300" marR="114300" marT="114300" marB="11430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CB26FF13-2ACA-461D-A394-22FA8A2B48C4}"/>
              </a:ext>
            </a:extLst>
          </p:cNvPr>
          <p:cNvSpPr>
            <a:spLocks xmlns:a="http://schemas.openxmlformats.org/drawingml/2006/main" noGrp="1"/>
          </p:cNvSpPr>
          <p:nvPr/>
        </p:nvSpPr>
        <p:spPr>
          <a:xfrm xmlns:a="http://schemas.openxmlformats.org/drawingml/2006/main">
            <a:off x="666750" y="53149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H1: guarded controller without memory</a:t>
            </a:r>
          </a:p>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A3: the same base controller with balanced, feasible memory</a:t>
            </a:r>
          </a:p>
        </p:txBody>
      </p:sp>
    </p:spTree>
    <p:extLst>
      <p:ext uri="{BB962C8B-B14F-4D97-AF65-F5344CB8AC3E}">
        <p14:creationId xmlns:p14="http://schemas.microsoft.com/office/powerpoint/2010/main" val="1525479040"/>
      </p:ext>
    </p:extLst>
  </p:cSld>
</p:sld>
</file>

<file path=ppt/slides/slide18.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F80E955-BA91-4161-A699-60375FBAF65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Memory after the same guard</a:t>
            </a:r>
          </a:p>
        </p:txBody>
      </p:sp>
      <p:sp>
        <p:nvSpPr>
          <p:cNvPr id="3" name="">
            <a:extLst xmlns:a="http://schemas.openxmlformats.org/drawingml/2006/main">
              <a:ext uri="{FF2B5EF4-FFF2-40B4-BE49-F238E27FC236}">
                <a16:creationId xmlns:a16="http://schemas.microsoft.com/office/drawing/2014/main" id="{CECB5BA8-47CE-4946-A693-F36B12C66C5B}"/>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18 / SELF-X</a:t>
            </a:r>
          </a:p>
        </p:txBody>
      </p:sp>
      <p:sp>
        <p:nvSpPr>
          <p:cNvPr id="4" name="">
            <a:extLst xmlns:a="http://schemas.openxmlformats.org/drawingml/2006/main">
              <a:ext uri="{FF2B5EF4-FFF2-40B4-BE49-F238E27FC236}">
                <a16:creationId xmlns:a16="http://schemas.microsoft.com/office/drawing/2014/main" id="{7A65E57B-9002-4BC1-9EF3-31E8F40DEA49}"/>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Mean modeled delay in ms; bootstrap intervals are in the report</a:t>
            </a:r>
          </a:p>
        </p:txBody>
      </p:sp>
      <p:graphicFrame>
        <p:nvGraphicFramePr>
          <p:cNvPr id="5" name="Chart">
            <a:extLst xmlns:a="http://schemas.openxmlformats.org/drawingml/2006/main">
              <a:ext uri="{FF2B5EF4-FFF2-40B4-BE49-F238E27FC236}">
                <a16:creationId xmlns:a16="http://schemas.microsoft.com/office/drawing/2014/main" id="{6C1B0BB6-1A25-4B89-B204-24E7968A2B83}"/>
              </a:ext>
            </a:extLst>
          </p:cNvPr>
          <p:cNvGraphicFramePr/>
          <p:nvPr/>
        </p:nvGraphicFramePr>
        <p:xfrm>
          <a:off xmlns:a="http://schemas.openxmlformats.org/drawingml/2006/main" x="666750" y="1714500"/>
          <a:ext xmlns:a="http://schemas.openxmlformats.org/drawingml/2006/main" cx="10810875" cy="3619500"/>
        </p:xfrm>
        <a:graphic xmlns:a="http://schemas.openxmlformats.org/drawingml/2006/main">
          <a:graphicData uri="http://schemas.openxmlformats.org/drawingml/2006/chart">
            <c:chart xmlns:r="http://schemas.openxmlformats.org/officeDocument/2006/relationships" xmlns:c="http://schemas.openxmlformats.org/drawingml/2006/chart" r:id="R9525e196ba614549"/>
          </a:graphicData>
        </a:graphic>
      </p:graphicFrame>
      <p:sp>
        <p:nvSpPr>
          <p:cNvPr id="6" name="">
            <a:extLst xmlns:a="http://schemas.openxmlformats.org/drawingml/2006/main">
              <a:ext uri="{FF2B5EF4-FFF2-40B4-BE49-F238E27FC236}">
                <a16:creationId xmlns:a16="http://schemas.microsoft.com/office/drawing/2014/main" id="{00B4BAF7-B561-45BE-AE78-4AE90B2451EC}"/>
              </a:ext>
            </a:extLst>
          </p:cNvPr>
          <p:cNvSpPr>
            <a:spLocks xmlns:a="http://schemas.openxmlformats.org/drawingml/2006/main" noGrp="1"/>
          </p:cNvSpPr>
          <p:nvPr/>
        </p:nvSpPr>
        <p:spPr>
          <a:xfrm xmlns:a="http://schemas.openxmlformats.org/drawingml/2006/main">
            <a:off x="666750" y="557212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007D76"/>
                </a:solidFill>
                <a:latin typeface="Arial"/>
                <a:ea typeface="Arial"/>
                <a:cs typeface="Arial"/>
              </a:defRPr>
            </a:defPPr>
            <a:lvl1pPr>
              <a:defRPr sz="2025" b="0">
                <a:solidFill>
                  <a:srgbClr val="007D76"/>
                </a:solidFill>
                <a:latin typeface="Arial"/>
                <a:ea typeface="Arial"/>
                <a:cs typeface="Arial"/>
              </a:defRPr>
            </a:lvl1pPr>
            <a:lvl2pPr>
              <a:defRPr sz="2025" b="0">
                <a:solidFill>
                  <a:srgbClr val="007D76"/>
                </a:solidFill>
                <a:latin typeface="Arial"/>
                <a:ea typeface="Arial"/>
                <a:cs typeface="Arial"/>
              </a:defRPr>
            </a:lvl2pPr>
            <a:lvl3pPr>
              <a:defRPr sz="2025" b="0">
                <a:solidFill>
                  <a:srgbClr val="007D76"/>
                </a:solidFill>
                <a:latin typeface="Arial"/>
                <a:ea typeface="Arial"/>
                <a:cs typeface="Arial"/>
              </a:defRPr>
            </a:lvl3pPr>
            <a:lvl4pPr>
              <a:defRPr sz="2025" b="0">
                <a:solidFill>
                  <a:srgbClr val="007D76"/>
                </a:solidFill>
                <a:latin typeface="Arial"/>
                <a:ea typeface="Arial"/>
                <a:cs typeface="Arial"/>
              </a:defRPr>
            </a:lvl4pPr>
            <a:lvl5pPr>
              <a:defRPr sz="2025" b="0">
                <a:solidFill>
                  <a:srgbClr val="007D76"/>
                </a:solidFill>
                <a:latin typeface="Arial"/>
                <a:ea typeface="Arial"/>
                <a:cs typeface="Arial"/>
              </a:defRPr>
            </a:lvl5pPr>
            <a:lvl6pPr>
              <a:defRPr sz="2025" b="0">
                <a:solidFill>
                  <a:srgbClr val="007D76"/>
                </a:solidFill>
                <a:latin typeface="Arial"/>
                <a:ea typeface="Arial"/>
                <a:cs typeface="Arial"/>
              </a:defRPr>
            </a:lvl6pPr>
            <a:lvl7pPr>
              <a:defRPr sz="2025" b="0">
                <a:solidFill>
                  <a:srgbClr val="007D76"/>
                </a:solidFill>
                <a:latin typeface="Arial"/>
                <a:ea typeface="Arial"/>
                <a:cs typeface="Arial"/>
              </a:defRPr>
            </a:lvl7pPr>
            <a:lvl8pPr>
              <a:defRPr sz="2025" b="0">
                <a:solidFill>
                  <a:srgbClr val="007D76"/>
                </a:solidFill>
                <a:latin typeface="Arial"/>
                <a:ea typeface="Arial"/>
                <a:cs typeface="Arial"/>
              </a:defRPr>
            </a:lvl8pPr>
            <a:lvl9pPr>
              <a:defRPr sz="2025" b="0">
                <a:solidFill>
                  <a:srgbClr val="007D76"/>
                </a:solidFill>
                <a:latin typeface="Arial"/>
                <a:ea typeface="Arial"/>
                <a:cs typeface="Arial"/>
              </a:defRPr>
            </a:lvl9pPr>
          </a:lstStyle>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Mixed load: A3 minus H1 = +0.473 ms.</a:t>
            </a:r>
          </a:p>
          <a:p xmlns:a="http://schemas.openxmlformats.org/drawingml/2006/main">
            <a:pPr>
              <a:defRPr sz="2025" b="0">
                <a:solidFill>
                  <a:srgbClr val="007D76"/>
                </a:solidFill>
                <a:latin typeface="Arial"/>
                <a:ea typeface="Arial"/>
                <a:cs typeface="Arial"/>
              </a:defRPr>
            </a:pPr>
            <a:r>
              <a:rPr sz="2025" b="0">
                <a:solidFill>
                  <a:srgbClr val="007D76"/>
                </a:solidFill>
                <a:latin typeface="Arial"/>
                <a:ea typeface="Arial"/>
                <a:cs typeface="Arial"/>
              </a:rPr>
              <a:t>The added memory did not improve this comparison.</a:t>
            </a:r>
          </a:p>
        </p:txBody>
      </p:sp>
    </p:spTree>
    <p:extLst>
      <p:ext uri="{BB962C8B-B14F-4D97-AF65-F5344CB8AC3E}">
        <p14:creationId xmlns:p14="http://schemas.microsoft.com/office/powerpoint/2010/main" val="623592143"/>
      </p:ext>
    </p:extLst>
  </p:cSld>
</p:sld>
</file>

<file path=ppt/slides/slide19.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3ABEE45-55B2-40BB-A8FE-893F205CE9FB}"/>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Aggregate performance and feasibility</a:t>
            </a:r>
          </a:p>
        </p:txBody>
      </p:sp>
      <p:sp>
        <p:nvSpPr>
          <p:cNvPr id="3" name="">
            <a:extLst xmlns:a="http://schemas.openxmlformats.org/drawingml/2006/main">
              <a:ext uri="{FF2B5EF4-FFF2-40B4-BE49-F238E27FC236}">
                <a16:creationId xmlns:a16="http://schemas.microsoft.com/office/drawing/2014/main" id="{ADC10F96-5B0A-4014-9736-1ECC96C61299}"/>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19 / SELF-X</a:t>
            </a:r>
          </a:p>
        </p:txBody>
      </p:sp>
      <p:sp>
        <p:nvSpPr>
          <p:cNvPr id="4" name="">
            <a:extLst xmlns:a="http://schemas.openxmlformats.org/drawingml/2006/main">
              <a:ext uri="{FF2B5EF4-FFF2-40B4-BE49-F238E27FC236}">
                <a16:creationId xmlns:a16="http://schemas.microsoft.com/office/drawing/2014/main" id="{D4E97765-49E6-4E22-A4F1-9DE672978900}"/>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Equal weights across six scenarios and ten seeds</a:t>
            </a:r>
          </a:p>
        </p:txBody>
      </p:sp>
      <p:graphicFrame>
        <p:nvGraphicFramePr>
          <p:cNvPr id="5" name="">
            <a:extLst xmlns:a="http://schemas.openxmlformats.org/drawingml/2006/main">
              <a:ext uri="{FF2B5EF4-FFF2-40B4-BE49-F238E27FC236}">
                <a16:creationId xmlns:a16="http://schemas.microsoft.com/office/drawing/2014/main" id="{C1D96F9B-1D40-4A45-9777-9C77B64586B7}"/>
              </a:ext>
            </a:extLst>
          </p:cNvPr>
          <p:cNvGraphicFramePr/>
          <p:nvPr/>
        </p:nvGraphicFramePr>
        <p:xfrm>
          <a:off xmlns:a="http://schemas.openxmlformats.org/drawingml/2006/main" x="609600" y="1685925"/>
          <a:ext xmlns:a="http://schemas.openxmlformats.org/drawingml/2006/main" cx="10972800" cy="3905250"/>
        </p:xfrm>
        <a:graphic xmlns:a="http://schemas.openxmlformats.org/drawingml/2006/main">
          <a:graphicData uri="http://schemas.openxmlformats.org/drawingml/2006/table">
            <a:tbl>
              <a:tblPr/>
              <a:tblGrid>
                <a:gridCol w="1047750"/>
                <a:gridCol w="2381250"/>
                <a:gridCol w="2667000"/>
                <a:gridCol w="2571750"/>
                <a:gridCol w="2305050"/>
              </a:tblGrid>
              <a:tr h="433917">
                <a:tc>
                  <a:txBody>
                    <a:bodyPr/>
                    <a:lstStyle/>
                    <a:p>
                      <a:r>
                        <a:rPr sz="1725" b="1">
                          <a:solidFill>
                            <a:srgbClr val="102E36"/>
                          </a:solidFill>
                          <a:latin typeface="Arial"/>
                          <a:ea typeface="Arial"/>
                          <a:cs typeface="Arial"/>
                        </a:rPr>
                        <a:t>ID</a:t>
                      </a:r>
                    </a:p>
                  </a:txBody>
                  <a:tcPr marL="114300" marR="114300" marT="57150" marB="57150">
                    <a:lnL w="9525">
                      <a:solidFill>
                        <a:srgbClr val="D9E3DF"/>
                      </a:solidFill>
                      <a:prstDash val="solid"/>
                    </a:lnL>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Delay ms</a:t>
                      </a:r>
                    </a:p>
                  </a:txBody>
                  <a:tcPr marL="114300" marR="11430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Goodput Mbps</a:t>
                      </a:r>
                    </a:p>
                  </a:txBody>
                  <a:tcPr marL="114300" marR="11430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Mean loss %</a:t>
                      </a:r>
                    </a:p>
                  </a:txBody>
                  <a:tcPr marL="114300" marR="11430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c>
                  <a:txBody>
                    <a:bodyPr/>
                    <a:lstStyle/>
                    <a:p>
                      <a:r>
                        <a:rPr sz="1725" b="1">
                          <a:solidFill>
                            <a:srgbClr val="102E36"/>
                          </a:solidFill>
                          <a:latin typeface="Arial"/>
                          <a:ea typeface="Arial"/>
                          <a:cs typeface="Arial"/>
                        </a:rPr>
                        <a:t>Vetoes</a:t>
                      </a:r>
                    </a:p>
                  </a:txBody>
                  <a:tcPr marL="114300" marR="114300" marT="57150" marB="57150">
                    <a:lnR w="9525">
                      <a:solidFill>
                        <a:srgbClr val="D9E3DF"/>
                      </a:solidFill>
                      <a:prstDash val="solid"/>
                    </a:lnR>
                    <a:lnT w="9525">
                      <a:solidFill>
                        <a:srgbClr val="D9E3DF"/>
                      </a:solidFill>
                      <a:prstDash val="solid"/>
                    </a:lnT>
                    <a:lnB w="9525">
                      <a:solidFill>
                        <a:srgbClr val="D9E3DF"/>
                      </a:solidFill>
                      <a:prstDash val="solid"/>
                    </a:lnB>
                    <a:solidFill>
                      <a:srgbClr val="E8F0E9"/>
                    </a:solidFill>
                  </a:tcPr>
                </a:tc>
              </a:tr>
              <a:tr h="433917">
                <a:tc>
                  <a:txBody>
                    <a:bodyPr/>
                    <a:lstStyle/>
                    <a:p>
                      <a:r>
                        <a:rPr sz="1725">
                          <a:solidFill>
                            <a:srgbClr val="102E36"/>
                          </a:solidFill>
                          <a:latin typeface="Arial"/>
                          <a:ea typeface="Arial"/>
                          <a:cs typeface="Arial"/>
                        </a:rPr>
                        <a:t>A0</a:t>
                      </a:r>
                    </a:p>
                  </a:txBody>
                  <a:tcPr marL="114300" marR="11430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24.666</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12.929</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7.808</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114300" marR="114300" marT="57150" marB="57150">
                    <a:lnR w="9525">
                      <a:solidFill>
                        <a:srgbClr val="D9E3DF"/>
                      </a:solidFill>
                      <a:prstDash val="solid"/>
                    </a:lnR>
                    <a:lnB w="9525">
                      <a:solidFill>
                        <a:srgbClr val="D9E3DF"/>
                      </a:solidFill>
                      <a:prstDash val="solid"/>
                    </a:lnB>
                    <a:solidFill>
                      <a:srgbClr val="F6F8F3"/>
                    </a:solidFill>
                  </a:tcPr>
                </a:tc>
              </a:tr>
              <a:tr h="433917">
                <a:tc>
                  <a:txBody>
                    <a:bodyPr/>
                    <a:lstStyle/>
                    <a:p>
                      <a:r>
                        <a:rPr sz="1725">
                          <a:solidFill>
                            <a:srgbClr val="102E36"/>
                          </a:solidFill>
                          <a:latin typeface="Arial"/>
                          <a:ea typeface="Arial"/>
                          <a:cs typeface="Arial"/>
                        </a:rPr>
                        <a:t>B1</a:t>
                      </a:r>
                    </a:p>
                  </a:txBody>
                  <a:tcPr marL="114300" marR="11430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19.829</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13.041</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6.941</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114300" marR="114300" marT="57150" marB="57150">
                    <a:lnR w="9525">
                      <a:solidFill>
                        <a:srgbClr val="D9E3DF"/>
                      </a:solidFill>
                      <a:prstDash val="solid"/>
                    </a:lnR>
                    <a:lnB w="9525">
                      <a:solidFill>
                        <a:srgbClr val="D9E3DF"/>
                      </a:solidFill>
                      <a:prstDash val="solid"/>
                    </a:lnB>
                    <a:solidFill>
                      <a:srgbClr val="F6F8F3"/>
                    </a:solidFill>
                  </a:tcPr>
                </a:tc>
              </a:tr>
              <a:tr h="433917">
                <a:tc>
                  <a:txBody>
                    <a:bodyPr/>
                    <a:lstStyle/>
                    <a:p>
                      <a:r>
                        <a:rPr sz="1725">
                          <a:solidFill>
                            <a:srgbClr val="102E36"/>
                          </a:solidFill>
                          <a:latin typeface="Arial"/>
                          <a:ea typeface="Arial"/>
                          <a:cs typeface="Arial"/>
                        </a:rPr>
                        <a:t>B2</a:t>
                      </a:r>
                    </a:p>
                  </a:txBody>
                  <a:tcPr marL="114300" marR="11430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22.180</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12.986</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7.363</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1887</a:t>
                      </a:r>
                    </a:p>
                  </a:txBody>
                  <a:tcPr marL="114300" marR="114300" marT="57150" marB="57150">
                    <a:lnR w="9525">
                      <a:solidFill>
                        <a:srgbClr val="D9E3DF"/>
                      </a:solidFill>
                      <a:prstDash val="solid"/>
                    </a:lnR>
                    <a:lnB w="9525">
                      <a:solidFill>
                        <a:srgbClr val="D9E3DF"/>
                      </a:solidFill>
                      <a:prstDash val="solid"/>
                    </a:lnB>
                    <a:solidFill>
                      <a:srgbClr val="F6F8F3"/>
                    </a:solidFill>
                  </a:tcPr>
                </a:tc>
              </a:tr>
              <a:tr h="433917">
                <a:tc>
                  <a:txBody>
                    <a:bodyPr/>
                    <a:lstStyle/>
                    <a:p>
                      <a:r>
                        <a:rPr sz="1725">
                          <a:solidFill>
                            <a:srgbClr val="102E36"/>
                          </a:solidFill>
                          <a:latin typeface="Arial"/>
                          <a:ea typeface="Arial"/>
                          <a:cs typeface="Arial"/>
                        </a:rPr>
                        <a:t>A1</a:t>
                      </a:r>
                    </a:p>
                  </a:txBody>
                  <a:tcPr marL="114300" marR="11430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16.565</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12.875</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7.902</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114300" marR="114300" marT="57150" marB="57150">
                    <a:lnR w="9525">
                      <a:solidFill>
                        <a:srgbClr val="D9E3DF"/>
                      </a:solidFill>
                      <a:prstDash val="solid"/>
                    </a:lnR>
                    <a:lnB w="9525">
                      <a:solidFill>
                        <a:srgbClr val="D9E3DF"/>
                      </a:solidFill>
                      <a:prstDash val="solid"/>
                    </a:lnB>
                    <a:solidFill>
                      <a:srgbClr val="F6F8F3"/>
                    </a:solidFill>
                  </a:tcPr>
                </a:tc>
              </a:tr>
              <a:tr h="433917">
                <a:tc>
                  <a:txBody>
                    <a:bodyPr/>
                    <a:lstStyle/>
                    <a:p>
                      <a:r>
                        <a:rPr sz="1725">
                          <a:solidFill>
                            <a:srgbClr val="102E36"/>
                          </a:solidFill>
                          <a:latin typeface="Arial"/>
                          <a:ea typeface="Arial"/>
                          <a:cs typeface="Arial"/>
                        </a:rPr>
                        <a:t>A2</a:t>
                      </a:r>
                    </a:p>
                  </a:txBody>
                  <a:tcPr marL="114300" marR="11430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16.964</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12.824</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8.314</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134</a:t>
                      </a:r>
                    </a:p>
                  </a:txBody>
                  <a:tcPr marL="114300" marR="114300" marT="57150" marB="57150">
                    <a:lnR w="9525">
                      <a:solidFill>
                        <a:srgbClr val="D9E3DF"/>
                      </a:solidFill>
                      <a:prstDash val="solid"/>
                    </a:lnR>
                    <a:lnB w="9525">
                      <a:solidFill>
                        <a:srgbClr val="D9E3DF"/>
                      </a:solidFill>
                      <a:prstDash val="solid"/>
                    </a:lnB>
                    <a:solidFill>
                      <a:srgbClr val="F6F8F3"/>
                    </a:solidFill>
                  </a:tcPr>
                </a:tc>
              </a:tr>
              <a:tr h="433917">
                <a:tc>
                  <a:txBody>
                    <a:bodyPr/>
                    <a:lstStyle/>
                    <a:p>
                      <a:r>
                        <a:rPr sz="1725">
                          <a:solidFill>
                            <a:srgbClr val="102E36"/>
                          </a:solidFill>
                          <a:latin typeface="Arial"/>
                          <a:ea typeface="Arial"/>
                          <a:cs typeface="Arial"/>
                        </a:rPr>
                        <a:t>H1</a:t>
                      </a:r>
                    </a:p>
                  </a:txBody>
                  <a:tcPr marL="114300" marR="11430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16.649</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12.979</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7.291</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114300" marR="114300" marT="57150" marB="57150">
                    <a:lnR w="9525">
                      <a:solidFill>
                        <a:srgbClr val="D9E3DF"/>
                      </a:solidFill>
                      <a:prstDash val="solid"/>
                    </a:lnR>
                    <a:lnB w="9525">
                      <a:solidFill>
                        <a:srgbClr val="D9E3DF"/>
                      </a:solidFill>
                      <a:prstDash val="solid"/>
                    </a:lnB>
                    <a:solidFill>
                      <a:srgbClr val="F6F8F3"/>
                    </a:solidFill>
                  </a:tcPr>
                </a:tc>
              </a:tr>
              <a:tr h="433917">
                <a:tc>
                  <a:txBody>
                    <a:bodyPr/>
                    <a:lstStyle/>
                    <a:p>
                      <a:r>
                        <a:rPr sz="1725">
                          <a:solidFill>
                            <a:srgbClr val="102E36"/>
                          </a:solidFill>
                          <a:latin typeface="Arial"/>
                          <a:ea typeface="Arial"/>
                          <a:cs typeface="Arial"/>
                        </a:rPr>
                        <a:t>A3</a:t>
                      </a:r>
                    </a:p>
                  </a:txBody>
                  <a:tcPr marL="114300" marR="11430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16.829</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12.960</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7.443</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114300" marR="114300" marT="57150" marB="57150">
                    <a:lnR w="9525">
                      <a:solidFill>
                        <a:srgbClr val="D9E3DF"/>
                      </a:solidFill>
                      <a:prstDash val="solid"/>
                    </a:lnR>
                    <a:lnB w="9525">
                      <a:solidFill>
                        <a:srgbClr val="D9E3DF"/>
                      </a:solidFill>
                      <a:prstDash val="solid"/>
                    </a:lnB>
                    <a:solidFill>
                      <a:srgbClr val="F6F8F3"/>
                    </a:solidFill>
                  </a:tcPr>
                </a:tc>
              </a:tr>
              <a:tr h="433917">
                <a:tc>
                  <a:txBody>
                    <a:bodyPr/>
                    <a:lstStyle/>
                    <a:p>
                      <a:r>
                        <a:rPr sz="1725">
                          <a:solidFill>
                            <a:srgbClr val="102E36"/>
                          </a:solidFill>
                          <a:latin typeface="Arial"/>
                          <a:ea typeface="Arial"/>
                          <a:cs typeface="Arial"/>
                        </a:rPr>
                        <a:t>O1</a:t>
                      </a:r>
                    </a:p>
                  </a:txBody>
                  <a:tcPr marL="114300" marR="114300" marT="57150" marB="57150">
                    <a:lnL w="9525">
                      <a:solidFill>
                        <a:srgbClr val="D9E3DF"/>
                      </a:solidFill>
                      <a:prstDash val="solid"/>
                    </a:lnL>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16.700</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12.987</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7.246</a:t>
                      </a:r>
                    </a:p>
                  </a:txBody>
                  <a:tcPr marL="114300" marR="114300" marT="57150" marB="57150">
                    <a:lnR w="9525">
                      <a:solidFill>
                        <a:srgbClr val="D9E3DF"/>
                      </a:solidFill>
                      <a:prstDash val="solid"/>
                    </a:lnR>
                    <a:lnB w="9525">
                      <a:solidFill>
                        <a:srgbClr val="D9E3DF"/>
                      </a:solidFill>
                      <a:prstDash val="solid"/>
                    </a:lnB>
                    <a:solidFill>
                      <a:srgbClr val="F6F8F3"/>
                    </a:solidFill>
                  </a:tcPr>
                </a:tc>
                <a:tc>
                  <a:txBody>
                    <a:bodyPr/>
                    <a:lstStyle/>
                    <a:p>
                      <a:r>
                        <a:rPr sz="1725">
                          <a:solidFill>
                            <a:srgbClr val="102E36"/>
                          </a:solidFill>
                          <a:latin typeface="Arial"/>
                          <a:ea typeface="Arial"/>
                          <a:cs typeface="Arial"/>
                        </a:rPr>
                        <a:t>0</a:t>
                      </a:r>
                    </a:p>
                  </a:txBody>
                  <a:tcPr marL="114300" marR="114300" marT="57150" marB="57150">
                    <a:lnR w="9525">
                      <a:solidFill>
                        <a:srgbClr val="D9E3DF"/>
                      </a:solidFill>
                      <a:prstDash val="solid"/>
                    </a:lnR>
                    <a:lnB w="9525">
                      <a:solidFill>
                        <a:srgbClr val="D9E3DF"/>
                      </a:solidFill>
                      <a:prstDash val="solid"/>
                    </a:lnB>
                    <a:solidFill>
                      <a:srgbClr val="F6F8F3"/>
                    </a:solidFill>
                  </a:tcPr>
                </a:tc>
              </a:tr>
            </a:tbl>
          </a:graphicData>
        </a:graphic>
      </p:graphicFrame>
      <p:sp>
        <p:nvSpPr>
          <p:cNvPr id="6" name="">
            <a:extLst xmlns:a="http://schemas.openxmlformats.org/drawingml/2006/main">
              <a:ext uri="{FF2B5EF4-FFF2-40B4-BE49-F238E27FC236}">
                <a16:creationId xmlns:a16="http://schemas.microsoft.com/office/drawing/2014/main" id="{4F5ED3C6-3C53-4F22-A750-7BF81ACE34BD}"/>
              </a:ext>
            </a:extLst>
          </p:cNvPr>
          <p:cNvSpPr>
            <a:spLocks xmlns:a="http://schemas.openxmlformats.org/drawingml/2006/main" noGrp="1"/>
          </p:cNvSpPr>
          <p:nvPr/>
        </p:nvSpPr>
        <p:spPr>
          <a:xfrm xmlns:a="http://schemas.openxmlformats.org/drawingml/2006/main">
            <a:off x="647700" y="580072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007D76"/>
                </a:solidFill>
                <a:latin typeface="Arial"/>
                <a:ea typeface="Arial"/>
                <a:cs typeface="Arial"/>
              </a:defRPr>
            </a:defPPr>
            <a:lvl1pPr>
              <a:defRPr sz="1875" b="0">
                <a:solidFill>
                  <a:srgbClr val="007D76"/>
                </a:solidFill>
                <a:latin typeface="Arial"/>
                <a:ea typeface="Arial"/>
                <a:cs typeface="Arial"/>
              </a:defRPr>
            </a:lvl1pPr>
            <a:lvl2pPr>
              <a:defRPr sz="1875" b="0">
                <a:solidFill>
                  <a:srgbClr val="007D76"/>
                </a:solidFill>
                <a:latin typeface="Arial"/>
                <a:ea typeface="Arial"/>
                <a:cs typeface="Arial"/>
              </a:defRPr>
            </a:lvl2pPr>
            <a:lvl3pPr>
              <a:defRPr sz="1875" b="0">
                <a:solidFill>
                  <a:srgbClr val="007D76"/>
                </a:solidFill>
                <a:latin typeface="Arial"/>
                <a:ea typeface="Arial"/>
                <a:cs typeface="Arial"/>
              </a:defRPr>
            </a:lvl3pPr>
            <a:lvl4pPr>
              <a:defRPr sz="1875" b="0">
                <a:solidFill>
                  <a:srgbClr val="007D76"/>
                </a:solidFill>
                <a:latin typeface="Arial"/>
                <a:ea typeface="Arial"/>
                <a:cs typeface="Arial"/>
              </a:defRPr>
            </a:lvl4pPr>
            <a:lvl5pPr>
              <a:defRPr sz="1875" b="0">
                <a:solidFill>
                  <a:srgbClr val="007D76"/>
                </a:solidFill>
                <a:latin typeface="Arial"/>
                <a:ea typeface="Arial"/>
                <a:cs typeface="Arial"/>
              </a:defRPr>
            </a:lvl5pPr>
            <a:lvl6pPr>
              <a:defRPr sz="1875" b="0">
                <a:solidFill>
                  <a:srgbClr val="007D76"/>
                </a:solidFill>
                <a:latin typeface="Arial"/>
                <a:ea typeface="Arial"/>
                <a:cs typeface="Arial"/>
              </a:defRPr>
            </a:lvl6pPr>
            <a:lvl7pPr>
              <a:defRPr sz="1875" b="0">
                <a:solidFill>
                  <a:srgbClr val="007D76"/>
                </a:solidFill>
                <a:latin typeface="Arial"/>
                <a:ea typeface="Arial"/>
                <a:cs typeface="Arial"/>
              </a:defRPr>
            </a:lvl7pPr>
            <a:lvl8pPr>
              <a:defRPr sz="1875" b="0">
                <a:solidFill>
                  <a:srgbClr val="007D76"/>
                </a:solidFill>
                <a:latin typeface="Arial"/>
                <a:ea typeface="Arial"/>
                <a:cs typeface="Arial"/>
              </a:defRPr>
            </a:lvl8pPr>
            <a:lvl9pPr>
              <a:defRPr sz="1875" b="0">
                <a:solidFill>
                  <a:srgbClr val="007D76"/>
                </a:solidFill>
                <a:latin typeface="Arial"/>
                <a:ea typeface="Arial"/>
                <a:cs typeface="Arial"/>
              </a:defRPr>
            </a:lvl9pPr>
          </a:lstStyle>
          <a:p xmlns:a="http://schemas.openxmlformats.org/drawingml/2006/main">
            <a:pPr>
              <a:defRPr sz="1875" b="0">
                <a:solidFill>
                  <a:srgbClr val="007D76"/>
                </a:solidFill>
                <a:latin typeface="Arial"/>
                <a:ea typeface="Arial"/>
                <a:cs typeface="Arial"/>
              </a:defRPr>
            </a:pPr>
            <a:r>
              <a:rPr sz="1875" b="0">
                <a:solidFill>
                  <a:srgbClr val="007D76"/>
                </a:solidFill>
                <a:latin typeface="Arial"/>
                <a:ea typeface="Arial"/>
                <a:cs typeface="Arial"/>
              </a:rPr>
              <a:t>A2: 134 rejected proposals. A3: 0. Performance remains a separate question.</a:t>
            </a:r>
          </a:p>
        </p:txBody>
      </p:sp>
    </p:spTree>
    <p:extLst>
      <p:ext uri="{BB962C8B-B14F-4D97-AF65-F5344CB8AC3E}">
        <p14:creationId xmlns:p14="http://schemas.microsoft.com/office/powerpoint/2010/main" val="2032845068"/>
      </p:ext>
    </p:extLst>
  </p:cSld>
</p:sld>
</file>

<file path=ppt/slides/slide20.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B8EDF08-F23A-4667-B277-E1B75FE10746}"/>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Measured offline computation overhead</a:t>
            </a:r>
          </a:p>
        </p:txBody>
      </p:sp>
      <p:sp>
        <p:nvSpPr>
          <p:cNvPr id="3" name="">
            <a:extLst xmlns:a="http://schemas.openxmlformats.org/drawingml/2006/main">
              <a:ext uri="{FF2B5EF4-FFF2-40B4-BE49-F238E27FC236}">
                <a16:creationId xmlns:a16="http://schemas.microsoft.com/office/drawing/2014/main" id="{9C3F1B4C-452A-422B-B30E-E6F732BE9E46}"/>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20 / SELF-X</a:t>
            </a:r>
          </a:p>
        </p:txBody>
      </p:sp>
      <p:sp>
        <p:nvSpPr>
          <p:cNvPr id="4" name="">
            <a:extLst xmlns:a="http://schemas.openxmlformats.org/drawingml/2006/main">
              <a:ext uri="{FF2B5EF4-FFF2-40B4-BE49-F238E27FC236}">
                <a16:creationId xmlns:a16="http://schemas.microsoft.com/office/drawing/2014/main" id="{08539F68-E981-481C-AC4E-BA57E9180BFF}"/>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Mean control-loop computation in ms; excludes final memory flush</a:t>
            </a:r>
          </a:p>
        </p:txBody>
      </p:sp>
      <p:graphicFrame>
        <p:nvGraphicFramePr>
          <p:cNvPr id="5" name="Chart">
            <a:extLst xmlns:a="http://schemas.openxmlformats.org/drawingml/2006/main">
              <a:ext uri="{FF2B5EF4-FFF2-40B4-BE49-F238E27FC236}">
                <a16:creationId xmlns:a16="http://schemas.microsoft.com/office/drawing/2014/main" id="{AEAFBA62-994A-4621-80CF-962630ADA4E3}"/>
              </a:ext>
            </a:extLst>
          </p:cNvPr>
          <p:cNvGraphicFramePr/>
          <p:nvPr/>
        </p:nvGraphicFramePr>
        <p:xfrm>
          <a:off xmlns:a="http://schemas.openxmlformats.org/drawingml/2006/main" x="666750" y="1714500"/>
          <a:ext xmlns:a="http://schemas.openxmlformats.org/drawingml/2006/main" cx="10810875" cy="3619500"/>
        </p:xfrm>
        <a:graphic xmlns:a="http://schemas.openxmlformats.org/drawingml/2006/main">
          <a:graphicData uri="http://schemas.openxmlformats.org/drawingml/2006/chart">
            <c:chart xmlns:r="http://schemas.openxmlformats.org/officeDocument/2006/relationships" xmlns:c="http://schemas.openxmlformats.org/drawingml/2006/chart" r:id="Rc40e7375396e41f4"/>
          </a:graphicData>
        </a:graphic>
      </p:graphicFrame>
      <p:sp>
        <p:nvSpPr>
          <p:cNvPr id="6" name="">
            <a:extLst xmlns:a="http://schemas.openxmlformats.org/drawingml/2006/main">
              <a:ext uri="{FF2B5EF4-FFF2-40B4-BE49-F238E27FC236}">
                <a16:creationId xmlns:a16="http://schemas.microsoft.com/office/drawing/2014/main" id="{76AE2DB5-4661-49B2-A5E8-9033658460B3}"/>
              </a:ext>
            </a:extLst>
          </p:cNvPr>
          <p:cNvSpPr>
            <a:spLocks xmlns:a="http://schemas.openxmlformats.org/drawingml/2006/main" noGrp="1"/>
          </p:cNvSpPr>
          <p:nvPr/>
        </p:nvSpPr>
        <p:spPr>
          <a:xfrm xmlns:a="http://schemas.openxmlformats.org/drawingml/2006/main">
            <a:off x="666750" y="558165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E36"/>
                </a:solidFill>
                <a:latin typeface="Arial"/>
                <a:ea typeface="Arial"/>
                <a:cs typeface="Arial"/>
              </a:defRPr>
            </a:defPPr>
            <a:lvl1pPr>
              <a:defRPr sz="2025" b="0">
                <a:solidFill>
                  <a:srgbClr val="102E36"/>
                </a:solidFill>
                <a:latin typeface="Arial"/>
                <a:ea typeface="Arial"/>
                <a:cs typeface="Arial"/>
              </a:defRPr>
            </a:lvl1pPr>
            <a:lvl2pPr>
              <a:defRPr sz="2025" b="0">
                <a:solidFill>
                  <a:srgbClr val="102E36"/>
                </a:solidFill>
                <a:latin typeface="Arial"/>
                <a:ea typeface="Arial"/>
                <a:cs typeface="Arial"/>
              </a:defRPr>
            </a:lvl2pPr>
            <a:lvl3pPr>
              <a:defRPr sz="2025" b="0">
                <a:solidFill>
                  <a:srgbClr val="102E36"/>
                </a:solidFill>
                <a:latin typeface="Arial"/>
                <a:ea typeface="Arial"/>
                <a:cs typeface="Arial"/>
              </a:defRPr>
            </a:lvl3pPr>
            <a:lvl4pPr>
              <a:defRPr sz="2025" b="0">
                <a:solidFill>
                  <a:srgbClr val="102E36"/>
                </a:solidFill>
                <a:latin typeface="Arial"/>
                <a:ea typeface="Arial"/>
                <a:cs typeface="Arial"/>
              </a:defRPr>
            </a:lvl4pPr>
            <a:lvl5pPr>
              <a:defRPr sz="2025" b="0">
                <a:solidFill>
                  <a:srgbClr val="102E36"/>
                </a:solidFill>
                <a:latin typeface="Arial"/>
                <a:ea typeface="Arial"/>
                <a:cs typeface="Arial"/>
              </a:defRPr>
            </a:lvl5pPr>
            <a:lvl6pPr>
              <a:defRPr sz="2025" b="0">
                <a:solidFill>
                  <a:srgbClr val="102E36"/>
                </a:solidFill>
                <a:latin typeface="Arial"/>
                <a:ea typeface="Arial"/>
                <a:cs typeface="Arial"/>
              </a:defRPr>
            </a:lvl6pPr>
            <a:lvl7pPr>
              <a:defRPr sz="2025" b="0">
                <a:solidFill>
                  <a:srgbClr val="102E36"/>
                </a:solidFill>
                <a:latin typeface="Arial"/>
                <a:ea typeface="Arial"/>
                <a:cs typeface="Arial"/>
              </a:defRPr>
            </a:lvl7pPr>
            <a:lvl8pPr>
              <a:defRPr sz="2025" b="0">
                <a:solidFill>
                  <a:srgbClr val="102E36"/>
                </a:solidFill>
                <a:latin typeface="Arial"/>
                <a:ea typeface="Arial"/>
                <a:cs typeface="Arial"/>
              </a:defRPr>
            </a:lvl8pPr>
            <a:lvl9pPr>
              <a:defRPr sz="2025" b="0">
                <a:solidFill>
                  <a:srgbClr val="102E36"/>
                </a:solidFill>
                <a:latin typeface="Arial"/>
                <a:ea typeface="Arial"/>
                <a:cs typeface="Arial"/>
              </a:defRPr>
            </a:lvl9pPr>
          </a:lstStyle>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Full suite: 11.33 seconds in .venv.</a:t>
            </a:r>
          </a:p>
          <a:p xmlns:a="http://schemas.openxmlformats.org/drawingml/2006/main">
            <a:pPr>
              <a:defRPr sz="2025" b="0">
                <a:solidFill>
                  <a:srgbClr val="102E36"/>
                </a:solidFill>
                <a:latin typeface="Arial"/>
                <a:ea typeface="Arial"/>
                <a:cs typeface="Arial"/>
              </a:defRPr>
            </a:pPr>
            <a:r>
              <a:rPr sz="2025" b="0">
                <a:solidFill>
                  <a:srgbClr val="102E36"/>
                </a:solidFill>
                <a:latin typeface="Arial"/>
                <a:ea typeface="Arial"/>
                <a:cs typeface="Arial"/>
              </a:rPr>
              <a:t>Timing depends on this computer and excludes external API waiting.</a:t>
            </a:r>
          </a:p>
        </p:txBody>
      </p:sp>
    </p:spTree>
    <p:extLst>
      <p:ext uri="{BB962C8B-B14F-4D97-AF65-F5344CB8AC3E}">
        <p14:creationId xmlns:p14="http://schemas.microsoft.com/office/powerpoint/2010/main" val="623250162"/>
      </p:ext>
    </p:extLst>
  </p:cSld>
</p:sld>
</file>

<file path=ppt/slides/slide21.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997CF3E-1773-43C7-B0E7-CB762A271EF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102E36"/>
                </a:solidFill>
                <a:latin typeface="Arial"/>
                <a:ea typeface="Arial"/>
                <a:cs typeface="Arial"/>
              </a:defRPr>
            </a:defPPr>
            <a:lvl1pPr>
              <a:defRPr sz="3300" b="0">
                <a:solidFill>
                  <a:srgbClr val="102E36"/>
                </a:solidFill>
                <a:latin typeface="Arial"/>
                <a:ea typeface="Arial"/>
                <a:cs typeface="Arial"/>
              </a:defRPr>
            </a:lvl1pPr>
            <a:lvl2pPr>
              <a:defRPr sz="3300" b="0">
                <a:solidFill>
                  <a:srgbClr val="102E36"/>
                </a:solidFill>
                <a:latin typeface="Arial"/>
                <a:ea typeface="Arial"/>
                <a:cs typeface="Arial"/>
              </a:defRPr>
            </a:lvl2pPr>
            <a:lvl3pPr>
              <a:defRPr sz="3300" b="0">
                <a:solidFill>
                  <a:srgbClr val="102E36"/>
                </a:solidFill>
                <a:latin typeface="Arial"/>
                <a:ea typeface="Arial"/>
                <a:cs typeface="Arial"/>
              </a:defRPr>
            </a:lvl3pPr>
            <a:lvl4pPr>
              <a:defRPr sz="3300" b="0">
                <a:solidFill>
                  <a:srgbClr val="102E36"/>
                </a:solidFill>
                <a:latin typeface="Arial"/>
                <a:ea typeface="Arial"/>
                <a:cs typeface="Arial"/>
              </a:defRPr>
            </a:lvl4pPr>
            <a:lvl5pPr>
              <a:defRPr sz="3300" b="0">
                <a:solidFill>
                  <a:srgbClr val="102E36"/>
                </a:solidFill>
                <a:latin typeface="Arial"/>
                <a:ea typeface="Arial"/>
                <a:cs typeface="Arial"/>
              </a:defRPr>
            </a:lvl5pPr>
            <a:lvl6pPr>
              <a:defRPr sz="3300" b="0">
                <a:solidFill>
                  <a:srgbClr val="102E36"/>
                </a:solidFill>
                <a:latin typeface="Arial"/>
                <a:ea typeface="Arial"/>
                <a:cs typeface="Arial"/>
              </a:defRPr>
            </a:lvl6pPr>
            <a:lvl7pPr>
              <a:defRPr sz="3300" b="0">
                <a:solidFill>
                  <a:srgbClr val="102E36"/>
                </a:solidFill>
                <a:latin typeface="Arial"/>
                <a:ea typeface="Arial"/>
                <a:cs typeface="Arial"/>
              </a:defRPr>
            </a:lvl7pPr>
            <a:lvl8pPr>
              <a:defRPr sz="3300" b="0">
                <a:solidFill>
                  <a:srgbClr val="102E36"/>
                </a:solidFill>
                <a:latin typeface="Arial"/>
                <a:ea typeface="Arial"/>
                <a:cs typeface="Arial"/>
              </a:defRPr>
            </a:lvl8pPr>
            <a:lvl9pPr>
              <a:defRPr sz="3300" b="0">
                <a:solidFill>
                  <a:srgbClr val="102E36"/>
                </a:solidFill>
                <a:latin typeface="Arial"/>
                <a:ea typeface="Arial"/>
                <a:cs typeface="Arial"/>
              </a:defRPr>
            </a:lvl9pPr>
          </a:lstStyle>
          <a:p xmlns:a="http://schemas.openxmlformats.org/drawingml/2006/main">
            <a:pPr>
              <a:defRPr sz="3300" b="0">
                <a:solidFill>
                  <a:srgbClr val="102E36"/>
                </a:solidFill>
                <a:latin typeface="Arial"/>
                <a:ea typeface="Arial"/>
                <a:cs typeface="Arial"/>
              </a:defRPr>
            </a:pPr>
            <a:r>
              <a:rPr sz="3300" b="0">
                <a:solidFill>
                  <a:srgbClr val="102E36"/>
                </a:solidFill>
                <a:latin typeface="Arial"/>
                <a:ea typeface="Arial"/>
                <a:cs typeface="Arial"/>
              </a:rPr>
              <a:t>Live API latency and the control deadline</a:t>
            </a:r>
          </a:p>
        </p:txBody>
      </p:sp>
      <p:sp>
        <p:nvSpPr>
          <p:cNvPr id="3" name="">
            <a:extLst xmlns:a="http://schemas.openxmlformats.org/drawingml/2006/main">
              <a:ext uri="{FF2B5EF4-FFF2-40B4-BE49-F238E27FC236}">
                <a16:creationId xmlns:a16="http://schemas.microsoft.com/office/drawing/2014/main" id="{4642F9D5-8B00-477B-978F-08DBC6DA0706}"/>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21 / SELF-X</a:t>
            </a:r>
          </a:p>
        </p:txBody>
      </p:sp>
      <p:sp>
        <p:nvSpPr>
          <p:cNvPr id="4" name="">
            <a:extLst xmlns:a="http://schemas.openxmlformats.org/drawingml/2006/main">
              <a:ext uri="{FF2B5EF4-FFF2-40B4-BE49-F238E27FC236}">
                <a16:creationId xmlns:a16="http://schemas.microsoft.com/office/drawing/2014/main" id="{12FCD369-A33D-42D7-9C69-5065F15C7ACB}"/>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60777B"/>
                </a:solidFill>
                <a:latin typeface="Arial"/>
                <a:ea typeface="Arial"/>
                <a:cs typeface="Arial"/>
              </a:defRPr>
            </a:defPPr>
            <a:lvl1pPr>
              <a:defRPr sz="1125" b="0">
                <a:solidFill>
                  <a:srgbClr val="60777B"/>
                </a:solidFill>
                <a:latin typeface="Arial"/>
                <a:ea typeface="Arial"/>
                <a:cs typeface="Arial"/>
              </a:defRPr>
            </a:lvl1pPr>
            <a:lvl2pPr>
              <a:defRPr sz="1125" b="0">
                <a:solidFill>
                  <a:srgbClr val="60777B"/>
                </a:solidFill>
                <a:latin typeface="Arial"/>
                <a:ea typeface="Arial"/>
                <a:cs typeface="Arial"/>
              </a:defRPr>
            </a:lvl2pPr>
            <a:lvl3pPr>
              <a:defRPr sz="1125" b="0">
                <a:solidFill>
                  <a:srgbClr val="60777B"/>
                </a:solidFill>
                <a:latin typeface="Arial"/>
                <a:ea typeface="Arial"/>
                <a:cs typeface="Arial"/>
              </a:defRPr>
            </a:lvl3pPr>
            <a:lvl4pPr>
              <a:defRPr sz="1125" b="0">
                <a:solidFill>
                  <a:srgbClr val="60777B"/>
                </a:solidFill>
                <a:latin typeface="Arial"/>
                <a:ea typeface="Arial"/>
                <a:cs typeface="Arial"/>
              </a:defRPr>
            </a:lvl4pPr>
            <a:lvl5pPr>
              <a:defRPr sz="1125" b="0">
                <a:solidFill>
                  <a:srgbClr val="60777B"/>
                </a:solidFill>
                <a:latin typeface="Arial"/>
                <a:ea typeface="Arial"/>
                <a:cs typeface="Arial"/>
              </a:defRPr>
            </a:lvl5pPr>
            <a:lvl6pPr>
              <a:defRPr sz="1125" b="0">
                <a:solidFill>
                  <a:srgbClr val="60777B"/>
                </a:solidFill>
                <a:latin typeface="Arial"/>
                <a:ea typeface="Arial"/>
                <a:cs typeface="Arial"/>
              </a:defRPr>
            </a:lvl6pPr>
            <a:lvl7pPr>
              <a:defRPr sz="1125" b="0">
                <a:solidFill>
                  <a:srgbClr val="60777B"/>
                </a:solidFill>
                <a:latin typeface="Arial"/>
                <a:ea typeface="Arial"/>
                <a:cs typeface="Arial"/>
              </a:defRPr>
            </a:lvl7pPr>
            <a:lvl8pPr>
              <a:defRPr sz="1125" b="0">
                <a:solidFill>
                  <a:srgbClr val="60777B"/>
                </a:solidFill>
                <a:latin typeface="Arial"/>
                <a:ea typeface="Arial"/>
                <a:cs typeface="Arial"/>
              </a:defRPr>
            </a:lvl8pPr>
            <a:lvl9pPr>
              <a:defRPr sz="1125" b="0">
                <a:solidFill>
                  <a:srgbClr val="60777B"/>
                </a:solidFill>
                <a:latin typeface="Arial"/>
                <a:ea typeface="Arial"/>
                <a:cs typeface="Arial"/>
              </a:defRPr>
            </a:lvl9pPr>
          </a:lstStyle>
          <a:p xmlns:a="http://schemas.openxmlformats.org/drawingml/2006/main">
            <a:pPr>
              <a:defRPr sz="1125" b="0">
                <a:solidFill>
                  <a:srgbClr val="60777B"/>
                </a:solidFill>
                <a:latin typeface="Arial"/>
                <a:ea typeface="Arial"/>
                <a:cs typeface="Arial"/>
              </a:defRPr>
            </a:pPr>
            <a:r>
              <a:rPr sz="1125" b="0">
                <a:solidFill>
                  <a:srgbClr val="60777B"/>
                </a:solidFill>
                <a:latin typeface="Arial"/>
                <a:ea typeface="Arial"/>
                <a:cs typeface="Arial"/>
              </a:rPr>
              <a:t>Fresh Gemini pilot executed in the isolated .venv</a:t>
            </a:r>
          </a:p>
        </p:txBody>
      </p:sp>
      <p:graphicFrame>
        <p:nvGraphicFramePr>
          <p:cNvPr id="5" name="Chart">
            <a:extLst xmlns:a="http://schemas.openxmlformats.org/drawingml/2006/main">
              <a:ext uri="{FF2B5EF4-FFF2-40B4-BE49-F238E27FC236}">
                <a16:creationId xmlns:a16="http://schemas.microsoft.com/office/drawing/2014/main" id="{61C3223C-3044-436B-B498-9C2B7DBA03A3}"/>
              </a:ext>
            </a:extLst>
          </p:cNvPr>
          <p:cNvGraphicFramePr/>
          <p:nvPr/>
        </p:nvGraphicFramePr>
        <p:xfrm>
          <a:off xmlns:a="http://schemas.openxmlformats.org/drawingml/2006/main" x="666750" y="1714500"/>
          <a:ext xmlns:a="http://schemas.openxmlformats.org/drawingml/2006/main" cx="10810875" cy="3619500"/>
        </p:xfrm>
        <a:graphic xmlns:a="http://schemas.openxmlformats.org/drawingml/2006/main">
          <a:graphicData uri="http://schemas.openxmlformats.org/drawingml/2006/chart">
            <c:chart xmlns:r="http://schemas.openxmlformats.org/officeDocument/2006/relationships" xmlns:c="http://schemas.openxmlformats.org/drawingml/2006/chart" r:id="R126259bd772a4de1"/>
          </a:graphicData>
        </a:graphic>
      </p:graphicFrame>
      <p:sp>
        <p:nvSpPr>
          <p:cNvPr id="6" name="">
            <a:extLst xmlns:a="http://schemas.openxmlformats.org/drawingml/2006/main">
              <a:ext uri="{FF2B5EF4-FFF2-40B4-BE49-F238E27FC236}">
                <a16:creationId xmlns:a16="http://schemas.microsoft.com/office/drawing/2014/main" id="{658269C4-ABEA-4C85-9FDB-94B3900FA281}"/>
              </a:ext>
            </a:extLst>
          </p:cNvPr>
          <p:cNvSpPr>
            <a:spLocks xmlns:a="http://schemas.openxmlformats.org/drawingml/2006/main" noGrp="1"/>
          </p:cNvSpPr>
          <p:nvPr/>
        </p:nvSpPr>
        <p:spPr>
          <a:xfrm xmlns:a="http://schemas.openxmlformats.org/drawingml/2006/main">
            <a:off x="666750" y="5581650"/>
            <a:ext cx="10763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007D76"/>
                </a:solidFill>
                <a:latin typeface="Arial"/>
                <a:ea typeface="Arial"/>
                <a:cs typeface="Arial"/>
              </a:defRPr>
            </a:defPPr>
            <a:lvl1pPr>
              <a:defRPr sz="1950" b="0">
                <a:solidFill>
                  <a:srgbClr val="007D76"/>
                </a:solidFill>
                <a:latin typeface="Arial"/>
                <a:ea typeface="Arial"/>
                <a:cs typeface="Arial"/>
              </a:defRPr>
            </a:lvl1pPr>
            <a:lvl2pPr>
              <a:defRPr sz="1950" b="0">
                <a:solidFill>
                  <a:srgbClr val="007D76"/>
                </a:solidFill>
                <a:latin typeface="Arial"/>
                <a:ea typeface="Arial"/>
                <a:cs typeface="Arial"/>
              </a:defRPr>
            </a:lvl2pPr>
            <a:lvl3pPr>
              <a:defRPr sz="1950" b="0">
                <a:solidFill>
                  <a:srgbClr val="007D76"/>
                </a:solidFill>
                <a:latin typeface="Arial"/>
                <a:ea typeface="Arial"/>
                <a:cs typeface="Arial"/>
              </a:defRPr>
            </a:lvl3pPr>
            <a:lvl4pPr>
              <a:defRPr sz="1950" b="0">
                <a:solidFill>
                  <a:srgbClr val="007D76"/>
                </a:solidFill>
                <a:latin typeface="Arial"/>
                <a:ea typeface="Arial"/>
                <a:cs typeface="Arial"/>
              </a:defRPr>
            </a:lvl4pPr>
            <a:lvl5pPr>
              <a:defRPr sz="1950" b="0">
                <a:solidFill>
                  <a:srgbClr val="007D76"/>
                </a:solidFill>
                <a:latin typeface="Arial"/>
                <a:ea typeface="Arial"/>
                <a:cs typeface="Arial"/>
              </a:defRPr>
            </a:lvl5pPr>
            <a:lvl6pPr>
              <a:defRPr sz="1950" b="0">
                <a:solidFill>
                  <a:srgbClr val="007D76"/>
                </a:solidFill>
                <a:latin typeface="Arial"/>
                <a:ea typeface="Arial"/>
                <a:cs typeface="Arial"/>
              </a:defRPr>
            </a:lvl6pPr>
            <a:lvl7pPr>
              <a:defRPr sz="1950" b="0">
                <a:solidFill>
                  <a:srgbClr val="007D76"/>
                </a:solidFill>
                <a:latin typeface="Arial"/>
                <a:ea typeface="Arial"/>
                <a:cs typeface="Arial"/>
              </a:defRPr>
            </a:lvl7pPr>
            <a:lvl8pPr>
              <a:defRPr sz="1950" b="0">
                <a:solidFill>
                  <a:srgbClr val="007D76"/>
                </a:solidFill>
                <a:latin typeface="Arial"/>
                <a:ea typeface="Arial"/>
                <a:cs typeface="Arial"/>
              </a:defRPr>
            </a:lvl8pPr>
            <a:lvl9pPr>
              <a:defRPr sz="1950" b="0">
                <a:solidFill>
                  <a:srgbClr val="007D76"/>
                </a:solidFill>
                <a:latin typeface="Arial"/>
                <a:ea typeface="Arial"/>
                <a:cs typeface="Arial"/>
              </a:defRPr>
            </a:lvl9pPr>
          </a:lstStyle>
          <a:p xmlns:a="http://schemas.openxmlformats.org/drawingml/2006/main">
            <a:pPr>
              <a:defRPr sz="1950" b="0">
                <a:solidFill>
                  <a:srgbClr val="007D76"/>
                </a:solidFill>
                <a:latin typeface="Arial"/>
                <a:ea typeface="Arial"/>
                <a:cs typeface="Arial"/>
              </a:defRPr>
            </a:pPr>
            <a:r>
              <a:rPr sz="1950" b="0">
                <a:solidFill>
                  <a:srgbClr val="007D76"/>
                </a:solidFill>
                <a:latin typeface="Arial"/>
                <a:ea typeface="Arial"/>
                <a:cs typeface="Arial"/>
              </a:rPr>
              <a:t>48/48 fresh API calls succeeded. Pacing keeps the demo reliable;</a:t>
            </a:r>
          </a:p>
          <a:p xmlns:a="http://schemas.openxmlformats.org/drawingml/2006/main">
            <a:pPr>
              <a:defRPr sz="1950" b="0">
                <a:solidFill>
                  <a:srgbClr val="007D76"/>
                </a:solidFill>
                <a:latin typeface="Arial"/>
                <a:ea typeface="Arial"/>
                <a:cs typeface="Arial"/>
              </a:defRPr>
            </a:pPr>
            <a:r>
              <a:rPr sz="1950" b="0">
                <a:solidFill>
                  <a:srgbClr val="007D76"/>
                </a:solidFill>
                <a:latin typeface="Arial"/>
                <a:ea typeface="Arial"/>
                <a:cs typeface="Arial"/>
              </a:rPr>
              <a:t>this execution does not establish a five-second real-time controller.</a:t>
            </a:r>
          </a:p>
        </p:txBody>
      </p:sp>
    </p:spTree>
    <p:extLst>
      <p:ext uri="{BB962C8B-B14F-4D97-AF65-F5344CB8AC3E}">
        <p14:creationId xmlns:p14="http://schemas.microsoft.com/office/powerpoint/2010/main" val="1560532225"/>
      </p:ext>
    </p:extLst>
  </p:cSld>
</p:sld>
</file>

<file path=ppt/slides/slide22.xml><?xml version="1.0" encoding="utf-8"?>
<p:sld xmlns:p="http://schemas.openxmlformats.org/presentationml/2006/main">
  <p:cSld>
    <p:bg>
      <p:bgPr>
        <a:solidFill xmlns:a="http://schemas.openxmlformats.org/drawingml/2006/main">
          <a:srgbClr val="102E36"/>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874E784-D987-45B0-A205-334E3F20E1EB}"/>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0">
                <a:solidFill>
                  <a:srgbClr val="FFFFFF"/>
                </a:solidFill>
                <a:latin typeface="Arial"/>
                <a:ea typeface="Arial"/>
                <a:cs typeface="Arial"/>
              </a:defRPr>
            </a:defPPr>
            <a:lvl1pPr>
              <a:defRPr sz="3300" b="0">
                <a:solidFill>
                  <a:srgbClr val="FFFFFF"/>
                </a:solidFill>
                <a:latin typeface="Arial"/>
                <a:ea typeface="Arial"/>
                <a:cs typeface="Arial"/>
              </a:defRPr>
            </a:lvl1pPr>
            <a:lvl2pPr>
              <a:defRPr sz="3300" b="0">
                <a:solidFill>
                  <a:srgbClr val="FFFFFF"/>
                </a:solidFill>
                <a:latin typeface="Arial"/>
                <a:ea typeface="Arial"/>
                <a:cs typeface="Arial"/>
              </a:defRPr>
            </a:lvl2pPr>
            <a:lvl3pPr>
              <a:defRPr sz="3300" b="0">
                <a:solidFill>
                  <a:srgbClr val="FFFFFF"/>
                </a:solidFill>
                <a:latin typeface="Arial"/>
                <a:ea typeface="Arial"/>
                <a:cs typeface="Arial"/>
              </a:defRPr>
            </a:lvl3pPr>
            <a:lvl4pPr>
              <a:defRPr sz="3300" b="0">
                <a:solidFill>
                  <a:srgbClr val="FFFFFF"/>
                </a:solidFill>
                <a:latin typeface="Arial"/>
                <a:ea typeface="Arial"/>
                <a:cs typeface="Arial"/>
              </a:defRPr>
            </a:lvl4pPr>
            <a:lvl5pPr>
              <a:defRPr sz="3300" b="0">
                <a:solidFill>
                  <a:srgbClr val="FFFFFF"/>
                </a:solidFill>
                <a:latin typeface="Arial"/>
                <a:ea typeface="Arial"/>
                <a:cs typeface="Arial"/>
              </a:defRPr>
            </a:lvl5pPr>
            <a:lvl6pPr>
              <a:defRPr sz="3300" b="0">
                <a:solidFill>
                  <a:srgbClr val="FFFFFF"/>
                </a:solidFill>
                <a:latin typeface="Arial"/>
                <a:ea typeface="Arial"/>
                <a:cs typeface="Arial"/>
              </a:defRPr>
            </a:lvl6pPr>
            <a:lvl7pPr>
              <a:defRPr sz="3300" b="0">
                <a:solidFill>
                  <a:srgbClr val="FFFFFF"/>
                </a:solidFill>
                <a:latin typeface="Arial"/>
                <a:ea typeface="Arial"/>
                <a:cs typeface="Arial"/>
              </a:defRPr>
            </a:lvl7pPr>
            <a:lvl8pPr>
              <a:defRPr sz="3300" b="0">
                <a:solidFill>
                  <a:srgbClr val="FFFFFF"/>
                </a:solidFill>
                <a:latin typeface="Arial"/>
                <a:ea typeface="Arial"/>
                <a:cs typeface="Arial"/>
              </a:defRPr>
            </a:lvl8pPr>
            <a:lvl9pPr>
              <a:defRPr sz="3300" b="0">
                <a:solidFill>
                  <a:srgbClr val="FFFFFF"/>
                </a:solidFill>
                <a:latin typeface="Arial"/>
                <a:ea typeface="Arial"/>
                <a:cs typeface="Arial"/>
              </a:defRPr>
            </a:lvl9pPr>
          </a:lstStyle>
          <a:p xmlns:a="http://schemas.openxmlformats.org/drawingml/2006/main">
            <a:pPr>
              <a:defRPr sz="3300" b="0">
                <a:solidFill>
                  <a:srgbClr val="FFFFFF"/>
                </a:solidFill>
                <a:latin typeface="Arial"/>
                <a:ea typeface="Arial"/>
                <a:cs typeface="Arial"/>
              </a:defRPr>
            </a:pPr>
            <a:r>
              <a:rPr sz="3300" b="0">
                <a:solidFill>
                  <a:srgbClr val="FFFFFF"/>
                </a:solidFill>
                <a:latin typeface="Arial"/>
                <a:ea typeface="Arial"/>
                <a:cs typeface="Arial"/>
              </a:rPr>
              <a:t>Reproduce and inspect the evidence</a:t>
            </a:r>
          </a:p>
        </p:txBody>
      </p:sp>
      <p:sp>
        <p:nvSpPr>
          <p:cNvPr id="3" name="">
            <a:extLst xmlns:a="http://schemas.openxmlformats.org/drawingml/2006/main">
              <a:ext uri="{FF2B5EF4-FFF2-40B4-BE49-F238E27FC236}">
                <a16:creationId xmlns:a16="http://schemas.microsoft.com/office/drawing/2014/main" id="{68CAF96E-7FF6-4525-9EA0-4AABFB198BFA}"/>
              </a:ext>
            </a:extLst>
          </p:cNvPr>
          <p:cNvSpPr>
            <a:spLocks xmlns:a="http://schemas.openxmlformats.org/drawingml/2006/main" noGrp="1"/>
          </p:cNvSpPr>
          <p:nvPr/>
        </p:nvSpPr>
        <p:spPr>
          <a:xfrm xmlns:a="http://schemas.openxmlformats.org/drawingml/2006/main">
            <a:off x="609600" y="6362700"/>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7C0BA"/>
                </a:solidFill>
                <a:latin typeface="Arial"/>
                <a:ea typeface="Arial"/>
                <a:cs typeface="Arial"/>
              </a:defRPr>
            </a:defPPr>
            <a:lvl1pPr>
              <a:defRPr sz="1125" b="0">
                <a:solidFill>
                  <a:srgbClr val="A7C0BA"/>
                </a:solidFill>
                <a:latin typeface="Arial"/>
                <a:ea typeface="Arial"/>
                <a:cs typeface="Arial"/>
              </a:defRPr>
            </a:lvl1pPr>
            <a:lvl2pPr>
              <a:defRPr sz="1125" b="0">
                <a:solidFill>
                  <a:srgbClr val="A7C0BA"/>
                </a:solidFill>
                <a:latin typeface="Arial"/>
                <a:ea typeface="Arial"/>
                <a:cs typeface="Arial"/>
              </a:defRPr>
            </a:lvl2pPr>
            <a:lvl3pPr>
              <a:defRPr sz="1125" b="0">
                <a:solidFill>
                  <a:srgbClr val="A7C0BA"/>
                </a:solidFill>
                <a:latin typeface="Arial"/>
                <a:ea typeface="Arial"/>
                <a:cs typeface="Arial"/>
              </a:defRPr>
            </a:lvl3pPr>
            <a:lvl4pPr>
              <a:defRPr sz="1125" b="0">
                <a:solidFill>
                  <a:srgbClr val="A7C0BA"/>
                </a:solidFill>
                <a:latin typeface="Arial"/>
                <a:ea typeface="Arial"/>
                <a:cs typeface="Arial"/>
              </a:defRPr>
            </a:lvl4pPr>
            <a:lvl5pPr>
              <a:defRPr sz="1125" b="0">
                <a:solidFill>
                  <a:srgbClr val="A7C0BA"/>
                </a:solidFill>
                <a:latin typeface="Arial"/>
                <a:ea typeface="Arial"/>
                <a:cs typeface="Arial"/>
              </a:defRPr>
            </a:lvl5pPr>
            <a:lvl6pPr>
              <a:defRPr sz="1125" b="0">
                <a:solidFill>
                  <a:srgbClr val="A7C0BA"/>
                </a:solidFill>
                <a:latin typeface="Arial"/>
                <a:ea typeface="Arial"/>
                <a:cs typeface="Arial"/>
              </a:defRPr>
            </a:lvl6pPr>
            <a:lvl7pPr>
              <a:defRPr sz="1125" b="0">
                <a:solidFill>
                  <a:srgbClr val="A7C0BA"/>
                </a:solidFill>
                <a:latin typeface="Arial"/>
                <a:ea typeface="Arial"/>
                <a:cs typeface="Arial"/>
              </a:defRPr>
            </a:lvl7pPr>
            <a:lvl8pPr>
              <a:defRPr sz="1125" b="0">
                <a:solidFill>
                  <a:srgbClr val="A7C0BA"/>
                </a:solidFill>
                <a:latin typeface="Arial"/>
                <a:ea typeface="Arial"/>
                <a:cs typeface="Arial"/>
              </a:defRPr>
            </a:lvl8pPr>
            <a:lvl9pPr>
              <a:defRPr sz="1125" b="0">
                <a:solidFill>
                  <a:srgbClr val="A7C0BA"/>
                </a:solidFill>
                <a:latin typeface="Arial"/>
                <a:ea typeface="Arial"/>
                <a:cs typeface="Arial"/>
              </a:defRPr>
            </a:lvl9pPr>
          </a:lstStyle>
          <a:p xmlns:a="http://schemas.openxmlformats.org/drawingml/2006/main">
            <a:pPr>
              <a:defRPr sz="1125" b="0">
                <a:solidFill>
                  <a:srgbClr val="A7C0BA"/>
                </a:solidFill>
                <a:latin typeface="Arial"/>
                <a:ea typeface="Arial"/>
                <a:cs typeface="Arial"/>
              </a:defRPr>
            </a:pPr>
            <a:r>
              <a:rPr sz="1125" b="0">
                <a:solidFill>
                  <a:srgbClr val="A7C0BA"/>
                </a:solidFill>
                <a:latin typeface="Arial"/>
                <a:ea typeface="Arial"/>
                <a:cs typeface="Arial"/>
              </a:rPr>
              <a:t>22 / SELF-X</a:t>
            </a:r>
          </a:p>
        </p:txBody>
      </p:sp>
      <p:sp>
        <p:nvSpPr>
          <p:cNvPr id="4" name="">
            <a:extLst xmlns:a="http://schemas.openxmlformats.org/drawingml/2006/main">
              <a:ext uri="{FF2B5EF4-FFF2-40B4-BE49-F238E27FC236}">
                <a16:creationId xmlns:a16="http://schemas.microsoft.com/office/drawing/2014/main" id="{34F98E71-C530-4044-965F-FAE83658A9EF}"/>
              </a:ext>
            </a:extLst>
          </p:cNvPr>
          <p:cNvSpPr>
            <a:spLocks xmlns:a="http://schemas.openxmlformats.org/drawingml/2006/main" noGrp="1"/>
          </p:cNvSpPr>
          <p:nvPr/>
        </p:nvSpPr>
        <p:spPr>
          <a:xfrm xmlns:a="http://schemas.openxmlformats.org/drawingml/2006/main">
            <a:off x="4524375" y="6334125"/>
            <a:ext cx="704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7C0BA"/>
                </a:solidFill>
                <a:latin typeface="Arial"/>
                <a:ea typeface="Arial"/>
                <a:cs typeface="Arial"/>
              </a:defRPr>
            </a:defPPr>
            <a:lvl1pPr>
              <a:defRPr sz="1125" b="0">
                <a:solidFill>
                  <a:srgbClr val="A7C0BA"/>
                </a:solidFill>
                <a:latin typeface="Arial"/>
                <a:ea typeface="Arial"/>
                <a:cs typeface="Arial"/>
              </a:defRPr>
            </a:lvl1pPr>
            <a:lvl2pPr>
              <a:defRPr sz="1125" b="0">
                <a:solidFill>
                  <a:srgbClr val="A7C0BA"/>
                </a:solidFill>
                <a:latin typeface="Arial"/>
                <a:ea typeface="Arial"/>
                <a:cs typeface="Arial"/>
              </a:defRPr>
            </a:lvl2pPr>
            <a:lvl3pPr>
              <a:defRPr sz="1125" b="0">
                <a:solidFill>
                  <a:srgbClr val="A7C0BA"/>
                </a:solidFill>
                <a:latin typeface="Arial"/>
                <a:ea typeface="Arial"/>
                <a:cs typeface="Arial"/>
              </a:defRPr>
            </a:lvl3pPr>
            <a:lvl4pPr>
              <a:defRPr sz="1125" b="0">
                <a:solidFill>
                  <a:srgbClr val="A7C0BA"/>
                </a:solidFill>
                <a:latin typeface="Arial"/>
                <a:ea typeface="Arial"/>
                <a:cs typeface="Arial"/>
              </a:defRPr>
            </a:lvl4pPr>
            <a:lvl5pPr>
              <a:defRPr sz="1125" b="0">
                <a:solidFill>
                  <a:srgbClr val="A7C0BA"/>
                </a:solidFill>
                <a:latin typeface="Arial"/>
                <a:ea typeface="Arial"/>
                <a:cs typeface="Arial"/>
              </a:defRPr>
            </a:lvl5pPr>
            <a:lvl6pPr>
              <a:defRPr sz="1125" b="0">
                <a:solidFill>
                  <a:srgbClr val="A7C0BA"/>
                </a:solidFill>
                <a:latin typeface="Arial"/>
                <a:ea typeface="Arial"/>
                <a:cs typeface="Arial"/>
              </a:defRPr>
            </a:lvl6pPr>
            <a:lvl7pPr>
              <a:defRPr sz="1125" b="0">
                <a:solidFill>
                  <a:srgbClr val="A7C0BA"/>
                </a:solidFill>
                <a:latin typeface="Arial"/>
                <a:ea typeface="Arial"/>
                <a:cs typeface="Arial"/>
              </a:defRPr>
            </a:lvl7pPr>
            <a:lvl8pPr>
              <a:defRPr sz="1125" b="0">
                <a:solidFill>
                  <a:srgbClr val="A7C0BA"/>
                </a:solidFill>
                <a:latin typeface="Arial"/>
                <a:ea typeface="Arial"/>
                <a:cs typeface="Arial"/>
              </a:defRPr>
            </a:lvl8pPr>
            <a:lvl9pPr>
              <a:defRPr sz="1125" b="0">
                <a:solidFill>
                  <a:srgbClr val="A7C0BA"/>
                </a:solidFill>
                <a:latin typeface="Arial"/>
                <a:ea typeface="Arial"/>
                <a:cs typeface="Arial"/>
              </a:defRPr>
            </a:lvl9pPr>
          </a:lstStyle>
          <a:p xmlns:a="http://schemas.openxmlformats.org/drawingml/2006/main">
            <a:pPr>
              <a:defRPr sz="1125" b="0">
                <a:solidFill>
                  <a:srgbClr val="A7C0BA"/>
                </a:solidFill>
                <a:latin typeface="Arial"/>
                <a:ea typeface="Arial"/>
                <a:cs typeface="Arial"/>
              </a:defRPr>
            </a:pPr>
            <a:r>
              <a:rPr sz="1125" b="0">
                <a:solidFill>
                  <a:srgbClr val="A7C0BA"/>
                </a:solidFill>
                <a:latin typeface="Arial"/>
                <a:ea typeface="Arial"/>
                <a:cs typeface="Arial"/>
              </a:rPr>
              <a:t>Run from C:\Users\RAVIPRAKASH\SDN\SDN\selfx</a:t>
            </a:r>
          </a:p>
        </p:txBody>
      </p:sp>
      <p:sp>
        <p:nvSpPr>
          <p:cNvPr id="5" name="">
            <a:extLst xmlns:a="http://schemas.openxmlformats.org/drawingml/2006/main">
              <a:ext uri="{FF2B5EF4-FFF2-40B4-BE49-F238E27FC236}">
                <a16:creationId xmlns:a16="http://schemas.microsoft.com/office/drawing/2014/main" id="{BB5E6AF4-A620-4DD8-AF9B-0E79921120FA}"/>
              </a:ext>
            </a:extLst>
          </p:cNvPr>
          <p:cNvSpPr>
            <a:spLocks xmlns:a="http://schemas.openxmlformats.org/drawingml/2006/main" noGrp="1"/>
          </p:cNvSpPr>
          <p:nvPr/>
        </p:nvSpPr>
        <p:spPr>
          <a:xfrm xmlns:a="http://schemas.openxmlformats.org/drawingml/2006/main">
            <a:off x="666750" y="1733550"/>
            <a:ext cx="10668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0">
                <a:solidFill>
                  <a:srgbClr val="FFFFFF"/>
                </a:solidFill>
                <a:latin typeface="Arial"/>
                <a:ea typeface="Arial"/>
                <a:cs typeface="Arial"/>
              </a:defRPr>
            </a:defPPr>
            <a:lvl1pPr>
              <a:defRPr sz="2850" b="0">
                <a:solidFill>
                  <a:srgbClr val="FFFFFF"/>
                </a:solidFill>
                <a:latin typeface="Arial"/>
                <a:ea typeface="Arial"/>
                <a:cs typeface="Arial"/>
              </a:defRPr>
            </a:lvl1pPr>
            <a:lvl2pPr>
              <a:defRPr sz="2850" b="0">
                <a:solidFill>
                  <a:srgbClr val="FFFFFF"/>
                </a:solidFill>
                <a:latin typeface="Arial"/>
                <a:ea typeface="Arial"/>
                <a:cs typeface="Arial"/>
              </a:defRPr>
            </a:lvl2pPr>
            <a:lvl3pPr>
              <a:defRPr sz="2850" b="0">
                <a:solidFill>
                  <a:srgbClr val="FFFFFF"/>
                </a:solidFill>
                <a:latin typeface="Arial"/>
                <a:ea typeface="Arial"/>
                <a:cs typeface="Arial"/>
              </a:defRPr>
            </a:lvl3pPr>
            <a:lvl4pPr>
              <a:defRPr sz="2850" b="0">
                <a:solidFill>
                  <a:srgbClr val="FFFFFF"/>
                </a:solidFill>
                <a:latin typeface="Arial"/>
                <a:ea typeface="Arial"/>
                <a:cs typeface="Arial"/>
              </a:defRPr>
            </a:lvl4pPr>
            <a:lvl5pPr>
              <a:defRPr sz="2850" b="0">
                <a:solidFill>
                  <a:srgbClr val="FFFFFF"/>
                </a:solidFill>
                <a:latin typeface="Arial"/>
                <a:ea typeface="Arial"/>
                <a:cs typeface="Arial"/>
              </a:defRPr>
            </a:lvl5pPr>
            <a:lvl6pPr>
              <a:defRPr sz="2850" b="0">
                <a:solidFill>
                  <a:srgbClr val="FFFFFF"/>
                </a:solidFill>
                <a:latin typeface="Arial"/>
                <a:ea typeface="Arial"/>
                <a:cs typeface="Arial"/>
              </a:defRPr>
            </a:lvl6pPr>
            <a:lvl7pPr>
              <a:defRPr sz="2850" b="0">
                <a:solidFill>
                  <a:srgbClr val="FFFFFF"/>
                </a:solidFill>
                <a:latin typeface="Arial"/>
                <a:ea typeface="Arial"/>
                <a:cs typeface="Arial"/>
              </a:defRPr>
            </a:lvl7pPr>
            <a:lvl8pPr>
              <a:defRPr sz="2850" b="0">
                <a:solidFill>
                  <a:srgbClr val="FFFFFF"/>
                </a:solidFill>
                <a:latin typeface="Arial"/>
                <a:ea typeface="Arial"/>
                <a:cs typeface="Arial"/>
              </a:defRPr>
            </a:lvl8pPr>
            <a:lvl9pPr>
              <a:defRPr sz="2850" b="0">
                <a:solidFill>
                  <a:srgbClr val="FFFFFF"/>
                </a:solidFill>
                <a:latin typeface="Arial"/>
                <a:ea typeface="Arial"/>
                <a:cs typeface="Arial"/>
              </a:defRPr>
            </a:lvl9pPr>
          </a:lstStyle>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.\run.ps1 all</a:t>
            </a:r>
          </a:p>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.\run.ps1 benchmark</a:t>
            </a:r>
          </a:p>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.\run.ps1 dashboard</a:t>
            </a:r>
          </a:p>
        </p:txBody>
      </p:sp>
      <p:sp>
        <p:nvSpPr>
          <p:cNvPr id="6" name="">
            <a:extLst xmlns:a="http://schemas.openxmlformats.org/drawingml/2006/main">
              <a:ext uri="{FF2B5EF4-FFF2-40B4-BE49-F238E27FC236}">
                <a16:creationId xmlns:a16="http://schemas.microsoft.com/office/drawing/2014/main" id="{36097C1A-6948-43D7-B422-5B7EB5ACF530}"/>
              </a:ext>
            </a:extLst>
          </p:cNvPr>
          <p:cNvSpPr>
            <a:spLocks xmlns:a="http://schemas.openxmlformats.org/drawingml/2006/main" noGrp="1"/>
          </p:cNvSpPr>
          <p:nvPr/>
        </p:nvSpPr>
        <p:spPr>
          <a:xfrm xmlns:a="http://schemas.openxmlformats.org/drawingml/2006/main">
            <a:off x="685800" y="4229100"/>
            <a:ext cx="10525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B7D6CD"/>
                </a:solidFill>
                <a:latin typeface="Arial"/>
                <a:ea typeface="Arial"/>
                <a:cs typeface="Arial"/>
              </a:defRPr>
            </a:defPPr>
            <a:lvl1pPr>
              <a:defRPr sz="2025" b="0">
                <a:solidFill>
                  <a:srgbClr val="B7D6CD"/>
                </a:solidFill>
                <a:latin typeface="Arial"/>
                <a:ea typeface="Arial"/>
                <a:cs typeface="Arial"/>
              </a:defRPr>
            </a:lvl1pPr>
            <a:lvl2pPr>
              <a:defRPr sz="2025" b="0">
                <a:solidFill>
                  <a:srgbClr val="B7D6CD"/>
                </a:solidFill>
                <a:latin typeface="Arial"/>
                <a:ea typeface="Arial"/>
                <a:cs typeface="Arial"/>
              </a:defRPr>
            </a:lvl2pPr>
            <a:lvl3pPr>
              <a:defRPr sz="2025" b="0">
                <a:solidFill>
                  <a:srgbClr val="B7D6CD"/>
                </a:solidFill>
                <a:latin typeface="Arial"/>
                <a:ea typeface="Arial"/>
                <a:cs typeface="Arial"/>
              </a:defRPr>
            </a:lvl3pPr>
            <a:lvl4pPr>
              <a:defRPr sz="2025" b="0">
                <a:solidFill>
                  <a:srgbClr val="B7D6CD"/>
                </a:solidFill>
                <a:latin typeface="Arial"/>
                <a:ea typeface="Arial"/>
                <a:cs typeface="Arial"/>
              </a:defRPr>
            </a:lvl4pPr>
            <a:lvl5pPr>
              <a:defRPr sz="2025" b="0">
                <a:solidFill>
                  <a:srgbClr val="B7D6CD"/>
                </a:solidFill>
                <a:latin typeface="Arial"/>
                <a:ea typeface="Arial"/>
                <a:cs typeface="Arial"/>
              </a:defRPr>
            </a:lvl5pPr>
            <a:lvl6pPr>
              <a:defRPr sz="2025" b="0">
                <a:solidFill>
                  <a:srgbClr val="B7D6CD"/>
                </a:solidFill>
                <a:latin typeface="Arial"/>
                <a:ea typeface="Arial"/>
                <a:cs typeface="Arial"/>
              </a:defRPr>
            </a:lvl6pPr>
            <a:lvl7pPr>
              <a:defRPr sz="2025" b="0">
                <a:solidFill>
                  <a:srgbClr val="B7D6CD"/>
                </a:solidFill>
                <a:latin typeface="Arial"/>
                <a:ea typeface="Arial"/>
                <a:cs typeface="Arial"/>
              </a:defRPr>
            </a:lvl7pPr>
            <a:lvl8pPr>
              <a:defRPr sz="2025" b="0">
                <a:solidFill>
                  <a:srgbClr val="B7D6CD"/>
                </a:solidFill>
                <a:latin typeface="Arial"/>
                <a:ea typeface="Arial"/>
                <a:cs typeface="Arial"/>
              </a:defRPr>
            </a:lvl8pPr>
            <a:lvl9pPr>
              <a:defRPr sz="2025" b="0">
                <a:solidFill>
                  <a:srgbClr val="B7D6CD"/>
                </a:solidFill>
                <a:latin typeface="Arial"/>
                <a:ea typeface="Arial"/>
                <a:cs typeface="Arial"/>
              </a:defRPr>
            </a:lvl9pPr>
          </a:lstStyle>
          <a:p xmlns:a="http://schemas.openxmlformats.org/drawingml/2006/main">
            <a:pPr>
              <a:defRPr sz="2025" b="0">
                <a:solidFill>
                  <a:srgbClr val="B7D6CD"/>
                </a:solidFill>
                <a:latin typeface="Arial"/>
                <a:ea typeface="Arial"/>
                <a:cs typeface="Arial"/>
              </a:defRPr>
            </a:pPr>
            <a:r>
              <a:rPr sz="2025" b="0">
                <a:solidFill>
                  <a:srgbClr val="B7D6CD"/>
                </a:solidFill>
                <a:latin typeface="Arial"/>
                <a:ea typeface="Arial"/>
                <a:cs typeface="Arial"/>
              </a:rPr>
              <a:t>README → project guide → architecture → experimental protocol</a:t>
            </a:r>
          </a:p>
        </p:txBody>
      </p:sp>
      <p:sp>
        <p:nvSpPr>
          <p:cNvPr id="7" name="">
            <a:extLst xmlns:a="http://schemas.openxmlformats.org/drawingml/2006/main">
              <a:ext uri="{FF2B5EF4-FFF2-40B4-BE49-F238E27FC236}">
                <a16:creationId xmlns:a16="http://schemas.microsoft.com/office/drawing/2014/main" id="{58AFF57E-F644-4A87-8000-BA9427F80D86}"/>
              </a:ext>
            </a:extLst>
          </p:cNvPr>
          <p:cNvSpPr>
            <a:spLocks xmlns:a="http://schemas.openxmlformats.org/drawingml/2006/main" noGrp="1"/>
          </p:cNvSpPr>
          <p:nvPr/>
        </p:nvSpPr>
        <p:spPr>
          <a:xfrm xmlns:a="http://schemas.openxmlformats.org/drawingml/2006/main">
            <a:off x="685800" y="5153025"/>
            <a:ext cx="10525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B7D6CD"/>
                </a:solidFill>
                <a:latin typeface="Arial"/>
                <a:ea typeface="Arial"/>
                <a:cs typeface="Arial"/>
              </a:defRPr>
            </a:defPPr>
            <a:lvl1pPr>
              <a:defRPr sz="1875" b="0">
                <a:solidFill>
                  <a:srgbClr val="B7D6CD"/>
                </a:solidFill>
                <a:latin typeface="Arial"/>
                <a:ea typeface="Arial"/>
                <a:cs typeface="Arial"/>
              </a:defRPr>
            </a:lvl1pPr>
            <a:lvl2pPr>
              <a:defRPr sz="1875" b="0">
                <a:solidFill>
                  <a:srgbClr val="B7D6CD"/>
                </a:solidFill>
                <a:latin typeface="Arial"/>
                <a:ea typeface="Arial"/>
                <a:cs typeface="Arial"/>
              </a:defRPr>
            </a:lvl2pPr>
            <a:lvl3pPr>
              <a:defRPr sz="1875" b="0">
                <a:solidFill>
                  <a:srgbClr val="B7D6CD"/>
                </a:solidFill>
                <a:latin typeface="Arial"/>
                <a:ea typeface="Arial"/>
                <a:cs typeface="Arial"/>
              </a:defRPr>
            </a:lvl3pPr>
            <a:lvl4pPr>
              <a:defRPr sz="1875" b="0">
                <a:solidFill>
                  <a:srgbClr val="B7D6CD"/>
                </a:solidFill>
                <a:latin typeface="Arial"/>
                <a:ea typeface="Arial"/>
                <a:cs typeface="Arial"/>
              </a:defRPr>
            </a:lvl4pPr>
            <a:lvl5pPr>
              <a:defRPr sz="1875" b="0">
                <a:solidFill>
                  <a:srgbClr val="B7D6CD"/>
                </a:solidFill>
                <a:latin typeface="Arial"/>
                <a:ea typeface="Arial"/>
                <a:cs typeface="Arial"/>
              </a:defRPr>
            </a:lvl5pPr>
            <a:lvl6pPr>
              <a:defRPr sz="1875" b="0">
                <a:solidFill>
                  <a:srgbClr val="B7D6CD"/>
                </a:solidFill>
                <a:latin typeface="Arial"/>
                <a:ea typeface="Arial"/>
                <a:cs typeface="Arial"/>
              </a:defRPr>
            </a:lvl6pPr>
            <a:lvl7pPr>
              <a:defRPr sz="1875" b="0">
                <a:solidFill>
                  <a:srgbClr val="B7D6CD"/>
                </a:solidFill>
                <a:latin typeface="Arial"/>
                <a:ea typeface="Arial"/>
                <a:cs typeface="Arial"/>
              </a:defRPr>
            </a:lvl7pPr>
            <a:lvl8pPr>
              <a:defRPr sz="1875" b="0">
                <a:solidFill>
                  <a:srgbClr val="B7D6CD"/>
                </a:solidFill>
                <a:latin typeface="Arial"/>
                <a:ea typeface="Arial"/>
                <a:cs typeface="Arial"/>
              </a:defRPr>
            </a:lvl8pPr>
            <a:lvl9pPr>
              <a:defRPr sz="1875" b="0">
                <a:solidFill>
                  <a:srgbClr val="B7D6CD"/>
                </a:solidFill>
                <a:latin typeface="Arial"/>
                <a:ea typeface="Arial"/>
                <a:cs typeface="Arial"/>
              </a:defRPr>
            </a:lvl9pPr>
          </a:lstStyle>
          <a:p xmlns:a="http://schemas.openxmlformats.org/drawingml/2006/main">
            <a:pPr>
              <a:defRPr sz="1875" b="0">
                <a:solidFill>
                  <a:srgbClr val="B7D6CD"/>
                </a:solidFill>
                <a:latin typeface="Arial"/>
                <a:ea typeface="Arial"/>
                <a:cs typeface="Arial"/>
              </a:defRPr>
            </a:pPr>
            <a:r>
              <a:rPr sz="1875" b="0">
                <a:solidFill>
                  <a:srgbClr val="B7D6CD"/>
                </a:solidFill>
                <a:latin typeface="Arial"/>
                <a:ea typeface="Arial"/>
                <a:cs typeface="Arial"/>
              </a:rPr>
              <a:t>CSV + JSONL evidence · Editable DOCX and PPTX · Report and slide PDFs</a:t>
            </a:r>
          </a:p>
        </p:txBody>
      </p:sp>
    </p:spTree>
    <p:extLst>
      <p:ext uri="{BB962C8B-B14F-4D97-AF65-F5344CB8AC3E}">
        <p14:creationId xmlns:p14="http://schemas.microsoft.com/office/powerpoint/2010/main" val="146278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2026-10-20T06:52:05.1800000Z</dcterms:created>
  <dcterms:modified xsi:type="dcterms:W3CDTF">2026-10-20T06:52:05.1800000Z</dcterms:modified>
</coreProperties>
</file>