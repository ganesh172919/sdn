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7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8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2ce94a0ffc4db8" /><Relationship Type="http://schemas.openxmlformats.org/officeDocument/2006/relationships/extended-properties" Target="/docProps/app.xml" Id="Rc26c740d164d4864" /><Relationship Type="http://schemas.openxmlformats.org/officeDocument/2006/relationships/officeDocument" Target="/ppt/presentation.xml" Id="Rede310da80e8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28e8f21e0d4824"/>
  </p:sldMasterIdLst>
  <p:notesMasterIdLst>
    <p:notesMasterId xmlns:r="http://schemas.openxmlformats.org/officeDocument/2006/relationships" r:id="R1c9877cfcaf84627"/>
  </p:notesMasterIdLst>
  <p:sldIdLst>
    <p:sldId xmlns:r="http://schemas.openxmlformats.org/officeDocument/2006/relationships" id="256" r:id="Rb946e60a08a74832"/>
    <p:sldId xmlns:r="http://schemas.openxmlformats.org/officeDocument/2006/relationships" id="257" r:id="R2361f59e0f5a44b4"/>
    <p:sldId xmlns:r="http://schemas.openxmlformats.org/officeDocument/2006/relationships" id="258" r:id="R902a3b0d1ea546c7"/>
    <p:sldId xmlns:r="http://schemas.openxmlformats.org/officeDocument/2006/relationships" id="259" r:id="Ra3a96b7a28134112"/>
    <p:sldId xmlns:r="http://schemas.openxmlformats.org/officeDocument/2006/relationships" id="260" r:id="R9714f5b3f1224a3e"/>
    <p:sldId xmlns:r="http://schemas.openxmlformats.org/officeDocument/2006/relationships" id="261" r:id="R50d37cfb82b0438d"/>
    <p:sldId xmlns:r="http://schemas.openxmlformats.org/officeDocument/2006/relationships" id="262" r:id="R115f19e6749348d2"/>
    <p:sldId xmlns:r="http://schemas.openxmlformats.org/officeDocument/2006/relationships" id="263" r:id="R12bab126ce96428e"/>
    <p:sldId xmlns:r="http://schemas.openxmlformats.org/officeDocument/2006/relationships" id="264" r:id="Rae40540923b54ef5"/>
    <p:sldId xmlns:r="http://schemas.openxmlformats.org/officeDocument/2006/relationships" id="265" r:id="R6b0b0c115e67473e"/>
    <p:sldId xmlns:r="http://schemas.openxmlformats.org/officeDocument/2006/relationships" id="266" r:id="Rbec3f4ec6fe64402"/>
    <p:sldId xmlns:r="http://schemas.openxmlformats.org/officeDocument/2006/relationships" id="267" r:id="Rf7a3948b94cf4a51"/>
    <p:sldId xmlns:r="http://schemas.openxmlformats.org/officeDocument/2006/relationships" id="268" r:id="Rd4c7535270354ea0"/>
    <p:sldId xmlns:r="http://schemas.openxmlformats.org/officeDocument/2006/relationships" id="269" r:id="R6a9f9acb2db641b0"/>
    <p:sldId xmlns:r="http://schemas.openxmlformats.org/officeDocument/2006/relationships" id="270" r:id="R897b95666c724067"/>
    <p:sldId xmlns:r="http://schemas.openxmlformats.org/officeDocument/2006/relationships" id="271" r:id="R1ebaac728f5947e8"/>
    <p:sldId xmlns:r="http://schemas.openxmlformats.org/officeDocument/2006/relationships" id="272" r:id="Rc2e853ccef764115"/>
    <p:sldId xmlns:r="http://schemas.openxmlformats.org/officeDocument/2006/relationships" id="273" r:id="R33f2f60cdb43479e"/>
    <p:sldId xmlns:r="http://schemas.openxmlformats.org/officeDocument/2006/relationships" id="274" r:id="R02735a3a79504444"/>
    <p:sldId xmlns:r="http://schemas.openxmlformats.org/officeDocument/2006/relationships" id="275" r:id="Rde3c5464ef9848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c214a2b0484f32" /><Relationship Type="http://schemas.openxmlformats.org/officeDocument/2006/relationships/slideMaster" Target="/ppt/slideMasters/slideMaster1.xml" Id="R1d28e8f21e0d4824" /><Relationship Type="http://schemas.openxmlformats.org/officeDocument/2006/relationships/notesMaster" Target="/ppt/notesMasters/notesMaster1.xml" Id="R1c9877cfcaf84627" /><Relationship Type="http://schemas.openxmlformats.org/officeDocument/2006/relationships/presProps" Target="/ppt/presProps.xml" Id="R4f3a3f4a0d0e4e62" /><Relationship Type="http://schemas.openxmlformats.org/officeDocument/2006/relationships/tableStyles" Target="/ppt/tableStyles.xml" Id="R5cdf5497f78640f3" /><Relationship Type="http://schemas.openxmlformats.org/officeDocument/2006/relationships/slide" Target="/ppt/slides/slide1.xml" Id="Rb946e60a08a74832" /><Relationship Type="http://schemas.openxmlformats.org/officeDocument/2006/relationships/slide" Target="/ppt/slides/slide2.xml" Id="R2361f59e0f5a44b4" /><Relationship Type="http://schemas.openxmlformats.org/officeDocument/2006/relationships/slide" Target="/ppt/slides/slide3.xml" Id="R902a3b0d1ea546c7" /><Relationship Type="http://schemas.openxmlformats.org/officeDocument/2006/relationships/slide" Target="/ppt/slides/slide4.xml" Id="Ra3a96b7a28134112" /><Relationship Type="http://schemas.openxmlformats.org/officeDocument/2006/relationships/slide" Target="/ppt/slides/slide5.xml" Id="R9714f5b3f1224a3e" /><Relationship Type="http://schemas.openxmlformats.org/officeDocument/2006/relationships/slide" Target="/ppt/slides/slide6.xml" Id="R50d37cfb82b0438d" /><Relationship Type="http://schemas.openxmlformats.org/officeDocument/2006/relationships/slide" Target="/ppt/slides/slide7.xml" Id="R115f19e6749348d2" /><Relationship Type="http://schemas.openxmlformats.org/officeDocument/2006/relationships/slide" Target="/ppt/slides/slide8.xml" Id="R12bab126ce96428e" /><Relationship Type="http://schemas.openxmlformats.org/officeDocument/2006/relationships/slide" Target="/ppt/slides/slide9.xml" Id="Rae40540923b54ef5" /><Relationship Type="http://schemas.openxmlformats.org/officeDocument/2006/relationships/slide" Target="/ppt/slides/slide10.xml" Id="R6b0b0c115e67473e" /><Relationship Type="http://schemas.openxmlformats.org/officeDocument/2006/relationships/slide" Target="/ppt/slides/slide11.xml" Id="Rbec3f4ec6fe64402" /><Relationship Type="http://schemas.openxmlformats.org/officeDocument/2006/relationships/slide" Target="/ppt/slides/slide12.xml" Id="Rf7a3948b94cf4a51" /><Relationship Type="http://schemas.openxmlformats.org/officeDocument/2006/relationships/slide" Target="/ppt/slides/slide13.xml" Id="Rd4c7535270354ea0" /><Relationship Type="http://schemas.openxmlformats.org/officeDocument/2006/relationships/slide" Target="/ppt/slides/slide14.xml" Id="R6a9f9acb2db641b0" /><Relationship Type="http://schemas.openxmlformats.org/officeDocument/2006/relationships/slide" Target="/ppt/slides/slide15.xml" Id="R897b95666c724067" /><Relationship Type="http://schemas.openxmlformats.org/officeDocument/2006/relationships/slide" Target="/ppt/slides/slide16.xml" Id="R1ebaac728f5947e8" /><Relationship Type="http://schemas.openxmlformats.org/officeDocument/2006/relationships/slide" Target="/ppt/slides/slide17.xml" Id="Rc2e853ccef764115" /><Relationship Type="http://schemas.openxmlformats.org/officeDocument/2006/relationships/slide" Target="/ppt/slides/slide18.xml" Id="R33f2f60cdb43479e" /><Relationship Type="http://schemas.openxmlformats.org/officeDocument/2006/relationships/slide" Target="/ppt/slides/slide19.xml" Id="R02735a3a79504444" /><Relationship Type="http://schemas.openxmlformats.org/officeDocument/2006/relationships/slide" Target="/ppt/slides/slide20.xml" Id="Rde3c5464ef9848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3947f52d344f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641d80efc24cf1" /><Relationship Type="http://schemas.openxmlformats.org/officeDocument/2006/relationships/notesMaster" Target="/ppt/notesMasters/notesMaster1.xml" Id="Rd40b04c9fc294d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2358c1f21c4155" /><Relationship Type="http://schemas.openxmlformats.org/officeDocument/2006/relationships/notesMaster" Target="/ppt/notesMasters/notesMaster1.xml" Id="Ra48dc163074f40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dc5a9885be4291" /><Relationship Type="http://schemas.openxmlformats.org/officeDocument/2006/relationships/notesMaster" Target="/ppt/notesMasters/notesMaster1.xml" Id="R25b3ec7f5c6c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28f87fefe94d37" /><Relationship Type="http://schemas.openxmlformats.org/officeDocument/2006/relationships/notesMaster" Target="/ppt/notesMasters/notesMaster1.xml" Id="R529d7bdf343d43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b0dabd783d4935" /><Relationship Type="http://schemas.openxmlformats.org/officeDocument/2006/relationships/notesMaster" Target="/ppt/notesMasters/notesMaster1.xml" Id="R7fc49a554b5947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97ff105c744492" /><Relationship Type="http://schemas.openxmlformats.org/officeDocument/2006/relationships/notesMaster" Target="/ppt/notesMasters/notesMaster1.xml" Id="R7ce251d983b64f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78b797d3e948d2" /><Relationship Type="http://schemas.openxmlformats.org/officeDocument/2006/relationships/notesMaster" Target="/ppt/notesMasters/notesMaster1.xml" Id="R912cc5734e144a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5092c99ba64f10" /><Relationship Type="http://schemas.openxmlformats.org/officeDocument/2006/relationships/notesMaster" Target="/ppt/notesMasters/notesMaster1.xml" Id="R2dbb998e636047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270ff79eed4bf4" /><Relationship Type="http://schemas.openxmlformats.org/officeDocument/2006/relationships/notesMaster" Target="/ppt/notesMasters/notesMaster1.xml" Id="R7de17bd0c55a42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fb185d85a54af3" /><Relationship Type="http://schemas.openxmlformats.org/officeDocument/2006/relationships/notesMaster" Target="/ppt/notesMasters/notesMaster1.xml" Id="R36fe8b6a1f6845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ee7342a3f94567" /><Relationship Type="http://schemas.openxmlformats.org/officeDocument/2006/relationships/notesMaster" Target="/ppt/notesMasters/notesMaster1.xml" Id="Rf383ea8bf99941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61942e2c2d4c13" /><Relationship Type="http://schemas.openxmlformats.org/officeDocument/2006/relationships/notesMaster" Target="/ppt/notesMasters/notesMaster1.xml" Id="R76d50a876de044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dfeb7dc5054c8d" /><Relationship Type="http://schemas.openxmlformats.org/officeDocument/2006/relationships/notesMaster" Target="/ppt/notesMasters/notesMaster1.xml" Id="R9a81cf9ebe7b47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8996451261460e" /><Relationship Type="http://schemas.openxmlformats.org/officeDocument/2006/relationships/notesMaster" Target="/ppt/notesMasters/notesMaster1.xml" Id="Rb8ea3f63f95741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0c67c21fcc4105" /><Relationship Type="http://schemas.openxmlformats.org/officeDocument/2006/relationships/notesMaster" Target="/ppt/notesMasters/notesMaster1.xml" Id="Ref83721e814048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9ca53841fe4024" /><Relationship Type="http://schemas.openxmlformats.org/officeDocument/2006/relationships/notesMaster" Target="/ppt/notesMasters/notesMaster1.xml" Id="R312824a36de04b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688d6c69e04eb2" /><Relationship Type="http://schemas.openxmlformats.org/officeDocument/2006/relationships/notesMaster" Target="/ppt/notesMasters/notesMaster1.xml" Id="R953a8ec5b1024c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01c6b4409c4097" /><Relationship Type="http://schemas.openxmlformats.org/officeDocument/2006/relationships/notesMaster" Target="/ppt/notesMasters/notesMaster1.xml" Id="Rb2119a5ca8f54c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70315045dd4770" /><Relationship Type="http://schemas.openxmlformats.org/officeDocument/2006/relationships/notesMaster" Target="/ppt/notesMasters/notesMaster1.xml" Id="R9972f7686bf347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459da5ce584e1d" /><Relationship Type="http://schemas.openxmlformats.org/officeDocument/2006/relationships/notesMaster" Target="/ppt/notesMasters/notesMaster1.xml" Id="R5e343f1d396d4e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primary evaluation, matched H2 ablation and actual Gemini/free OpenRouter integration. This project does not claim physical-network or production SLA results. All artifacts and evidence are inside selfx.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dashboard shows generated traffic, actual provider suggestions, validation, simulated rule lifecycle and measured feedback. The Linux Mininet/Ryu path remains separate and is not validated by this fluid-model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Capacity-scaled demand, feasibility margins and queues preserve load magnitude. Retrieval requires matching regimes, local calipers and strictly prior cycles. The evidence margin is a decision heuristic, not a calibrated confidence interval. Equivalent clipped caps are one 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cap is min(elephant, max(0.8×elephant, capacity−primary background−headroom, 0.512)) Mbps, rounded upward to integer kbps. This example is arithmetic, not a new empirical result. Total loss includes meter drops and overflow.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local timeout kills and joins the client worker. Cloud generation already accepted by a provider may continue. Healthy load does not need an API call. The cache is bounded to 64 entries, 12-window TTL, exact demand/queue/topology signature and revalidation. Local fallback cache is never labeled API cache. No API work is moved outside control timing.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seeds 1900–1909 are distinct from development 1880/1881. The final provider seeds are 1980/1981. Earlier accelerated 1920/1921 and scheduled 1940/1941 diagnostic traces remain preserved separately. The final rerun follows a bypass/cache optimization; primary network rules were unchanged. Statistics: paired seed percentile bootstrap, 4,000 draws, RNG 4099, exploratory without multiplicity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output/benchmarks/v4/metrics.csv and summary.json. Mean of window loss, including meter drops. This is a system-policy gain that includes new meter logic; it is not attributed solely to memory. Graph atlas also reports pooled volume loss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Reward weights: latency delta /50 at −0.4, goodput delta /5000 at +0.4, loss delta /20 at −0.2. Each installed action is compared with same-state modeled no-op after selection. V3 is the preserved previous A4 algorithm.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Network delay is a delivery-weighted finite-buffer fluid proxy, not packet RTT. The report and atlas include scenario effects and paired 95% seed intervals. Heavily overloaded cases remain limited by the unchanged 20% flow-drop safety bound.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explores then uses parameter-conditioned prior evidence. Its cold-start cost stays in the primary aggregate. H2 isolates the extra effect of memory; O2 is a privileged immediate-reward reference with the same actions, not a deployable or long-horizon bound.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curves include all eight scenarios and ten seeds. Offline rule-learning replay seed 1880 stores actual parameter evidence and strict past-cycle retrieval, rather than fabricated learning narratives. No neural embedding or LLM weights are fine-tuned.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latency_gemini_pooled and latency_openrouter_pooled metrics. Mean is system-level and affected by call count and local reuse. It is not provider server latency alone. Small two-seed pilot; mode order reversed on second seed, service variability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process deadline includes local startup, admission pacing and cancellation. A normal operating system is not a hard real-time environment. Client termination cannot cancel remote generation already accepted by a provider. Full max and misses are in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provider audits retain status, actual model when known, usage, transport and total elapsed time. Admission deferral starts no request. API success means schema-valid response; the independent safety validator can reject it. Saved rule replay exposes the raw suggestion and final installed decision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Misses derive from perf_counter full-cycle timings &gt;5000 ms. Accelerated and initial scheduled diagnostics are preserved separately and are not pooled into these final 1980/1981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provider traces retain raw suggestion, rejection reason, bounded fallback, rule cookie/instructions, meter cap, prior-rule expiry, same-state no-op comparison, delivered/lost volume and reward. No physical switch is contacted. Replay makes no new API 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output/benchmarks/v4/latency_gemini_scheduled/trace.jsonl, seed 1940 cycle 4. This diagnostic example is explicitly identified, not presented as a final-pilot record. The final pilot and replay also retain all real suggestions and local decisions. No invented response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the free router or :free model IDs are used for OpenRouter. Catalog checks and generation audits are preserved under output/benchmarks/v4/free_model_checks.json. Credentials remain in ignored .env and are excluded from all documents and archives.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 final verification is output/verification.json. Runtime status is output/runtime_validation.json. Every report/PDF page and presentation slide is rendered for visual QA. Old v2/v3 raw evidence and canonical artifact history are retained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graphs are PNG/SVG under output/benchmarks/v4/figures, with a 17-page PDF atlas and source hashes. Editable DOCX and PPTX, native exported PDFs and evidence ZIP are under output/submission. Primary results show loss/reward gains over H1 with a delay tradeoff, not uniform superiority or a causal LLM benefit. Live pilots have only two seeds.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c9cafd6e349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ed0bf79d047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c5da253f14e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f8d2a7b9b4c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03401ce6a4e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db4835f3841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AC9B2E-D007-4BE1-B48B-7652E074A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C4F135-3232-44F3-8126-F86E85E8E7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AF5EA5-1A9F-4178-8D38-7396E3062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1E7846-76FF-45A0-98BE-A58EA3582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2AA71F-4018-4560-BAD1-E74B3FC65F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ECB749-8EFD-4077-830B-C999043459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6EB444-177C-4D6D-9C3F-12ABB205B0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A73CE5-4F06-4F30-88FA-0B8EBC2ED0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4A3638-7E1A-44FE-97DA-18EE3803A3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FF3272-C3D6-4775-A7C0-39A7F82BD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98c2526f734088" /><Relationship Type="http://schemas.openxmlformats.org/officeDocument/2006/relationships/slideLayout" Target="/ppt/slideLayouts/slideLayout1.xml" Id="R284fc183d81b4175" /><Relationship Type="http://schemas.openxmlformats.org/officeDocument/2006/relationships/slideLayout" Target="/ppt/slideLayouts/slideLayout2.xml" Id="R0f46a1687cce494a" /><Relationship Type="http://schemas.openxmlformats.org/officeDocument/2006/relationships/slideLayout" Target="/ppt/slideLayouts/slideLayout3.xml" Id="Rf4da876e866240b0" /><Relationship Type="http://schemas.openxmlformats.org/officeDocument/2006/relationships/slideLayout" Target="/ppt/slideLayouts/slideLayout4.xml" Id="R3ff63ff8c2974495" /><Relationship Type="http://schemas.openxmlformats.org/officeDocument/2006/relationships/slideLayout" Target="/ppt/slideLayouts/slideLayout5.xml" Id="R7851eb9d075b492b" /><Relationship Type="http://schemas.openxmlformats.org/officeDocument/2006/relationships/slideLayout" Target="/ppt/slideLayouts/slideLayout6.xml" Id="R35c1b10c804547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4fc183d81b4175"/>
    <p:sldLayoutId xmlns:r="http://schemas.openxmlformats.org/officeDocument/2006/relationships" id="2147483650" r:id="R0f46a1687cce494a"/>
    <p:sldLayoutId xmlns:r="http://schemas.openxmlformats.org/officeDocument/2006/relationships" id="2147483651" r:id="Rf4da876e866240b0"/>
    <p:sldLayoutId xmlns:r="http://schemas.openxmlformats.org/officeDocument/2006/relationships" id="2147483652" r:id="R3ff63ff8c2974495"/>
    <p:sldLayoutId xmlns:r="http://schemas.openxmlformats.org/officeDocument/2006/relationships" id="2147483653" r:id="R7851eb9d075b492b"/>
    <p:sldLayoutId xmlns:r="http://schemas.openxmlformats.org/officeDocument/2006/relationships" id="2147483654" r:id="R35c1b10c804547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e90e2b2b4462c" /><Relationship Type="http://schemas.openxmlformats.org/officeDocument/2006/relationships/notesSlide" Target="/ppt/notesSlides/notesSlide1.xml" Id="R513cca96f91548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ffda5bbf14894" /><Relationship Type="http://schemas.openxmlformats.org/officeDocument/2006/relationships/notesSlide" Target="/ppt/notesSlides/notesSlide2.xml" Id="R6be3b3fcc51f48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fc7a2e5f34ba1" /><Relationship Type="http://schemas.openxmlformats.org/officeDocument/2006/relationships/notesSlide" Target="/ppt/notesSlides/notesSlide3.xml" Id="R8b8baea848c448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8a967571f4b0b" /><Relationship Type="http://schemas.openxmlformats.org/officeDocument/2006/relationships/notesSlide" Target="/ppt/notesSlides/notesSlide4.xml" Id="Re82b6cbc41d24b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dfe66415447f3" /><Relationship Type="http://schemas.openxmlformats.org/officeDocument/2006/relationships/notesSlide" Target="/ppt/notesSlides/notesSlide5.xml" Id="R70be96a8a2be42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2fb4725714a05" /><Relationship Type="http://schemas.openxmlformats.org/officeDocument/2006/relationships/notesSlide" Target="/ppt/notesSlides/notesSlide6.xml" Id="R154cb2cb0e7243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2764d254944c6" /><Relationship Type="http://schemas.openxmlformats.org/officeDocument/2006/relationships/chart" Target="/ppt/slides/charts/chart1.xml" Id="Rae78d1a563a54d53" /><Relationship Type="http://schemas.openxmlformats.org/officeDocument/2006/relationships/notesSlide" Target="/ppt/notesSlides/notesSlide7.xml" Id="Rb7dfcf0cd41d4f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30912c6fe4443" /><Relationship Type="http://schemas.openxmlformats.org/officeDocument/2006/relationships/chart" Target="/ppt/slides/charts/chart2.xml" Id="Rdc209304f7414a9f" /><Relationship Type="http://schemas.openxmlformats.org/officeDocument/2006/relationships/notesSlide" Target="/ppt/notesSlides/notesSlide8.xml" Id="R3e60b53c882f49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34ecb061b43f2" /><Relationship Type="http://schemas.openxmlformats.org/officeDocument/2006/relationships/notesSlide" Target="/ppt/notesSlides/notesSlide9.xml" Id="Rd2ac1f42732847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f5cb7f83c42e5" /><Relationship Type="http://schemas.openxmlformats.org/officeDocument/2006/relationships/chart" Target="/ppt/slides/charts/chart3.xml" Id="Rec90770e07234c76" /><Relationship Type="http://schemas.openxmlformats.org/officeDocument/2006/relationships/notesSlide" Target="/ppt/notesSlides/notesSlide10.xml" Id="R015ced89509440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321d6cbe8d4a9f" /><Relationship Type="http://schemas.openxmlformats.org/officeDocument/2006/relationships/chart" Target="/ppt/slides/charts/chart4.xml" Id="R9d0a892f104b4c87" /><Relationship Type="http://schemas.openxmlformats.org/officeDocument/2006/relationships/notesSlide" Target="/ppt/notesSlides/notesSlide11.xml" Id="Reea57993a95d4d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7d87c4aeb412e" /><Relationship Type="http://schemas.openxmlformats.org/officeDocument/2006/relationships/chart" Target="/ppt/slides/charts/chart5.xml" Id="Rf1e5f17e51474cda" /><Relationship Type="http://schemas.openxmlformats.org/officeDocument/2006/relationships/notesSlide" Target="/ppt/notesSlides/notesSlide12.xml" Id="R6a20281d40004c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4ff2886a0483c" /><Relationship Type="http://schemas.openxmlformats.org/officeDocument/2006/relationships/chart" Target="/ppt/slides/charts/chart6.xml" Id="Rbd124f7822444059" /><Relationship Type="http://schemas.openxmlformats.org/officeDocument/2006/relationships/notesSlide" Target="/ppt/notesSlides/notesSlide13.xml" Id="Rb030486e36d247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52d9cb4bc4eaf" /><Relationship Type="http://schemas.openxmlformats.org/officeDocument/2006/relationships/notesSlide" Target="/ppt/notesSlides/notesSlide14.xml" Id="Rdd30c82e08294a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15595826c4633" /><Relationship Type="http://schemas.openxmlformats.org/officeDocument/2006/relationships/chart" Target="/ppt/slides/charts/chart7.xml" Id="Rb363b6038934455e" /><Relationship Type="http://schemas.openxmlformats.org/officeDocument/2006/relationships/notesSlide" Target="/ppt/notesSlides/notesSlide15.xml" Id="Ra363952c8e6a4a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a6c057b7a4de2" /><Relationship Type="http://schemas.openxmlformats.org/officeDocument/2006/relationships/notesSlide" Target="/ppt/notesSlides/notesSlide16.xml" Id="R28cb3f6800b147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f030b669a54543" /><Relationship Type="http://schemas.openxmlformats.org/officeDocument/2006/relationships/notesSlide" Target="/ppt/notesSlides/notesSlide17.xml" Id="R819b049320ee4e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bdcfbe44c465f" /><Relationship Type="http://schemas.openxmlformats.org/officeDocument/2006/relationships/chart" Target="/ppt/slides/charts/chart8.xml" Id="R996c4059b2684118" /><Relationship Type="http://schemas.openxmlformats.org/officeDocument/2006/relationships/notesSlide" Target="/ppt/notesSlides/notesSlide18.xml" Id="R8b2a0cc21f3a43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010ee286b4215" /><Relationship Type="http://schemas.openxmlformats.org/officeDocument/2006/relationships/notesSlide" Target="/ppt/notesSlides/notesSlide19.xml" Id="Raef128fad22a45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010d07fb0489e" /><Relationship Type="http://schemas.openxmlformats.org/officeDocument/2006/relationships/notesSlide" Target="/ppt/notesSlides/notesSlide20.xml" Id="R87cae27bafdc4f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total loss %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A0</c:v>
                </c:pt>
                <c:pt idx="1">
                  <c:v>A2</c:v>
                </c:pt>
                <c:pt idx="2">
                  <c:v>H1</c:v>
                </c:pt>
                <c:pt idx="3">
                  <c:v>H2</c:v>
                </c:pt>
                <c:pt idx="4">
                  <c:v>A4</c:v>
                </c:pt>
                <c:pt idx="5">
                  <c:v>O2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8.14944</c:v>
                </c:pt>
                <c:pt idx="1">
                  <c:v>8.303947</c:v>
                </c:pt>
                <c:pt idx="2">
                  <c:v>7.391415</c:v>
                </c:pt>
                <c:pt idx="3">
                  <c:v>7.076821</c:v>
                </c:pt>
                <c:pt idx="4">
                  <c:v>7.075128</c:v>
                </c:pt>
                <c:pt idx="5">
                  <c:v>7.050116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reward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H1</c:v>
                </c:pt>
                <c:pt idx="1">
                  <c:v>V3</c:v>
                </c:pt>
                <c:pt idx="2">
                  <c:v>H2</c:v>
                </c:pt>
                <c:pt idx="3">
                  <c:v>A4</c:v>
                </c:pt>
              </c:strCache>
            </c:strRef>
          </c:cat>
          <c:val>
            <c:numRef>
              <c:f>'Chart Data'!$B$2:$B$5</c:f>
              <c:numCache>
                <c:formatCode>0.00000</c:formatCode>
                <c:ptCount val="4"/>
                <c:pt idx="0">
                  <c:v>0.077639</c:v>
                </c:pt>
                <c:pt idx="1">
                  <c:v>0.077639</c:v>
                </c:pt>
                <c:pt idx="2">
                  <c:v>0.083304</c:v>
                </c:pt>
                <c:pt idx="3">
                  <c:v>0.082764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reward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H1</c:v>
                </c:pt>
                <c:pt idx="1">
                  <c:v>H2</c:v>
                </c:pt>
                <c:pt idx="2">
                  <c:v>A4</c:v>
                </c:pt>
              </c:strCache>
            </c:strRef>
          </c:cat>
          <c:val>
            <c:numRef>
              <c:f>'Chart Data'!$B$2:$B$4</c:f>
              <c:numCache>
                <c:formatCode>0.00000</c:formatCode>
                <c:ptCount val="3"/>
                <c:pt idx="0">
                  <c:v>0.077639</c:v>
                </c:pt>
                <c:pt idx="1">
                  <c:v>0.083304</c:v>
                </c:pt>
                <c:pt idx="2">
                  <c:v>0.082764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H1</c:v>
          </c:tx>
          <c:spPr>
            <a:solidFill xmlns:a="http://schemas.openxmlformats.org/drawingml/2006/main">
              <a:srgbClr val="234F7D"/>
            </a:solidFill>
          </c:spPr>
          <c:invertIfNegative val="0"/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12</c:v>
                </c:pt>
                <c:pt idx="3">
                  <c:v>30</c:v>
                </c:pt>
                <c:pt idx="4">
                  <c:v>60</c:v>
                </c:pt>
                <c:pt idx="5">
                  <c:v>120</c:v>
                </c:pt>
              </c:numCache>
            </c:num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0.024621</c:v>
                </c:pt>
                <c:pt idx="1">
                  <c:v>0.067435</c:v>
                </c:pt>
                <c:pt idx="2">
                  <c:v>0.090139</c:v>
                </c:pt>
                <c:pt idx="3">
                  <c:v>0.084794</c:v>
                </c:pt>
                <c:pt idx="4">
                  <c:v>0.08857</c:v>
                </c:pt>
                <c:pt idx="5">
                  <c:v>0.077639</c:v>
                </c:pt>
              </c:numCache>
            </c:numRef>
          </c:val>
        </c:ser>
        <c:ser>
          <c:idx val="1"/>
          <c:order val="1"/>
          <c:tx>
            <c:v>H2</c:v>
          </c:tx>
          <c:spPr>
            <a:solidFill xmlns:a="http://schemas.openxmlformats.org/drawingml/2006/main">
              <a:srgbClr val="59A4AC"/>
            </a:solidFill>
          </c:spPr>
          <c:invertIfNegative val="0"/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12</c:v>
                </c:pt>
                <c:pt idx="3">
                  <c:v>30</c:v>
                </c:pt>
                <c:pt idx="4">
                  <c:v>60</c:v>
                </c:pt>
                <c:pt idx="5">
                  <c:v>120</c:v>
                </c:pt>
              </c:numCache>
            </c:numRef>
          </c:cat>
          <c:val>
            <c:numRef>
              <c:f>'Chart Data'!$D$2:$D$7</c:f>
              <c:numCache>
                <c:formatCode>0.000</c:formatCode>
                <c:ptCount val="6"/>
                <c:pt idx="0">
                  <c:v>0.028995</c:v>
                </c:pt>
                <c:pt idx="1">
                  <c:v>0.072038</c:v>
                </c:pt>
                <c:pt idx="2">
                  <c:v>0.094417</c:v>
                </c:pt>
                <c:pt idx="3">
                  <c:v>0.088783</c:v>
                </c:pt>
                <c:pt idx="4">
                  <c:v>0.092414</c:v>
                </c:pt>
                <c:pt idx="5">
                  <c:v>0.083304</c:v>
                </c:pt>
              </c:numCache>
            </c:numRef>
          </c:val>
        </c:ser>
        <c:ser>
          <c:idx val="2"/>
          <c:order val="2"/>
          <c:tx>
            <c:v>A4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numRef>
              <c:f>'Chart Data'!$E$2:$E$7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12</c:v>
                </c:pt>
                <c:pt idx="3">
                  <c:v>30</c:v>
                </c:pt>
                <c:pt idx="4">
                  <c:v>60</c:v>
                </c:pt>
                <c:pt idx="5">
                  <c:v>120</c:v>
                </c:pt>
              </c:numCache>
            </c:numRef>
          </c:cat>
          <c:val>
            <c:numRef>
              <c:f>'Chart Data'!$F$2:$F$7</c:f>
              <c:numCache>
                <c:formatCode>0.000</c:formatCode>
                <c:ptCount val="6"/>
                <c:pt idx="0">
                  <c:v>0.028995</c:v>
                </c:pt>
                <c:pt idx="1">
                  <c:v>0.07215</c:v>
                </c:pt>
                <c:pt idx="2">
                  <c:v>0.094596</c:v>
                </c:pt>
                <c:pt idx="3">
                  <c:v>0.088239</c:v>
                </c:pt>
                <c:pt idx="4">
                  <c:v>0.091844</c:v>
                </c:pt>
                <c:pt idx="5">
                  <c:v>0.082764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previous</c:v>
          </c:tx>
          <c:spPr>
            <a:solidFill xmlns:a="http://schemas.openxmlformats.org/drawingml/2006/main">
              <a:srgbClr val="467D9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0.486259</c:v>
                </c:pt>
                <c:pt idx="1">
                  <c:v>0.524132</c:v>
                </c:pt>
              </c:numCache>
            </c:numRef>
          </c:val>
        </c:ser>
        <c:ser>
          <c:idx val="1"/>
          <c:order val="1"/>
          <c:tx>
            <c:v>bounded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0.487277</c:v>
                </c:pt>
                <c:pt idx="1">
                  <c:v>1.22167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previous</c:v>
          </c:tx>
          <c:spPr>
            <a:solidFill xmlns:a="http://schemas.openxmlformats.org/drawingml/2006/main">
              <a:srgbClr val="467D9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1.087104</c:v>
                </c:pt>
                <c:pt idx="1">
                  <c:v>2.094094</c:v>
                </c:pt>
              </c:numCache>
            </c:numRef>
          </c:val>
        </c:ser>
        <c:ser>
          <c:idx val="1"/>
          <c:order val="1"/>
          <c:tx>
            <c:v>bounded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1.511037</c:v>
                </c:pt>
                <c:pt idx="1">
                  <c:v>3.620241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previous</c:v>
          </c:tx>
          <c:spPr>
            <a:solidFill xmlns:a="http://schemas.openxmlformats.org/drawingml/2006/main">
              <a:srgbClr val="467D9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v>bounded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Model IDs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Valid response</c:v>
                </c:pt>
                <c:pt idx="1">
                  <c:v>Unavailable / error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</c:v>
                </c:pt>
                <c:pt idx="1">
                  <c:v>16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6ED74-80D6-4C38-8E35-FE27654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7C0BA"/>
                </a:solidFill>
                <a:latin typeface="Arial"/>
                <a:ea typeface="Arial"/>
                <a:cs typeface="Arial"/>
              </a:rPr>
              <a:t>01 / SELF-X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DD0D4-CE0D-4D2E-992A-9CA93E23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C0BA"/>
                </a:solidFill>
                <a:latin typeface="Arial"/>
                <a:ea typeface="Arial"/>
                <a:cs typeface="Arial"/>
              </a:rPr>
              <a:t>Measured revision 4 · 20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E2327-A21C-424C-AE4F-3F902336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81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SELF-X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D271C-1F75-4B07-AAA2-298F885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Loss-aware control</a:t>
            </a:r>
          </a:p>
          <a:p xmlns:a="http://schemas.openxmlformats.org/drawingml/2006/main">
            <a: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bounded provider waiting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A3239-631C-4D8D-BB26-48FD1006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1062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7D6CD"/>
                </a:solidFill>
                <a:latin typeface="Arial"/>
                <a:ea typeface="Arial"/>
                <a:cs typeface="Arial"/>
              </a:rPr>
              <a:t>Simulated traffic · Actual API requests · Complete rule replay</a:t>
            </a:r>
          </a:p>
        </p:txBody>
      </p:sp>
    </p:spTree>
    <p:extLst>
      <p:ext uri="{BB962C8B-B14F-4D97-AF65-F5344CB8AC3E}">
        <p14:creationId xmlns:p14="http://schemas.microsoft.com/office/powerpoint/2010/main" val="1378208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FCFA-8029-4DBE-B72A-E6E4305D11E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20000" y="4867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2AB06-9095-4A77-B623-8C026B286C0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10000" y="4867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BD3CF-6734-4AC6-91F8-38C279E9B021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38375" y="3562350"/>
            <a:ext cx="762000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B8D6E-9ADD-4E55-B336-3ED52CD5A48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620000" y="31718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9C03A-59EB-4EFA-AC3E-09B3C74F9BA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810000" y="31718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C321D-D7BB-4ADE-BC68-58538CA0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Project goal and closed-loop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05329-7763-4DB0-A369-86EE7BBD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02 / SELF-X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CB66A-75F2-4ADB-8042-21A05A3B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Source: saved v4 CSV, JSON and provider audits · All network outcomes are simulated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06AB9-BE51-43C3-8000-B71097CB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81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Use earlier traffic outcomes to choose a bounded, reviewable flow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84718-79FD-4919-8F99-047D7AE7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F24AA-7FA7-432C-AD13-47B32A9A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F0EF5-0A4E-48E0-B7D8-CF84F9DA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Suggest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3CB86-5C99-42EF-AE32-DE5706C4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CEAA4-1916-4B84-8239-CCE5644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Install / expire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41337-3653-42C0-83B7-C0384A5E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Measure / learn</a:t>
            </a:r>
          </a:p>
        </p:txBody>
      </p:sp>
    </p:spTree>
    <p:extLst>
      <p:ext uri="{BB962C8B-B14F-4D97-AF65-F5344CB8AC3E}">
        <p14:creationId xmlns:p14="http://schemas.microsoft.com/office/powerpoint/2010/main" val="1843521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ECF59-8BF0-4135-BB56-B28F3534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Memory now learns the meter parameter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9E84A-C35D-4FD0-895F-BE11E778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03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E1090-E346-4D58-8015-E1BF0AF7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No candidate simulator outcome is queried during A4 selection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4D367-2D25-4B40-B7D3-0C17832476B5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667125"/>
                <a:gridCol w="5067300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Previous v3 A4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Current A4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Episode key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Context + action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Context + action + actual cap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Retention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96 episodes / 4 per cell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128 episodes / 6 per cell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Meter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Fixed 80% of flow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Capacity fitting + bounded headroom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Action advantage gate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3 prior observations per parameter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Conservative action reuse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Explore, then compare prior rewards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3BC23-58F7-488B-AD55-B263CF16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Headroom candidates: 0, 0.1 and 0.3 Mbps. Cold start remains in all results.</a:t>
            </a:r>
          </a:p>
        </p:txBody>
      </p:sp>
    </p:spTree>
    <p:extLst>
      <p:ext uri="{BB962C8B-B14F-4D97-AF65-F5344CB8AC3E}">
        <p14:creationId xmlns:p14="http://schemas.microsoft.com/office/powerpoint/2010/main" val="2414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B20FD-2D3F-4DCB-B38C-164B87A9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Remove only the traffic the capacity requires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5DAB5-5020-4CBE-8AC2-A9373275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04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0D5DD-B61C-4DBC-9AFD-05AD969E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Independent safety limits are unchanged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49C19-5B33-4006-8CF1-C4404051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Example: 5 Mbps primary background + 5.2 Mbps elephant; alternate busy.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B29B9-C585-4195-91B8-02CBE5E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H1 cap: 4.16 Mbps. Capacity-aware cap: 4.90 Mbps (0.1 Mbps headroom).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2FC30-1766-42C0-B7B4-01BE32BE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Bound: at least 80% of elephant demand and at least 512 kbps.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90132-DCF0-4A37-B480-EFBAB7E0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Reroute only if alternate demand stays at or below 90% of capacity.</a:t>
            </a:r>
          </a:p>
        </p:txBody>
      </p:sp>
    </p:spTree>
    <p:extLst>
      <p:ext uri="{BB962C8B-B14F-4D97-AF65-F5344CB8AC3E}">
        <p14:creationId xmlns:p14="http://schemas.microsoft.com/office/powerpoint/2010/main" val="1216167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A97E1-6C07-4336-AE51-2FD8614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Bound the provider wait and retain every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E6D72-D9DA-4BDB-97AE-FF35996E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05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5BF24-C47A-441A-A957-FEFD7BEF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3.8 s local wait budget inside a 5 s control interval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55F29-2775-473C-9842-A8F48DF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Admit or defer by request pacing; deferral starts no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EEC84-F81F-4749-BCB1-F5E2C33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Use a compact call in a cancellable process. Count startup and cleanup.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82F66-71B1-40CF-B41E-19A7BE56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Validate a fresh proposal; otherwise install the explicit local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D8BC8-DA7E-4D49-A71B-0E05E2F6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Reuse exact validated rules, or supported memory, with distinct origins.</a:t>
            </a:r>
          </a:p>
        </p:txBody>
      </p:sp>
    </p:spTree>
    <p:extLst>
      <p:ext uri="{BB962C8B-B14F-4D97-AF65-F5344CB8AC3E}">
        <p14:creationId xmlns:p14="http://schemas.microsoft.com/office/powerpoint/2010/main" val="1249088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01CA6-935F-41F8-8BC3-2B148DE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Fresh evaluation with a matched attribution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746F4-B282-4D4B-9E48-85DC856D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06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86D29-20A2-42B3-BEFF-9583F49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Primary rules frozen before seeds 1900–1909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7E6D7-B173-4416-A1E7-24164FB841B9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25767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Evidence set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Design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8 scenarios × 10 seeds × 120 × 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86,400 offline controller windows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H1 comparison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Old fixed 20% meter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Improvement over previous baseline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H2 comparison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New meter, fixed 0.1 headroom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Isolate extra memory effect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Final live pilot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2 fresh seeds × 12 × 2 modes / provider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Actual API timing and suggestions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Rule-learning replay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120 recurring windows, seed 1880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Show exploration, memory and expiry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0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E661C-C711-4DF2-A5FF-A0F68502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A4 reduces loss beyond H1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82D61-B0B0-4081-9669-FBA6ADAF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07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3389F-A4A2-4825-9B55-D86F4F59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Primary: equal weight per scenario and paired seed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0A0C917-63A4-4217-8550-85647C700AB3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78d1a563a54d5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70BBA-84CA-480E-89E0-4AEC70B6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H1 7.391% → A4 7.075%</a:t>
            </a:r>
          </a:p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A4 minus H1: -0.316 percentage points</a:t>
            </a:r>
          </a:p>
        </p:txBody>
      </p:sp>
    </p:spTree>
    <p:extLst>
      <p:ext uri="{BB962C8B-B14F-4D97-AF65-F5344CB8AC3E}">
        <p14:creationId xmlns:p14="http://schemas.microsoft.com/office/powerpoint/2010/main" val="812517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D3BAE-3297-400B-A6F0-F7FD248E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Reward improves over the old H1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9821D-D768-406D-9340-4A36960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08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5CAAE-2D49-413F-914F-CFA744B5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Higher no-op-relative reward is better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424E1D4-BB98-4C11-986E-84D10B5789B8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209304f7414a9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4B48D-85B9-493D-94A5-F97E1D08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A4 − H1: 0.005126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Matched H2 remains above A4 in mean reward.</a:t>
            </a:r>
          </a:p>
        </p:txBody>
      </p:sp>
    </p:spTree>
    <p:extLst>
      <p:ext uri="{BB962C8B-B14F-4D97-AF65-F5344CB8AC3E}">
        <p14:creationId xmlns:p14="http://schemas.microsoft.com/office/powerpoint/2010/main" val="797327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10A88-DC7F-4637-AFDC-ED8402F3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The loss gain has a delay 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EFD20-3250-4956-81B6-EC00A039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09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5D7FB-CC82-47E4-9A85-46DFF2BA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Report all metrics together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8E1B9-9421-4F2E-A13B-E4ADFA797648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2190750"/>
                <a:gridCol w="2667000"/>
                <a:gridCol w="2476500"/>
                <a:gridCol w="1781175"/>
              </a:tblGrid>
              <a:tr h="520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Controller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Delay ms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Goodput Mbps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Loss %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Reward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H1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17.131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12.956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7.391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0.077639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V3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17.131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12.956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7.391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0.077639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H2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17.363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13.011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7.077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0.083304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A4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17.452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13.011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7.075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0.082764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O2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17.096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13.016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7.050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0.086096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2F6EB-7ADA-4BEA-83DD-5EB266C3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A4 − H1 modeled delay: +0.322 ms.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Lower loss and higher reward do not imply improvement in every metric.</a:t>
            </a:r>
          </a:p>
        </p:txBody>
      </p:sp>
    </p:spTree>
    <p:extLst>
      <p:ext uri="{BB962C8B-B14F-4D97-AF65-F5344CB8AC3E}">
        <p14:creationId xmlns:p14="http://schemas.microsoft.com/office/powerpoint/2010/main" val="219261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86CD4-F84B-4D2A-945F-41C8B244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H2 prevents over-attributing the gain to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D61A9-C10B-473A-8F90-167C75D4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10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2635F-DBEB-4A46-88A7-D6EA2F4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Same meter candidates; fixed headroom and no memory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CE83B4F-BCA8-4D4A-A13D-8550680126D0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90770e07234c7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DBD7B-4C8B-4348-8F2F-DEDCF1E1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A4 − H2 reward: -0.000540.</a:t>
            </a:r>
          </a:p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The primary suite does not establish an extra reward gain from memory.</a:t>
            </a:r>
          </a:p>
        </p:txBody>
      </p:sp>
    </p:spTree>
    <p:extLst>
      <p:ext uri="{BB962C8B-B14F-4D97-AF65-F5344CB8AC3E}">
        <p14:creationId xmlns:p14="http://schemas.microsoft.com/office/powerpoint/2010/main" val="721909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1996D-7D2B-4094-B8D0-284C22C2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Learning is visible, including exploration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5A521-7A16-48B5-B7DF-BD5D9DEA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11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10C8A-3759-4B85-BB1C-BF096091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Primary reward over increasing prefix length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E5303FA-BAC0-4BC9-BA81-3116EF87F9F0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0a892f104b4c8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B2E02-871F-4227-95B0-681FE282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Separate 120-window replay: 15 exploration, 45 supported memory decisions.</a:t>
            </a:r>
          </a:p>
          <a:p xmlns:a="http://schemas.openxmlformats.org/drawingml/2006/main">
            <a: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Mechanism demonstration is separate from held-out performance evidence.</a:t>
            </a:r>
          </a:p>
        </p:txBody>
      </p:sp>
    </p:spTree>
    <p:extLst>
      <p:ext uri="{BB962C8B-B14F-4D97-AF65-F5344CB8AC3E}">
        <p14:creationId xmlns:p14="http://schemas.microsoft.com/office/powerpoint/2010/main" val="1259252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9FC8F-7E62-4003-AE26-CFD21334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Actual full-cycle provider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2593F-790E-419E-AA5D-F05FC821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12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62A0D-98B1-43A5-B754-111F5CB4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Final pilot: observations every five wall-clock seconds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B9F9B23-8DB6-4CA0-884A-33698F62FD6B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e5f17e51474cd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C1EF3-F526-436C-A6D0-10669629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Includes pacing, process startup, cancellation, validation and memory update.</a:t>
            </a:r>
          </a:p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Observation idle time is separately recorded.</a:t>
            </a:r>
          </a:p>
        </p:txBody>
      </p:sp>
    </p:spTree>
    <p:extLst>
      <p:ext uri="{BB962C8B-B14F-4D97-AF65-F5344CB8AC3E}">
        <p14:creationId xmlns:p14="http://schemas.microsoft.com/office/powerpoint/2010/main" val="1415507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2279F-827A-4116-ADA1-F096CFFB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P95 full-cycle timing and the control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7305A-199A-46F0-9D4C-907B8A88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13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97187-7048-49A0-972E-ECFAAD7F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Local wait deadline does not guarantee a provider response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16EE5F5-0847-4077-A6BA-6D37848F3682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124f782244405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DDB6B-528C-452B-98D0-38A59BF0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Control target: 5 seconds. Provider wait budget: 3.8 seconds.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 timeout uses an explicit local rule and stays in all metrics.</a:t>
            </a:r>
          </a:p>
        </p:txBody>
      </p:sp>
    </p:spTree>
    <p:extLst>
      <p:ext uri="{BB962C8B-B14F-4D97-AF65-F5344CB8AC3E}">
        <p14:creationId xmlns:p14="http://schemas.microsoft.com/office/powerpoint/2010/main" val="13049714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19871-6C6E-40C2-BD45-24DAC5BC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Coverage: fresh responses remain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8C26F-BAA4-4070-B85B-B4E7BDD6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14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E9233-8451-436B-B0C7-3D04FC1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Answered requests can still fail rule validation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453E2-D4E0-45C2-B7EC-2A55C23882E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857500"/>
                <a:gridCol w="1866900"/>
                <a:gridCol w="18669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Provider / mode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Answered / calls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Timeouts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Deferrals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gemini / previous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12/12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gemini / bounded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10/10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openrouter / previous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3/8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openrouter / bounded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5/10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22C8D-E993-4A27-BEF6-C8A94812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Cache, local-rule cache, healthy bypass and memory are local origins.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No missing API answer is replaced with an invented model response.</a:t>
            </a:r>
          </a:p>
        </p:txBody>
      </p:sp>
    </p:spTree>
    <p:extLst>
      <p:ext uri="{BB962C8B-B14F-4D97-AF65-F5344CB8AC3E}">
        <p14:creationId xmlns:p14="http://schemas.microsoft.com/office/powerpoint/2010/main" val="2021893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910B6-C782-45EF-9584-B34A4437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Observed five-second control misses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1EA37-9A0B-41AB-8C9D-9DAED3D1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15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262D9-9DCE-4E97-9D0F-08C09C3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Every window, including fallbacks and timeouts, is retained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E53BDB4-DB56-42DC-907A-F2B30CD8D1AB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63b6038934455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40ECC-BB4E-4474-B5D8-93ADC129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24 control windows per mode and provider.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Interpret misses together with the response-coverage table.</a:t>
            </a:r>
          </a:p>
        </p:txBody>
      </p:sp>
    </p:spTree>
    <p:extLst>
      <p:ext uri="{BB962C8B-B14F-4D97-AF65-F5344CB8AC3E}">
        <p14:creationId xmlns:p14="http://schemas.microsoft.com/office/powerpoint/2010/main" val="5650993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D4AA4-3AE2-41E7-86E8-40A736348E8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20000" y="4181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99444-1AB3-463B-BE97-9C10763C4F4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810000" y="4181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E682E-40BB-4708-8B4B-51431FA11513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38375" y="2876550"/>
            <a:ext cx="762000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301E0-5CBA-44DF-925E-1E96CDAFC76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20000" y="2486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3906A-1A8E-4309-B804-EFB098CC80A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2486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E8F8D-ABF6-4135-9B37-3D8D42D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 complete rule lifecycle you can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88950-A3D9-4205-B209-65E6326F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16 / SELF-X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60354-0A50-4D5F-9E50-A7C4D4AC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Dashboard → Rule demo → provider → seed → Play or 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52321-06EA-4A72-A17F-4CFBBC3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Observe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4C2CD-7E12-4E96-BCEF-45FD45B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Inspect 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130AE-4166-4475-A796-AE7CB248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Validate exact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68A35-B762-407A-BE84-CDCB5810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Install / expire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EDEA0-42F6-46F3-9AAB-DACEF963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Measure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CD2B1-E7D1-4557-8426-382C6F73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Store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B40B6-7A5D-468F-8DD3-C235E65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ADD: exact flow, priority 100, hard_timeout 5 s; OUTPUT 3 or METER + OUTPUT 2.</a:t>
            </a:r>
          </a:p>
          <a:p xmlns:a="http://schemas.openxmlformats.org/drawingml/2006/main">
            <a: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Final expiry restores default port 2. Installation is simulated.</a:t>
            </a:r>
          </a:p>
        </p:txBody>
      </p:sp>
    </p:spTree>
    <p:extLst>
      <p:ext uri="{BB962C8B-B14F-4D97-AF65-F5344CB8AC3E}">
        <p14:creationId xmlns:p14="http://schemas.microsoft.com/office/powerpoint/2010/main" val="16445994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5E81F-B0AE-45E1-9E5D-F42E5514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Suggestions and installed rules can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7AD1D-4CBD-4D44-8596-0FA3B967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17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B5E0A-59B4-472B-9222-B5E4C7E7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First scheduled diagnostic: unsafe reroute rejected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897D9-2873-4147-962A-7D7DAD643BBC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Recorded evidence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Observe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Primary congested; alternate reroute would reach about 140.9%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Gemini suggestion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reroute: primary congested and alternate is safe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Independent validator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Reject: alternate exceeds the 90% capacity ceiling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Installed local action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Capacity-aware bounded meter, output port 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Audit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Raw suggestion, guard reason, installed rule and outcome retained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864C1-B093-4E4C-ADC1-51CCE620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 model explanation cannot override the deterministic safety gate.</a:t>
            </a:r>
          </a:p>
        </p:txBody>
      </p:sp>
    </p:spTree>
    <p:extLst>
      <p:ext uri="{BB962C8B-B14F-4D97-AF65-F5344CB8AC3E}">
        <p14:creationId xmlns:p14="http://schemas.microsoft.com/office/powerpoint/2010/main" val="3649586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2D4E8-96B3-41D3-90DD-9400D3B6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Free-model availability is a separate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1C50D-A492-4668-9CDC-6291F20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18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B01CD-41CC-4C35-88F4-C2E800F8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Every discovered zero-price model ID receives one healthy JSON check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BDC6E34-B234-493F-A5F0-E70E7D0EF615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6c4059b268411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603DF-2C91-48BE-837F-5D2A19C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1/17 valid compact action responses in this timestamped sweep.</a:t>
            </a:r>
          </a:p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14 rate/quota failures (429), 2 access denials (403); availability is not quality.</a:t>
            </a:r>
          </a:p>
        </p:txBody>
      </p:sp>
    </p:spTree>
    <p:extLst>
      <p:ext uri="{BB962C8B-B14F-4D97-AF65-F5344CB8AC3E}">
        <p14:creationId xmlns:p14="http://schemas.microsoft.com/office/powerpoint/2010/main" val="14252434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47322-621E-4762-8FCB-99F62613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Runtime and submission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F2352-A790-49BA-913D-FDADC389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19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72F74-F08D-431F-8E04-C3794AAE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Complete portable project runs inside selfx/.venv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1E8C6-71A8-48F2-9A15-C7BA0A526CE5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258175"/>
              </a:tblGrid>
              <a:tr h="5646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Tests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55 passed, 4 subtests passed in 6.20s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Hash-matched traces, summary means, conservation, past-only retrieval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Deadline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Hung worker terminated; no surviving child; honest deferred/cache origins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Browser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Provider replay, learning demo, offline run, desktop/mobile navigation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Artifacts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Editable charts/tables, embedded workbooks, native PDF export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Scope / keys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Selfx outputs only; .env excluded from source ZIP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4142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E2DAE-5A38-400F-B910-0C02C4B0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Reproduce the demo and assess the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F2B41-D7BA-4A1D-A14A-354C4CB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20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6185B-240E-4086-8A13-04019936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Local dashboard: http://127.0.0.1:8766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219BA-AAE6-4BD8-A853-FC042227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810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Run: .\run.ps1 all; .\run.ps1 dashboard -Port 8766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D5724-2DA2-47BA-A653-890C2078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10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Replay: Rule demo → Gemini / OpenRouter / 120-window memory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55194-06B0-4D52-B807-97086CC8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10810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Review: docs/BENCHMARKS_V4.md, docs/RULE_DEMO.md, ARCHITECTURE.Rmd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BA2F0-6CDA-42A2-B30B-982A5145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10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Limits: fluid simulation; memory does not beat matched H2 reward; no SLA.</a:t>
            </a:r>
          </a:p>
        </p:txBody>
      </p:sp>
    </p:spTree>
    <p:extLst>
      <p:ext uri="{BB962C8B-B14F-4D97-AF65-F5344CB8AC3E}">
        <p14:creationId xmlns:p14="http://schemas.microsoft.com/office/powerpoint/2010/main" val="724398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2026-10-20T08:53:44.2790000Z</dcterms:created>
  <dcterms:modified xsi:type="dcterms:W3CDTF">2026-10-20T08:53:44.2790000Z</dcterms:modified>
</coreProperties>
</file>