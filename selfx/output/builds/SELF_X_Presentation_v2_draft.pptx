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24b6cfc4fa476c" /><Relationship Type="http://schemas.openxmlformats.org/officeDocument/2006/relationships/extended-properties" Target="/docProps/app.xml" Id="R641a6be80b344ee1" /><Relationship Type="http://schemas.openxmlformats.org/officeDocument/2006/relationships/officeDocument" Target="/ppt/presentation.xml" Id="R1fb70b6612634329" /></Relationships>
</file>

<file path=ppt/presentation.xml><?xml version="1.0" encoding="utf-8"?>
<p:presentation xmlns:p="http://schemas.openxmlformats.org/presentationml/2006/main">
  <p:sldMasterIdLst>
    <p:sldMasterId xmlns:r="http://schemas.openxmlformats.org/officeDocument/2006/relationships" id="2147483648" r:id="R285fce311bb943e8"/>
  </p:sldMasterIdLst>
  <p:notesMasterIdLst>
    <p:notesMasterId xmlns:r="http://schemas.openxmlformats.org/officeDocument/2006/relationships" r:id="R213276a878a54846"/>
  </p:notesMasterIdLst>
  <p:sldIdLst>
    <p:sldId xmlns:r="http://schemas.openxmlformats.org/officeDocument/2006/relationships" id="256" r:id="Rc9a57ee50bac4b81"/>
    <p:sldId xmlns:r="http://schemas.openxmlformats.org/officeDocument/2006/relationships" id="257" r:id="Rbf8805dd2612461a"/>
    <p:sldId xmlns:r="http://schemas.openxmlformats.org/officeDocument/2006/relationships" id="258" r:id="R83508d50d8de45f3"/>
    <p:sldId xmlns:r="http://schemas.openxmlformats.org/officeDocument/2006/relationships" id="259" r:id="R3dea9b8caf674208"/>
    <p:sldId xmlns:r="http://schemas.openxmlformats.org/officeDocument/2006/relationships" id="260" r:id="R1d4578c0739040d2"/>
    <p:sldId xmlns:r="http://schemas.openxmlformats.org/officeDocument/2006/relationships" id="261" r:id="Rb99d092262914a1a"/>
    <p:sldId xmlns:r="http://schemas.openxmlformats.org/officeDocument/2006/relationships" id="262" r:id="Rc18193dff68c43da"/>
    <p:sldId xmlns:r="http://schemas.openxmlformats.org/officeDocument/2006/relationships" id="263" r:id="R21732d0cee374050"/>
    <p:sldId xmlns:r="http://schemas.openxmlformats.org/officeDocument/2006/relationships" id="264" r:id="Rdd90a697ac704786"/>
    <p:sldId xmlns:r="http://schemas.openxmlformats.org/officeDocument/2006/relationships" id="265" r:id="R614642442cb74cec"/>
    <p:sldId xmlns:r="http://schemas.openxmlformats.org/officeDocument/2006/relationships" id="266" r:id="R3a0be14b2b434372"/>
    <p:sldId xmlns:r="http://schemas.openxmlformats.org/officeDocument/2006/relationships" id="267" r:id="R61107681ad0a4f91"/>
    <p:sldId xmlns:r="http://schemas.openxmlformats.org/officeDocument/2006/relationships" id="268" r:id="R412ecb96216540ad"/>
    <p:sldId xmlns:r="http://schemas.openxmlformats.org/officeDocument/2006/relationships" id="269" r:id="R5b7d81f782174e9c"/>
    <p:sldId xmlns:r="http://schemas.openxmlformats.org/officeDocument/2006/relationships" id="270" r:id="R9e0ff0571e0e489f"/>
    <p:sldId xmlns:r="http://schemas.openxmlformats.org/officeDocument/2006/relationships" id="271" r:id="R19dc07532c514d4c"/>
    <p:sldId xmlns:r="http://schemas.openxmlformats.org/officeDocument/2006/relationships" id="272" r:id="R4cd8a0c736374ec9"/>
    <p:sldId xmlns:r="http://schemas.openxmlformats.org/officeDocument/2006/relationships" id="273" r:id="Rbb6c546aaaf743be"/>
    <p:sldId xmlns:r="http://schemas.openxmlformats.org/officeDocument/2006/relationships" id="274" r:id="R2901fb316bb84f07"/>
    <p:sldId xmlns:r="http://schemas.openxmlformats.org/officeDocument/2006/relationships" id="275" r:id="R32364acdbf1a4226"/>
    <p:sldId xmlns:r="http://schemas.openxmlformats.org/officeDocument/2006/relationships" id="276" r:id="Re7f0ce59bf0b4b2a"/>
    <p:sldId xmlns:r="http://schemas.openxmlformats.org/officeDocument/2006/relationships" id="277" r:id="R86f927d2575e46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a5f984bbb04c67" /><Relationship Type="http://schemas.openxmlformats.org/officeDocument/2006/relationships/slideMaster" Target="/ppt/slideMasters/slideMaster1.xml" Id="R285fce311bb943e8" /><Relationship Type="http://schemas.openxmlformats.org/officeDocument/2006/relationships/notesMaster" Target="/ppt/notesMasters/notesMaster1.xml" Id="R213276a878a54846" /><Relationship Type="http://schemas.openxmlformats.org/officeDocument/2006/relationships/presProps" Target="/ppt/presProps.xml" Id="R89179582451a4dc2" /><Relationship Type="http://schemas.openxmlformats.org/officeDocument/2006/relationships/tableStyles" Target="/ppt/tableStyles.xml" Id="R9a43200242e6484e" /><Relationship Type="http://schemas.openxmlformats.org/officeDocument/2006/relationships/slide" Target="/ppt/slides/slide1.xml" Id="Rc9a57ee50bac4b81" /><Relationship Type="http://schemas.openxmlformats.org/officeDocument/2006/relationships/slide" Target="/ppt/slides/slide2.xml" Id="Rbf8805dd2612461a" /><Relationship Type="http://schemas.openxmlformats.org/officeDocument/2006/relationships/slide" Target="/ppt/slides/slide3.xml" Id="R83508d50d8de45f3" /><Relationship Type="http://schemas.openxmlformats.org/officeDocument/2006/relationships/slide" Target="/ppt/slides/slide4.xml" Id="R3dea9b8caf674208" /><Relationship Type="http://schemas.openxmlformats.org/officeDocument/2006/relationships/slide" Target="/ppt/slides/slide5.xml" Id="R1d4578c0739040d2" /><Relationship Type="http://schemas.openxmlformats.org/officeDocument/2006/relationships/slide" Target="/ppt/slides/slide6.xml" Id="Rb99d092262914a1a" /><Relationship Type="http://schemas.openxmlformats.org/officeDocument/2006/relationships/slide" Target="/ppt/slides/slide7.xml" Id="Rc18193dff68c43da" /><Relationship Type="http://schemas.openxmlformats.org/officeDocument/2006/relationships/slide" Target="/ppt/slides/slide8.xml" Id="R21732d0cee374050" /><Relationship Type="http://schemas.openxmlformats.org/officeDocument/2006/relationships/slide" Target="/ppt/slides/slide9.xml" Id="Rdd90a697ac704786" /><Relationship Type="http://schemas.openxmlformats.org/officeDocument/2006/relationships/slide" Target="/ppt/slides/slide10.xml" Id="R614642442cb74cec" /><Relationship Type="http://schemas.openxmlformats.org/officeDocument/2006/relationships/slide" Target="/ppt/slides/slide11.xml" Id="R3a0be14b2b434372" /><Relationship Type="http://schemas.openxmlformats.org/officeDocument/2006/relationships/slide" Target="/ppt/slides/slide12.xml" Id="R61107681ad0a4f91" /><Relationship Type="http://schemas.openxmlformats.org/officeDocument/2006/relationships/slide" Target="/ppt/slides/slide13.xml" Id="R412ecb96216540ad" /><Relationship Type="http://schemas.openxmlformats.org/officeDocument/2006/relationships/slide" Target="/ppt/slides/slide14.xml" Id="R5b7d81f782174e9c" /><Relationship Type="http://schemas.openxmlformats.org/officeDocument/2006/relationships/slide" Target="/ppt/slides/slide15.xml" Id="R9e0ff0571e0e489f" /><Relationship Type="http://schemas.openxmlformats.org/officeDocument/2006/relationships/slide" Target="/ppt/slides/slide16.xml" Id="R19dc07532c514d4c" /><Relationship Type="http://schemas.openxmlformats.org/officeDocument/2006/relationships/slide" Target="/ppt/slides/slide17.xml" Id="R4cd8a0c736374ec9" /><Relationship Type="http://schemas.openxmlformats.org/officeDocument/2006/relationships/slide" Target="/ppt/slides/slide18.xml" Id="Rbb6c546aaaf743be" /><Relationship Type="http://schemas.openxmlformats.org/officeDocument/2006/relationships/slide" Target="/ppt/slides/slide19.xml" Id="R2901fb316bb84f07" /><Relationship Type="http://schemas.openxmlformats.org/officeDocument/2006/relationships/slide" Target="/ppt/slides/slide20.xml" Id="R32364acdbf1a4226" /><Relationship Type="http://schemas.openxmlformats.org/officeDocument/2006/relationships/slide" Target="/ppt/slides/slide21.xml" Id="Re7f0ce59bf0b4b2a" /><Relationship Type="http://schemas.openxmlformats.org/officeDocument/2006/relationships/slide" Target="/ppt/slides/slide22.xml" Id="R86f927d2575e46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80ca14e3044a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80300830004134" /><Relationship Type="http://schemas.openxmlformats.org/officeDocument/2006/relationships/notesMaster" Target="/ppt/notesMasters/notesMaster1.xml" Id="R7b0f7438c76f48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5071d346b44c97" /><Relationship Type="http://schemas.openxmlformats.org/officeDocument/2006/relationships/notesMaster" Target="/ppt/notesMasters/notesMaster1.xml" Id="R13dead1787eb4d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49623c78c148f9" /><Relationship Type="http://schemas.openxmlformats.org/officeDocument/2006/relationships/notesMaster" Target="/ppt/notesMasters/notesMaster1.xml" Id="R427e2ab771ce46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1e34f4a43a4cc1" /><Relationship Type="http://schemas.openxmlformats.org/officeDocument/2006/relationships/notesMaster" Target="/ppt/notesMasters/notesMaster1.xml" Id="R9dabc7780a9d44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9cddddbfe542e0" /><Relationship Type="http://schemas.openxmlformats.org/officeDocument/2006/relationships/notesMaster" Target="/ppt/notesMasters/notesMaster1.xml" Id="R588e03ab020b41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b8643990294a29" /><Relationship Type="http://schemas.openxmlformats.org/officeDocument/2006/relationships/notesMaster" Target="/ppt/notesMasters/notesMaster1.xml" Id="R0e58ca25b7b44a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0cf8dcf41149d5" /><Relationship Type="http://schemas.openxmlformats.org/officeDocument/2006/relationships/notesMaster" Target="/ppt/notesMasters/notesMaster1.xml" Id="Re272b9a5b98b4e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09bc091df94e14" /><Relationship Type="http://schemas.openxmlformats.org/officeDocument/2006/relationships/notesMaster" Target="/ppt/notesMasters/notesMaster1.xml" Id="R420f2d44e42949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c5e33e3a86499e" /><Relationship Type="http://schemas.openxmlformats.org/officeDocument/2006/relationships/notesMaster" Target="/ppt/notesMasters/notesMaster1.xml" Id="Rf70218a4670841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2492352add4ab9" /><Relationship Type="http://schemas.openxmlformats.org/officeDocument/2006/relationships/notesMaster" Target="/ppt/notesMasters/notesMaster1.xml" Id="R45bacbe2a7bb49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b8aa17fe404164" /><Relationship Type="http://schemas.openxmlformats.org/officeDocument/2006/relationships/notesMaster" Target="/ppt/notesMasters/notesMaster1.xml" Id="R51e3b3eec25c4e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54af082df9477d" /><Relationship Type="http://schemas.openxmlformats.org/officeDocument/2006/relationships/notesMaster" Target="/ppt/notesMasters/notesMaster1.xml" Id="Rca9a509f467348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d5c7f334c24e3b" /><Relationship Type="http://schemas.openxmlformats.org/officeDocument/2006/relationships/notesMaster" Target="/ppt/notesMasters/notesMaster1.xml" Id="R9bd315d7ffda40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15d7c8453a42a1" /><Relationship Type="http://schemas.openxmlformats.org/officeDocument/2006/relationships/notesMaster" Target="/ppt/notesMasters/notesMaster1.xml" Id="Rdd20c4d755d845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2df2d376bb4071" /><Relationship Type="http://schemas.openxmlformats.org/officeDocument/2006/relationships/notesMaster" Target="/ppt/notesMasters/notesMaster1.xml" Id="R129dc5605d1d4c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9ed5a9e5c84071" /><Relationship Type="http://schemas.openxmlformats.org/officeDocument/2006/relationships/notesMaster" Target="/ppt/notesMasters/notesMaster1.xml" Id="Re8e617bb6bcb48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21c1a76b1a4c47" /><Relationship Type="http://schemas.openxmlformats.org/officeDocument/2006/relationships/notesMaster" Target="/ppt/notesMasters/notesMaster1.xml" Id="R6d0296b6097946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bbec75089442e3" /><Relationship Type="http://schemas.openxmlformats.org/officeDocument/2006/relationships/notesMaster" Target="/ppt/notesMasters/notesMaster1.xml" Id="R7b22be4711764e9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65cafbc5c74e12" /><Relationship Type="http://schemas.openxmlformats.org/officeDocument/2006/relationships/notesMaster" Target="/ppt/notesMasters/notesMaster1.xml" Id="R32f3bc55ddba4e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dffd86da834e89" /><Relationship Type="http://schemas.openxmlformats.org/officeDocument/2006/relationships/notesMaster" Target="/ppt/notesMasters/notesMaster1.xml" Id="Re3ef6185a2dd40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7dd5664c484867" /><Relationship Type="http://schemas.openxmlformats.org/officeDocument/2006/relationships/notesMaster" Target="/ppt/notesMasters/notesMaster1.xml" Id="R0083cb95f5304d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bbccc416fd54860" /><Relationship Type="http://schemas.openxmlformats.org/officeDocument/2006/relationships/notesMaster" Target="/ppt/notesMasters/notesMaster1.xml" Id="R272f8ccc19e341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submission. Network metrics are produced by a documented finite-buffer fluid model. Provider calls are real. The report distinguishes technical execution from an empirical improvement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selfx folder contained a Python SDN agent, reward, memory and evaluation code, without a website UI. The local dashboard adds a review and replay surface. The research question compares A2 with the same controller without memory, 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portable runner orchestrates shared modules directly. The retained Ryu adapter uses the original LangGraph pipeline. Invalid output or unsafe actions become visible no-op outcomes. Source: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diamond is an aggregate two-bottleneck fluid model with logical endpoints, not eight instantiated hosts. Each new window starts its elephant flow on the primary; actions expire per window and queues persist. The separate original Mininet topology remains linear and has no alternate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primary background/10, alternate background/10, elephant/10, primary queue/0.5, alternate queue/0.5, total primary load/10, constant 0.1; then L2 normalization. Lowest-reward pruning retains 30 episodes. A1 has disabled memory. Every seed and condition resets memory. Motivation: Shinn et al., Reflexion,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Simulation validation rejects unknown switches, incomplete or mismatched flow identifiers and invalid output ports. Deterministic bounds are local safety constraints, not a proof of network stability or SLA compliance. Reference for separate Ryu flow/meter API: https://ryu.readthedocs.io/en/latest/app/ofctl_rest.html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traffic bytes and zero initial queues for every condition. SHA256 values are stored in summaries. Main offline experiment: 5×120×4=2400 windows, 600 simulated seconds per seed and condition. API pilots are smaller and are not real-time packet emulation. Paired seed-level Student-t intervals avoid treating windows as independent replicates.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These are deterministic policy results, not LLM benchmark scores. A2 has lower delay than static A0 but higher delay than A1. The same-controller memory comparison is the central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Pooled volume loss differs from the arithmetic mean of per-window loss; both statistics are retained in summary.json. A2 reuse sometimes proposes an infeasible action, which is vetoed.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offline trace contains 62 vetoes for A2. Future studies could compare feasibility-aware retrieval, negative-example retention and recent-window memory. These are hypotheses requiring fresh experiments, not implemented claims of better results. Shinn et al.,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Exact endpoint: gemini-3.5-flash-lite. All 288 paced calls succeeded; no decision fallback. A1 and A2 each contain 72 control windows and 72 reflections. The earlier unpaced quota failure is preserved separately. This small difference does not establish a robust performance advantage. Pacing plus two calls exceeds a five-second real-time deadline. Official sources: https://ai.google.dev/gemini-api/docs/models and https://ai.google.dev/gemini-api/docs/rate-limits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output/free_model_checks.json and output/experiments/openrouter/provider_calls.json. The catalog returned 17 zero-price :free IDs; 9 passed. Some errors were HTTP 403/429 or incomplete/non-JSON output. Router model identity varies and is recorded. Paid OpenRouter model IDs are blocked by the adapter. https://openrouter.ai/docs/guides/routing/routers/free-router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Shinn et al., Reflexion: https://arxiv.org/abs/2303.11366 . Rusek et al., RouteNet: https://arxiv.org/abs/1910.01508 . RouteNet reports worst-case mean relative error 15.4% for its KPI prediction evaluation; this is not a latency reduction and is not reproduced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include the original graph, safety, memory, reward, counter and result writer tests plus portable simulation and dashboard checks. Browser validation covers decision navigation, offline replay, JavaScript errors and mobile overflow. Linux Mininet/Ryu deployment remains unvalidated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TCP dynamics, scheduling, real NetFlow collection, packet RTT or p95 measurement is implemented in the portable model. Captured dataset calibration and generalization studies remain. Request quotas are external constraints. The scientific conclusion is limited to the implemented workload and 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output/benchmarks/v2/summary.json. Six scenarios: mixed demand, flash crowd, busy alternate, distribution shift, persistent overload and light load. Eight controllers × six scenarios × ten seeds × 120 windows = 57,600. B2 is a guarded ECMP-style stable flow hash motivated by RFC 2992, https://www.rfc-editor.org/rfc/rfc2992 . O1 has privileged simulator knowledge and is not a long-horizon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output/benchmarks/v2/summary.json. IDs: A0 static; B1 least-loaded; B2 guarded ECMP-style; A1 original threshold; A2 original memory; H1 guarded no memory; A3 guarded balanced memory; O1 myopic model reference. Both paths saturated in persistent overload, so every controller has the same delay mean. Light load is a negative control. Uncertainty intervals and paired differences are in the report and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guard must be isolated from memory. A3 reuses only feasible current actions and balances positive, negative and recent episodes. It never evaluates simulator outcomes to select a policy action. The paired mixed-load bootstrap interval is [0.17126789333333364,0.830164216291667] ms. Resampling uses ten paired seed differences and 4,000 draws. Exploratory comparisons have no multiplicity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output/benchmark_chart_data.json. Loss includes deliberate meter drops. Lower delay alone is insufficient; the report and atlas contain tradeoffs and empirical distributions. No claim of global learning or stability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measured perf_counter timings in output/benchmarks/v2/metrics.csv. Each controller uses identical batching for memory persistence to make local computation timing comparable. O1 evaluates several candidates and has a different information advantage. The benchmark atlas also shows P95 computation time and queue heatmaps.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output/experiments/gemini_venv/summary.json and provider_calls.json. One seed × twelve windows × A1/A2 × decision/reflection gives 48 calls. API timing includes request pacing. Network time is simulated independently. The earlier three-seed, 288-call pilot is retained. The refreshed free-model sweep currently passes 9/17 access/schema checks; that is not a network-control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API evidence can be inspected without new calls. New live experiments require credentials and remaining quota. All source and deliverable paths remain inside selfx. The package excludes .env, caches and local dependency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c56962bf034e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f61e73d98345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d1ff84f0bf4c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7c93f5c23347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62ad4a7eb84c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d5a78d658945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4e2b9ffb5e49ab" /><Relationship Type="http://schemas.openxmlformats.org/officeDocument/2006/relationships/slideLayout" Target="/ppt/slideLayouts/slideLayout1.xml" Id="R1d731e1394e2461a" /><Relationship Type="http://schemas.openxmlformats.org/officeDocument/2006/relationships/slideLayout" Target="/ppt/slideLayouts/slideLayout2.xml" Id="Red1291e5f92d464e" /><Relationship Type="http://schemas.openxmlformats.org/officeDocument/2006/relationships/slideLayout" Target="/ppt/slideLayouts/slideLayout3.xml" Id="R821425d237bd47f0" /><Relationship Type="http://schemas.openxmlformats.org/officeDocument/2006/relationships/slideLayout" Target="/ppt/slideLayouts/slideLayout4.xml" Id="Rd4b11c7f90184160" /><Relationship Type="http://schemas.openxmlformats.org/officeDocument/2006/relationships/slideLayout" Target="/ppt/slideLayouts/slideLayout5.xml" Id="R4a09626e30a540c7" /><Relationship Type="http://schemas.openxmlformats.org/officeDocument/2006/relationships/slideLayout" Target="/ppt/slideLayouts/slideLayout6.xml" Id="Rdfd9c5ff98704f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731e1394e2461a"/>
    <p:sldLayoutId xmlns:r="http://schemas.openxmlformats.org/officeDocument/2006/relationships" id="2147483650" r:id="Red1291e5f92d464e"/>
    <p:sldLayoutId xmlns:r="http://schemas.openxmlformats.org/officeDocument/2006/relationships" id="2147483651" r:id="R821425d237bd47f0"/>
    <p:sldLayoutId xmlns:r="http://schemas.openxmlformats.org/officeDocument/2006/relationships" id="2147483652" r:id="Rd4b11c7f90184160"/>
    <p:sldLayoutId xmlns:r="http://schemas.openxmlformats.org/officeDocument/2006/relationships" id="2147483653" r:id="R4a09626e30a540c7"/>
    <p:sldLayoutId xmlns:r="http://schemas.openxmlformats.org/officeDocument/2006/relationships" id="2147483654" r:id="Rdfd9c5ff98704f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3b48f248ba417d" /><Relationship Type="http://schemas.openxmlformats.org/officeDocument/2006/relationships/notesSlide" Target="/ppt/notesSlides/notesSlide1.xml" Id="R7f155511f0094a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34f79595634678" /><Relationship Type="http://schemas.openxmlformats.org/officeDocument/2006/relationships/notesSlide" Target="/ppt/notesSlides/notesSlide2.xml" Id="R352aa3af8baa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68997217184fc2" /><Relationship Type="http://schemas.openxmlformats.org/officeDocument/2006/relationships/notesSlide" Target="/ppt/notesSlides/notesSlide3.xml" Id="Rf3790e9eb9db4e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d801417a4148c8" /><Relationship Type="http://schemas.openxmlformats.org/officeDocument/2006/relationships/notesSlide" Target="/ppt/notesSlides/notesSlide4.xml" Id="R2ed4ae6c46d249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497af2b4df4b8c" /><Relationship Type="http://schemas.openxmlformats.org/officeDocument/2006/relationships/notesSlide" Target="/ppt/notesSlides/notesSlide5.xml" Id="Rda492b96e3cf4c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64af5dde78456e" /><Relationship Type="http://schemas.openxmlformats.org/officeDocument/2006/relationships/notesSlide" Target="/ppt/notesSlides/notesSlide6.xml" Id="R8d0ec19de3df43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af31fafe8f443e" /><Relationship Type="http://schemas.openxmlformats.org/officeDocument/2006/relationships/notesSlide" Target="/ppt/notesSlides/notesSlide7.xml" Id="R1380faa8e8a947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e36378460de4f08" /><Relationship Type="http://schemas.openxmlformats.org/officeDocument/2006/relationships/chart" Target="/ppt/slides/charts/chart1.xml" Id="R9f1aa9ed572245e6" /><Relationship Type="http://schemas.openxmlformats.org/officeDocument/2006/relationships/notesSlide" Target="/ppt/notesSlides/notesSlide8.xml" Id="R0e3f3b85e8554d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364e1f6ff94939" /><Relationship Type="http://schemas.openxmlformats.org/officeDocument/2006/relationships/notesSlide" Target="/ppt/notesSlides/notesSlide9.xml" Id="Rbbb23bbf555447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a4c8d7bdcd4ae0" /><Relationship Type="http://schemas.openxmlformats.org/officeDocument/2006/relationships/notesSlide" Target="/ppt/notesSlides/notesSlide10.xml" Id="Rce02032a33d841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d2446740864757" /><Relationship Type="http://schemas.openxmlformats.org/officeDocument/2006/relationships/chart" Target="/ppt/slides/charts/chart2.xml" Id="Rb187c7c373824803" /><Relationship Type="http://schemas.openxmlformats.org/officeDocument/2006/relationships/notesSlide" Target="/ppt/notesSlides/notesSlide11.xml" Id="R20b6f7bfa06749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ac70896b3a439d" /><Relationship Type="http://schemas.openxmlformats.org/officeDocument/2006/relationships/notesSlide" Target="/ppt/notesSlides/notesSlide12.xml" Id="Rc9612b6173ec42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79132b664b483d" /><Relationship Type="http://schemas.openxmlformats.org/officeDocument/2006/relationships/notesSlide" Target="/ppt/notesSlides/notesSlide13.xml" Id="R592fad73ac2843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cd7724709b4bbf" /><Relationship Type="http://schemas.openxmlformats.org/officeDocument/2006/relationships/notesSlide" Target="/ppt/notesSlides/notesSlide14.xml" Id="Rdbbb739b991146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c6820759cb479c" /><Relationship Type="http://schemas.openxmlformats.org/officeDocument/2006/relationships/notesSlide" Target="/ppt/notesSlides/notesSlide15.xml" Id="R9b985e9e77fd4b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b4e48dcacbb4ef0" /><Relationship Type="http://schemas.openxmlformats.org/officeDocument/2006/relationships/notesSlide" Target="/ppt/notesSlides/notesSlide16.xml" Id="R4d1f372f36e94a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ba16d256bb64ecc" /><Relationship Type="http://schemas.openxmlformats.org/officeDocument/2006/relationships/notesSlide" Target="/ppt/notesSlides/notesSlide17.xml" Id="R72631fa0a76344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5c4cf5a3fe44736" /><Relationship Type="http://schemas.openxmlformats.org/officeDocument/2006/relationships/chart" Target="/ppt/slides/charts/chart3.xml" Id="R79a2953d3182469a" /><Relationship Type="http://schemas.openxmlformats.org/officeDocument/2006/relationships/notesSlide" Target="/ppt/notesSlides/notesSlide18.xml" Id="R6d9c3e56a0ac4b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f95091c1fe43b7" /><Relationship Type="http://schemas.openxmlformats.org/officeDocument/2006/relationships/notesSlide" Target="/ppt/notesSlides/notesSlide19.xml" Id="R82ef235596164d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0fe5d536c25494c" /><Relationship Type="http://schemas.openxmlformats.org/officeDocument/2006/relationships/chart" Target="/ppt/slides/charts/chart4.xml" Id="Rb217ea667c2a4fc4" /><Relationship Type="http://schemas.openxmlformats.org/officeDocument/2006/relationships/notesSlide" Target="/ppt/notesSlides/notesSlide20.xml" Id="R6b2ac0169eea46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dd66e7cf42640af" /><Relationship Type="http://schemas.openxmlformats.org/officeDocument/2006/relationships/chart" Target="/ppt/slides/charts/chart5.xml" Id="Rfe0c4794e5e34101" /><Relationship Type="http://schemas.openxmlformats.org/officeDocument/2006/relationships/notesSlide" Target="/ppt/notesSlides/notesSlide21.xml" Id="Rc9aacf7a4c3342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118521ee9684e47" /><Relationship Type="http://schemas.openxmlformats.org/officeDocument/2006/relationships/notesSlide" Target="/ppt/notesSlides/notesSlide22.xml" Id="Re3bc757ce11a44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30.296276</c:v>
                </c:pt>
                <c:pt idx="1">
                  <c:v>27.422635</c:v>
                </c:pt>
                <c:pt idx="2">
                  <c:v>23.858901</c:v>
                </c:pt>
                <c:pt idx="3">
                  <c:v>24.984365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30.006368</c:v>
                </c:pt>
                <c:pt idx="1">
                  <c:v>28.194362</c:v>
                </c:pt>
                <c:pt idx="2">
                  <c:v>28.201491</c:v>
                </c:pt>
                <c:pt idx="3">
                  <c:v>28.184873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A2</c:v>
          </c:tx>
          <c:spPr>
            <a:solidFill xmlns:a="http://schemas.openxmlformats.org/drawingml/2006/main">
              <a:srgbClr val="D28244"/>
            </a:solidFill>
          </c:spPr>
          <c:invertIfNegative val="0"/>
          <c:cat>
            <c:strRef>
              <c:f>'Chart Data'!$A$2:$A$7</c:f>
              <c:strCache>
                <c:ptCount val="6"/>
                <c:pt idx="0">
                  <c:v>Mixed</c:v>
                </c:pt>
                <c:pt idx="1">
                  <c:v>Flash</c:v>
                </c:pt>
                <c:pt idx="2">
                  <c:v>Alt busy</c:v>
                </c:pt>
                <c:pt idx="3">
                  <c:v>Shift</c:v>
                </c:pt>
                <c:pt idx="4">
                  <c:v>Overload</c:v>
                </c:pt>
                <c:pt idx="5">
                  <c:v>Light</c:v>
                </c:pt>
              </c:strCache>
            </c:strRef>
          </c:cat>
          <c:val>
            <c:numRef>
              <c:f>'Chart Data'!$B$2:$B$7</c:f>
              <c:numCache>
                <c:formatCode>0.0</c:formatCode>
                <c:ptCount val="6"/>
                <c:pt idx="0">
                  <c:v>24.570904</c:v>
                </c:pt>
                <c:pt idx="1">
                  <c:v>11.596333</c:v>
                </c:pt>
                <c:pt idx="2">
                  <c:v>13.284184</c:v>
                </c:pt>
                <c:pt idx="3">
                  <c:v>8.566022</c:v>
                </c:pt>
                <c:pt idx="4">
                  <c:v>35.768569</c:v>
                </c:pt>
                <c:pt idx="5">
                  <c:v>8</c:v>
                </c:pt>
              </c:numCache>
            </c:numRef>
          </c:val>
        </c:ser>
        <c:ser>
          <c:idx val="1"/>
          <c:order val="1"/>
          <c:tx>
            <c:v>H1</c:v>
          </c:tx>
          <c:spPr>
            <a:solidFill xmlns:a="http://schemas.openxmlformats.org/drawingml/2006/main">
              <a:srgbClr val="234F7D"/>
            </a:solidFill>
          </c:spPr>
          <c:invertIfNegative val="0"/>
          <c:cat>
            <c:strRef>
              <c:f>'Chart Data'!$C$2:$C$7</c:f>
              <c:strCache>
                <c:ptCount val="6"/>
                <c:pt idx="0">
                  <c:v>Mixed</c:v>
                </c:pt>
                <c:pt idx="1">
                  <c:v>Flash</c:v>
                </c:pt>
                <c:pt idx="2">
                  <c:v>Alt busy</c:v>
                </c:pt>
                <c:pt idx="3">
                  <c:v>Shift</c:v>
                </c:pt>
                <c:pt idx="4">
                  <c:v>Overload</c:v>
                </c:pt>
                <c:pt idx="5">
                  <c:v>Light</c:v>
                </c:pt>
              </c:strCache>
            </c:strRef>
          </c:cat>
          <c:val>
            <c:numRef>
              <c:f>'Chart Data'!$D$2:$D$7</c:f>
              <c:numCache>
                <c:formatCode>0.0</c:formatCode>
                <c:ptCount val="6"/>
                <c:pt idx="0">
                  <c:v>23.898643</c:v>
                </c:pt>
                <c:pt idx="1">
                  <c:v>10.092264</c:v>
                </c:pt>
                <c:pt idx="2">
                  <c:v>13.513114</c:v>
                </c:pt>
                <c:pt idx="3">
                  <c:v>8.619691</c:v>
                </c:pt>
                <c:pt idx="4">
                  <c:v>35.768569</c:v>
                </c:pt>
                <c:pt idx="5">
                  <c:v>8</c:v>
                </c:pt>
              </c:numCache>
            </c:numRef>
          </c:val>
        </c:ser>
        <c:ser>
          <c:idx val="2"/>
          <c:order val="2"/>
          <c:tx>
            <c:v>A3</c:v>
          </c:tx>
          <c:spPr>
            <a:solidFill xmlns:a="http://schemas.openxmlformats.org/drawingml/2006/main">
              <a:srgbClr val="007D64"/>
            </a:solidFill>
          </c:spPr>
          <c:invertIfNegative val="0"/>
          <c:cat>
            <c:strRef>
              <c:f>'Chart Data'!$E$2:$E$7</c:f>
              <c:strCache>
                <c:ptCount val="6"/>
                <c:pt idx="0">
                  <c:v>Mixed</c:v>
                </c:pt>
                <c:pt idx="1">
                  <c:v>Flash</c:v>
                </c:pt>
                <c:pt idx="2">
                  <c:v>Alt busy</c:v>
                </c:pt>
                <c:pt idx="3">
                  <c:v>Shift</c:v>
                </c:pt>
                <c:pt idx="4">
                  <c:v>Overload</c:v>
                </c:pt>
                <c:pt idx="5">
                  <c:v>Light</c:v>
                </c:pt>
              </c:strCache>
            </c:strRef>
          </c:cat>
          <c:val>
            <c:numRef>
              <c:f>'Chart Data'!$F$2:$F$7</c:f>
              <c:numCache>
                <c:formatCode>0.0</c:formatCode>
                <c:ptCount val="6"/>
                <c:pt idx="0">
                  <c:v>24.37198</c:v>
                </c:pt>
                <c:pt idx="1">
                  <c:v>10.703168</c:v>
                </c:pt>
                <c:pt idx="2">
                  <c:v>13.513114</c:v>
                </c:pt>
                <c:pt idx="3">
                  <c:v>8.619691</c:v>
                </c:pt>
                <c:pt idx="4">
                  <c:v>35.768569</c:v>
                </c:pt>
                <c:pt idx="5">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650"/>
          </a:pPr>
        </a:p>
      </c:txPr>
    </c:legend>
    <c:plotVisOnly val="1"/>
  </c:chart>
  <c:spPr>
    <a:solidFill xmlns:a="http://schemas.openxmlformats.org/drawingml/2006/main">
      <a:srgbClr val="F6F8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ms</c:v>
          </c:tx>
          <c:spPr>
            <a:solidFill xmlns:a="http://schemas.openxmlformats.org/drawingml/2006/main">
              <a:srgbClr val="007D76"/>
            </a:solidFill>
          </c:spPr>
          <c:invertIfNegative val="0"/>
          <c:cat>
            <c:strRef>
              <c:f>'Chart Data'!$A$2:$A$9</c:f>
              <c:strCache>
                <c:ptCount val="8"/>
                <c:pt idx="0">
                  <c:v>A0</c:v>
                </c:pt>
                <c:pt idx="1">
                  <c:v>B1</c:v>
                </c:pt>
                <c:pt idx="2">
                  <c:v>B2</c:v>
                </c:pt>
                <c:pt idx="3">
                  <c:v>A1</c:v>
                </c:pt>
                <c:pt idx="4">
                  <c:v>A2</c:v>
                </c:pt>
                <c:pt idx="5">
                  <c:v>H1</c:v>
                </c:pt>
                <c:pt idx="6">
                  <c:v>A3</c:v>
                </c:pt>
                <c:pt idx="7">
                  <c:v>O1</c:v>
                </c:pt>
              </c:strCache>
            </c:strRef>
          </c:cat>
          <c:val>
            <c:numRef>
              <c:f>'Chart Data'!$B$2:$B$9</c:f>
              <c:numCache>
                <c:formatCode>0.000</c:formatCode>
                <c:ptCount val="8"/>
                <c:pt idx="0">
                  <c:v>0.051929</c:v>
                </c:pt>
                <c:pt idx="1">
                  <c:v>0.052466</c:v>
                </c:pt>
                <c:pt idx="2">
                  <c:v>0.061321</c:v>
                </c:pt>
                <c:pt idx="3">
                  <c:v>0.059489</c:v>
                </c:pt>
                <c:pt idx="4">
                  <c:v>0.23195</c:v>
                </c:pt>
                <c:pt idx="5">
                  <c:v>0.05673</c:v>
                </c:pt>
                <c:pt idx="6">
                  <c:v>0.19703</c:v>
                </c:pt>
                <c:pt idx="7">
                  <c:v>0.116839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Wall seconds per cycle</c:v>
          </c:tx>
          <c:spPr>
            <a:solidFill xmlns:a="http://schemas.openxmlformats.org/drawingml/2006/main">
              <a:srgbClr val="007D76"/>
            </a:solidFill>
          </c:spPr>
          <c:invertIfNegative val="0"/>
          <c:cat>
            <c:strRef>
              <c:f>'Chart Data'!$A$2:$A$4</c:f>
              <c:strCache>
                <c:ptCount val="3"/>
                <c:pt idx="0">
                  <c:v>A1 live cycle</c:v>
                </c:pt>
                <c:pt idx="1">
                  <c:v>A2 live cycle</c:v>
                </c:pt>
                <c:pt idx="2">
                  <c:v>5-second budget</c:v>
                </c:pt>
              </c:strCache>
            </c:strRef>
          </c:cat>
          <c:val>
            <c:numRef>
              <c:f>'Chart Data'!$B$2:$B$4</c:f>
              <c:numCache>
                <c:formatCode>0.00</c:formatCode>
                <c:ptCount val="3"/>
                <c:pt idx="0">
                  <c:v>8.134849</c:v>
                </c:pt>
                <c:pt idx="1">
                  <c:v>8.402498</c:v>
                </c:pt>
                <c:pt idx="2">
                  <c:v>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7BEA44-003B-4018-8A5A-DB969B6C1AA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3FD0FC20-12B9-4A8D-87E5-5DBB129D0F0E}"/>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October 2026</a:t>
            </a:r>
          </a:p>
        </p:txBody>
      </p:sp>
      <p:sp>
        <p:nvSpPr>
          <p:cNvPr id="4" name="">
            <a:extLst xmlns:a="http://schemas.openxmlformats.org/drawingml/2006/main">
              <a:ext uri="{FF2B5EF4-FFF2-40B4-BE49-F238E27FC236}">
                <a16:creationId xmlns:a16="http://schemas.microsoft.com/office/drawing/2014/main" id="{8ECF58AE-7AA3-40A0-AB56-7656916BC7B6}"/>
              </a:ext>
            </a:extLst>
          </p:cNvPr>
          <p:cNvSpPr>
            <a:spLocks xmlns:a="http://schemas.openxmlformats.org/drawingml/2006/main" noGrp="1"/>
          </p:cNvSpPr>
          <p:nvPr/>
        </p:nvSpPr>
        <p:spPr>
          <a:xfrm xmlns:a="http://schemas.openxmlformats.org/drawingml/2006/main">
            <a:off x="628650" y="104775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FFFFFF"/>
                </a:solidFill>
                <a:latin typeface="Arial"/>
                <a:ea typeface="Arial"/>
                <a:cs typeface="Arial"/>
              </a:defRPr>
            </a:defPPr>
            <a:lvl1pPr>
              <a:defRPr sz="7500" b="1">
                <a:solidFill>
                  <a:srgbClr val="FFFFFF"/>
                </a:solidFill>
                <a:latin typeface="Arial"/>
                <a:ea typeface="Arial"/>
                <a:cs typeface="Arial"/>
              </a:defRPr>
            </a:lvl1pPr>
            <a:lvl2pPr>
              <a:defRPr sz="7500" b="1">
                <a:solidFill>
                  <a:srgbClr val="FFFFFF"/>
                </a:solidFill>
                <a:latin typeface="Arial"/>
                <a:ea typeface="Arial"/>
                <a:cs typeface="Arial"/>
              </a:defRPr>
            </a:lvl2pPr>
            <a:lvl3pPr>
              <a:defRPr sz="7500" b="1">
                <a:solidFill>
                  <a:srgbClr val="FFFFFF"/>
                </a:solidFill>
                <a:latin typeface="Arial"/>
                <a:ea typeface="Arial"/>
                <a:cs typeface="Arial"/>
              </a:defRPr>
            </a:lvl3pPr>
            <a:lvl4pPr>
              <a:defRPr sz="7500" b="1">
                <a:solidFill>
                  <a:srgbClr val="FFFFFF"/>
                </a:solidFill>
                <a:latin typeface="Arial"/>
                <a:ea typeface="Arial"/>
                <a:cs typeface="Arial"/>
              </a:defRPr>
            </a:lvl4pPr>
            <a:lvl5pPr>
              <a:defRPr sz="7500" b="1">
                <a:solidFill>
                  <a:srgbClr val="FFFFFF"/>
                </a:solidFill>
                <a:latin typeface="Arial"/>
                <a:ea typeface="Arial"/>
                <a:cs typeface="Arial"/>
              </a:defRPr>
            </a:lvl5pPr>
            <a:lvl6pPr>
              <a:defRPr sz="7500" b="1">
                <a:solidFill>
                  <a:srgbClr val="FFFFFF"/>
                </a:solidFill>
                <a:latin typeface="Arial"/>
                <a:ea typeface="Arial"/>
                <a:cs typeface="Arial"/>
              </a:defRPr>
            </a:lvl6pPr>
            <a:lvl7pPr>
              <a:defRPr sz="7500" b="1">
                <a:solidFill>
                  <a:srgbClr val="FFFFFF"/>
                </a:solidFill>
                <a:latin typeface="Arial"/>
                <a:ea typeface="Arial"/>
                <a:cs typeface="Arial"/>
              </a:defRPr>
            </a:lvl7pPr>
            <a:lvl8pPr>
              <a:defRPr sz="7500" b="1">
                <a:solidFill>
                  <a:srgbClr val="FFFFFF"/>
                </a:solidFill>
                <a:latin typeface="Arial"/>
                <a:ea typeface="Arial"/>
                <a:cs typeface="Arial"/>
              </a:defRPr>
            </a:lvl8pPr>
            <a:lvl9pPr>
              <a:defRPr sz="7500" b="1">
                <a:solidFill>
                  <a:srgbClr val="FFFFFF"/>
                </a:solidFill>
                <a:latin typeface="Arial"/>
                <a:ea typeface="Arial"/>
                <a:cs typeface="Arial"/>
              </a:defRPr>
            </a:lvl9pPr>
          </a:lstStyle>
          <a:p xmlns:a="http://schemas.openxmlformats.org/drawingml/2006/main">
            <a:pPr>
              <a:defRPr sz="7500" b="1">
                <a:solidFill>
                  <a:srgbClr val="FFFFFF"/>
                </a:solidFill>
                <a:latin typeface="Arial"/>
                <a:ea typeface="Arial"/>
                <a:cs typeface="Arial"/>
              </a:defRPr>
            </a:pPr>
            <a:r>
              <a:rPr sz="75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510B9760-7764-48C8-B10A-438678BA65E5}"/>
              </a:ext>
            </a:extLst>
          </p:cNvPr>
          <p:cNvSpPr>
            <a:spLocks xmlns:a="http://schemas.openxmlformats.org/drawingml/2006/main" noGrp="1"/>
          </p:cNvSpPr>
          <p:nvPr/>
        </p:nvSpPr>
        <p:spPr>
          <a:xfrm xmlns:a="http://schemas.openxmlformats.org/drawingml/2006/main">
            <a:off x="666750" y="2781300"/>
            <a:ext cx="990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0">
                <a:solidFill>
                  <a:srgbClr val="FFFFFF"/>
                </a:solidFill>
                <a:latin typeface="Arial"/>
                <a:ea typeface="Arial"/>
                <a:cs typeface="Arial"/>
              </a:defRPr>
            </a:defPPr>
            <a:lvl1pPr>
              <a:defRPr sz="3825" b="0">
                <a:solidFill>
                  <a:srgbClr val="FFFFFF"/>
                </a:solidFill>
                <a:latin typeface="Arial"/>
                <a:ea typeface="Arial"/>
                <a:cs typeface="Arial"/>
              </a:defRPr>
            </a:lvl1pPr>
            <a:lvl2pPr>
              <a:defRPr sz="3825" b="0">
                <a:solidFill>
                  <a:srgbClr val="FFFFFF"/>
                </a:solidFill>
                <a:latin typeface="Arial"/>
                <a:ea typeface="Arial"/>
                <a:cs typeface="Arial"/>
              </a:defRPr>
            </a:lvl2pPr>
            <a:lvl3pPr>
              <a:defRPr sz="3825" b="0">
                <a:solidFill>
                  <a:srgbClr val="FFFFFF"/>
                </a:solidFill>
                <a:latin typeface="Arial"/>
                <a:ea typeface="Arial"/>
                <a:cs typeface="Arial"/>
              </a:defRPr>
            </a:lvl3pPr>
            <a:lvl4pPr>
              <a:defRPr sz="3825" b="0">
                <a:solidFill>
                  <a:srgbClr val="FFFFFF"/>
                </a:solidFill>
                <a:latin typeface="Arial"/>
                <a:ea typeface="Arial"/>
                <a:cs typeface="Arial"/>
              </a:defRPr>
            </a:lvl4pPr>
            <a:lvl5pPr>
              <a:defRPr sz="3825" b="0">
                <a:solidFill>
                  <a:srgbClr val="FFFFFF"/>
                </a:solidFill>
                <a:latin typeface="Arial"/>
                <a:ea typeface="Arial"/>
                <a:cs typeface="Arial"/>
              </a:defRPr>
            </a:lvl5pPr>
            <a:lvl6pPr>
              <a:defRPr sz="3825" b="0">
                <a:solidFill>
                  <a:srgbClr val="FFFFFF"/>
                </a:solidFill>
                <a:latin typeface="Arial"/>
                <a:ea typeface="Arial"/>
                <a:cs typeface="Arial"/>
              </a:defRPr>
            </a:lvl6pPr>
            <a:lvl7pPr>
              <a:defRPr sz="3825" b="0">
                <a:solidFill>
                  <a:srgbClr val="FFFFFF"/>
                </a:solidFill>
                <a:latin typeface="Arial"/>
                <a:ea typeface="Arial"/>
                <a:cs typeface="Arial"/>
              </a:defRPr>
            </a:lvl7pPr>
            <a:lvl8pPr>
              <a:defRPr sz="3825" b="0">
                <a:solidFill>
                  <a:srgbClr val="FFFFFF"/>
                </a:solidFill>
                <a:latin typeface="Arial"/>
                <a:ea typeface="Arial"/>
                <a:cs typeface="Arial"/>
              </a:defRPr>
            </a:lvl8pPr>
            <a:lvl9pPr>
              <a:defRPr sz="3825" b="0">
                <a:solidFill>
                  <a:srgbClr val="FFFFFF"/>
                </a:solidFill>
                <a:latin typeface="Arial"/>
                <a:ea typeface="Arial"/>
                <a:cs typeface="Arial"/>
              </a:defRPr>
            </a:lvl9pPr>
          </a:lstStyle>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SDN control with</a:t>
            </a:r>
          </a:p>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state embedding memory</a:t>
            </a:r>
          </a:p>
        </p:txBody>
      </p:sp>
      <p:sp>
        <p:nvSpPr>
          <p:cNvPr id="6" name="">
            <a:extLst xmlns:a="http://schemas.openxmlformats.org/drawingml/2006/main">
              <a:ext uri="{FF2B5EF4-FFF2-40B4-BE49-F238E27FC236}">
                <a16:creationId xmlns:a16="http://schemas.microsoft.com/office/drawing/2014/main" id="{F2488943-F8D0-41FB-A387-1EDDAA602C4F}"/>
              </a:ext>
            </a:extLst>
          </p:cNvPr>
          <p:cNvSpPr>
            <a:spLocks xmlns:a="http://schemas.openxmlformats.org/drawingml/2006/main" noGrp="1"/>
          </p:cNvSpPr>
          <p:nvPr/>
        </p:nvSpPr>
        <p:spPr>
          <a:xfrm xmlns:a="http://schemas.openxmlformats.org/drawingml/2006/main">
            <a:off x="685800" y="48958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D6CD"/>
                </a:solidFill>
                <a:latin typeface="Arial"/>
                <a:ea typeface="Arial"/>
                <a:cs typeface="Arial"/>
              </a:defRPr>
            </a:defPPr>
            <a:lvl1pPr>
              <a:defRPr sz="1950" b="0">
                <a:solidFill>
                  <a:srgbClr val="B7D6CD"/>
                </a:solidFill>
                <a:latin typeface="Arial"/>
                <a:ea typeface="Arial"/>
                <a:cs typeface="Arial"/>
              </a:defRPr>
            </a:lvl1pPr>
            <a:lvl2pPr>
              <a:defRPr sz="1950" b="0">
                <a:solidFill>
                  <a:srgbClr val="B7D6CD"/>
                </a:solidFill>
                <a:latin typeface="Arial"/>
                <a:ea typeface="Arial"/>
                <a:cs typeface="Arial"/>
              </a:defRPr>
            </a:lvl2pPr>
            <a:lvl3pPr>
              <a:defRPr sz="1950" b="0">
                <a:solidFill>
                  <a:srgbClr val="B7D6CD"/>
                </a:solidFill>
                <a:latin typeface="Arial"/>
                <a:ea typeface="Arial"/>
                <a:cs typeface="Arial"/>
              </a:defRPr>
            </a:lvl3pPr>
            <a:lvl4pPr>
              <a:defRPr sz="1950" b="0">
                <a:solidFill>
                  <a:srgbClr val="B7D6CD"/>
                </a:solidFill>
                <a:latin typeface="Arial"/>
                <a:ea typeface="Arial"/>
                <a:cs typeface="Arial"/>
              </a:defRPr>
            </a:lvl4pPr>
            <a:lvl5pPr>
              <a:defRPr sz="1950" b="0">
                <a:solidFill>
                  <a:srgbClr val="B7D6CD"/>
                </a:solidFill>
                <a:latin typeface="Arial"/>
                <a:ea typeface="Arial"/>
                <a:cs typeface="Arial"/>
              </a:defRPr>
            </a:lvl5pPr>
            <a:lvl6pPr>
              <a:defRPr sz="1950" b="0">
                <a:solidFill>
                  <a:srgbClr val="B7D6CD"/>
                </a:solidFill>
                <a:latin typeface="Arial"/>
                <a:ea typeface="Arial"/>
                <a:cs typeface="Arial"/>
              </a:defRPr>
            </a:lvl6pPr>
            <a:lvl7pPr>
              <a:defRPr sz="1950" b="0">
                <a:solidFill>
                  <a:srgbClr val="B7D6CD"/>
                </a:solidFill>
                <a:latin typeface="Arial"/>
                <a:ea typeface="Arial"/>
                <a:cs typeface="Arial"/>
              </a:defRPr>
            </a:lvl7pPr>
            <a:lvl8pPr>
              <a:defRPr sz="1950" b="0">
                <a:solidFill>
                  <a:srgbClr val="B7D6CD"/>
                </a:solidFill>
                <a:latin typeface="Arial"/>
                <a:ea typeface="Arial"/>
                <a:cs typeface="Arial"/>
              </a:defRPr>
            </a:lvl8pPr>
            <a:lvl9pPr>
              <a:defRPr sz="1950" b="0">
                <a:solidFill>
                  <a:srgbClr val="B7D6CD"/>
                </a:solidFill>
                <a:latin typeface="Arial"/>
                <a:ea typeface="Arial"/>
                <a:cs typeface="Arial"/>
              </a:defRPr>
            </a:lvl9pPr>
          </a:lstStyle>
          <a:p xmlns:a="http://schemas.openxmlformats.org/drawingml/2006/main">
            <a:pPr>
              <a:defRPr sz="1950" b="0">
                <a:solidFill>
                  <a:srgbClr val="B7D6CD"/>
                </a:solidFill>
                <a:latin typeface="Arial"/>
                <a:ea typeface="Arial"/>
                <a:cs typeface="Arial"/>
              </a:defRPr>
            </a:pPr>
            <a:r>
              <a:rPr sz="1950" b="0">
                <a:solidFill>
                  <a:srgbClr val="B7D6CD"/>
                </a:solidFill>
                <a:latin typeface="Arial"/>
                <a:ea typeface="Arial"/>
                <a:cs typeface="Arial"/>
              </a:rPr>
              <a:t>Measured simulation with live Gemini and free OpenRouter decisions</a:t>
            </a:r>
          </a:p>
        </p:txBody>
      </p:sp>
    </p:spTree>
    <p:extLst>
      <p:ext uri="{BB962C8B-B14F-4D97-AF65-F5344CB8AC3E}">
        <p14:creationId xmlns:p14="http://schemas.microsoft.com/office/powerpoint/2010/main" val="1371445268"/>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95D999-0B00-4EC4-860D-DED6F166713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Project purpose</a:t>
            </a:r>
          </a:p>
        </p:txBody>
      </p:sp>
      <p:sp>
        <p:nvSpPr>
          <p:cNvPr id="3" name="">
            <a:extLst xmlns:a="http://schemas.openxmlformats.org/drawingml/2006/main">
              <a:ext uri="{FF2B5EF4-FFF2-40B4-BE49-F238E27FC236}">
                <a16:creationId xmlns:a16="http://schemas.microsoft.com/office/drawing/2014/main" id="{9AE3770C-36DA-420E-846A-5CEB551ABAA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4" name="">
            <a:extLst xmlns:a="http://schemas.openxmlformats.org/drawingml/2006/main">
              <a:ext uri="{FF2B5EF4-FFF2-40B4-BE49-F238E27FC236}">
                <a16:creationId xmlns:a16="http://schemas.microsoft.com/office/drawing/2014/main" id="{4633E1FD-A23B-4451-98C1-0029E47AB75C}"/>
              </a:ext>
            </a:extLst>
          </p:cNvPr>
          <p:cNvSpPr>
            <a:spLocks xmlns:a="http://schemas.openxmlformats.org/drawingml/2006/main" noGrp="1"/>
          </p:cNvSpPr>
          <p:nvPr/>
        </p:nvSpPr>
        <p:spPr>
          <a:xfrm xmlns:a="http://schemas.openxmlformats.org/drawingml/2006/main">
            <a:off x="628650" y="17526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Can a controller reuse its own experience</a:t>
            </a:r>
          </a:p>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to manage repeated congestion?</a:t>
            </a:r>
          </a:p>
        </p:txBody>
      </p:sp>
      <p:sp>
        <p:nvSpPr>
          <p:cNvPr id="5" name="">
            <a:extLst xmlns:a="http://schemas.openxmlformats.org/drawingml/2006/main">
              <a:ext uri="{FF2B5EF4-FFF2-40B4-BE49-F238E27FC236}">
                <a16:creationId xmlns:a16="http://schemas.microsoft.com/office/drawing/2014/main" id="{0A0E76F3-3D4B-4946-8086-F5FEB2C4E535}"/>
              </a:ext>
            </a:extLst>
          </p:cNvPr>
          <p:cNvSpPr>
            <a:spLocks xmlns:a="http://schemas.openxmlformats.org/drawingml/2006/main" noGrp="1"/>
          </p:cNvSpPr>
          <p:nvPr/>
        </p:nvSpPr>
        <p:spPr>
          <a:xfrm xmlns:a="http://schemas.openxmlformats.org/drawingml/2006/main">
            <a:off x="647700" y="354330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Observe traffic and choose one bounded flow intervention.</a:t>
            </a:r>
          </a:p>
        </p:txBody>
      </p:sp>
      <p:sp>
        <p:nvSpPr>
          <p:cNvPr id="6" name="">
            <a:extLst xmlns:a="http://schemas.openxmlformats.org/drawingml/2006/main">
              <a:ext uri="{FF2B5EF4-FFF2-40B4-BE49-F238E27FC236}">
                <a16:creationId xmlns:a16="http://schemas.microsoft.com/office/drawing/2014/main" id="{B0586815-D3E0-4BB2-B72C-0770055A6EB1}"/>
              </a:ext>
            </a:extLst>
          </p:cNvPr>
          <p:cNvSpPr>
            <a:spLocks xmlns:a="http://schemas.openxmlformats.org/drawingml/2006/main" noGrp="1"/>
          </p:cNvSpPr>
          <p:nvPr/>
        </p:nvSpPr>
        <p:spPr>
          <a:xfrm xmlns:a="http://schemas.openxmlformats.org/drawingml/2006/main">
            <a:off x="647700" y="42957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earlier states, outcomes and reflections before deciding.</a:t>
            </a:r>
          </a:p>
        </p:txBody>
      </p:sp>
      <p:sp>
        <p:nvSpPr>
          <p:cNvPr id="7" name="">
            <a:extLst xmlns:a="http://schemas.openxmlformats.org/drawingml/2006/main">
              <a:ext uri="{FF2B5EF4-FFF2-40B4-BE49-F238E27FC236}">
                <a16:creationId xmlns:a16="http://schemas.microsoft.com/office/drawing/2014/main" id="{FCEF19D3-B9CC-439D-852D-81BF06B588F0}"/>
              </a:ext>
            </a:extLst>
          </p:cNvPr>
          <p:cNvSpPr>
            <a:spLocks xmlns:a="http://schemas.openxmlformats.org/drawingml/2006/main" noGrp="1"/>
          </p:cNvSpPr>
          <p:nvPr/>
        </p:nvSpPr>
        <p:spPr>
          <a:xfrm xmlns:a="http://schemas.openxmlformats.org/drawingml/2006/main">
            <a:off x="647700" y="504825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Use the local website to compare results and inspect every action.</a:t>
            </a:r>
          </a:p>
        </p:txBody>
      </p:sp>
    </p:spTree>
    <p:extLst>
      <p:ext uri="{BB962C8B-B14F-4D97-AF65-F5344CB8AC3E}">
        <p14:creationId xmlns:p14="http://schemas.microsoft.com/office/powerpoint/2010/main" val="827455593"/>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D0D7BA0-0F93-4173-AC1A-456611A96233}"/>
              </a:ext>
            </a:extLst>
          </p:cNvPr>
          <p:cNvCxnSpPr>
            <a:stCxn xmlns:a="http://schemas.openxmlformats.org/drawingml/2006/main" id="11" idx="2"/>
            <a:endCxn xmlns:a="http://schemas.openxmlformats.org/drawingml/2006/main" id="12" idx="0"/>
          </p:cNvCxnSpPr>
          <p:nvPr/>
        </p:nvCxnSpPr>
        <p:spPr>
          <a:xfrm xmlns:a="http://schemas.openxmlformats.org/drawingml/2006/main" flipH="1">
            <a:off x="2309813" y="2857500"/>
            <a:ext cx="7486650" cy="1190625"/>
          </a:xfrm>
          <a:prstGeom xmlns:a="http://schemas.openxmlformats.org/drawingml/2006/main" prst="bentConnector4">
            <a:avLst>
              <a:gd name="adj1" fmla="val 0"/>
              <a:gd name="adj2"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726963CE-68F7-42E4-816B-335F335C1739}"/>
              </a:ext>
            </a:extLst>
          </p:cNvPr>
          <p:cNvCxnSpPr>
            <a:stCxn xmlns:a="http://schemas.openxmlformats.org/drawingml/2006/main" id="13" idx="3"/>
            <a:endCxn xmlns:a="http://schemas.openxmlformats.org/drawingml/2006/main" id="14" idx="1"/>
          </p:cNvCxnSpPr>
          <p:nvPr/>
        </p:nvCxnSpPr>
        <p:spPr>
          <a:xfrm xmlns:a="http://schemas.openxmlformats.org/drawingml/2006/main">
            <a:off x="7696200"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1374CECA-5926-47E6-AEF4-791EC61E4A06}"/>
              </a:ext>
            </a:extLst>
          </p:cNvPr>
          <p:cNvCxnSpPr>
            <a:stCxn xmlns:a="http://schemas.openxmlformats.org/drawingml/2006/main" id="12" idx="3"/>
            <a:endCxn xmlns:a="http://schemas.openxmlformats.org/drawingml/2006/main" id="13" idx="1"/>
          </p:cNvCxnSpPr>
          <p:nvPr/>
        </p:nvCxnSpPr>
        <p:spPr>
          <a:xfrm xmlns:a="http://schemas.openxmlformats.org/drawingml/2006/main">
            <a:off x="3952875"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2C24F9A7-FAA7-4B23-BE61-24D8AA2480A1}"/>
              </a:ext>
            </a:extLst>
          </p:cNvPr>
          <p:cNvCxnSpPr>
            <a:stCxn xmlns:a="http://schemas.openxmlformats.org/drawingml/2006/main" id="10" idx="3"/>
            <a:endCxn xmlns:a="http://schemas.openxmlformats.org/drawingml/2006/main" id="11" idx="1"/>
          </p:cNvCxnSpPr>
          <p:nvPr/>
        </p:nvCxnSpPr>
        <p:spPr>
          <a:xfrm xmlns:a="http://schemas.openxmlformats.org/drawingml/2006/main">
            <a:off x="7696200" y="2405063"/>
            <a:ext cx="457200" cy="0"/>
          </a:xfrm>
          <a:prstGeom xmlns:a="http://schemas.openxmlformats.org/drawingml/2006/main" prst="straightConnector1">
            <a:avLst/>
          </a:prstGeom>
          <a:ln xmlns:a="http://schemas.openxmlformats.org/drawingml/2006/main" w="19050">
            <a:solidFill>
              <a:srgbClr val="007D76"/>
            </a:solidFill>
          </a:ln>
        </p:spPr>
      </p:cxnSp>
      <p:cxnSp>
        <p:nvCxnSpPr>
          <p:cNvPr id="6" name="">
            <a:extLst xmlns:a="http://schemas.openxmlformats.org/drawingml/2006/main">
              <a:ext uri="{FF2B5EF4-FFF2-40B4-BE49-F238E27FC236}">
                <a16:creationId xmlns:a16="http://schemas.microsoft.com/office/drawing/2014/main" id="{A2AB0367-5288-4904-B0F0-7A702EB81524}"/>
              </a:ext>
            </a:extLst>
          </p:cNvPr>
          <p:cNvCxnSpPr>
            <a:stCxn xmlns:a="http://schemas.openxmlformats.org/drawingml/2006/main" id="9" idx="3"/>
            <a:endCxn xmlns:a="http://schemas.openxmlformats.org/drawingml/2006/main" id="10" idx="1"/>
          </p:cNvCxnSpPr>
          <p:nvPr/>
        </p:nvCxnSpPr>
        <p:spPr>
          <a:xfrm xmlns:a="http://schemas.openxmlformats.org/drawingml/2006/main">
            <a:off x="3952875" y="2405063"/>
            <a:ext cx="457200" cy="0"/>
          </a:xfrm>
          <a:prstGeom xmlns:a="http://schemas.openxmlformats.org/drawingml/2006/main" prst="straightConnector1">
            <a:avLst/>
          </a:prstGeom>
          <a:ln xmlns:a="http://schemas.openxmlformats.org/drawingml/2006/main" w="19050">
            <a:solidFill>
              <a:srgbClr val="007D76"/>
            </a:solidFill>
          </a:ln>
        </p:spPr>
      </p:cxnSp>
      <p:sp>
        <p:nvSpPr>
          <p:cNvPr id="7" name="">
            <a:extLst xmlns:a="http://schemas.openxmlformats.org/drawingml/2006/main">
              <a:ext uri="{FF2B5EF4-FFF2-40B4-BE49-F238E27FC236}">
                <a16:creationId xmlns:a16="http://schemas.microsoft.com/office/drawing/2014/main" id="{0BBE70C1-860F-407F-8E55-8D5B635DB33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Control architecture</a:t>
            </a:r>
          </a:p>
        </p:txBody>
      </p:sp>
      <p:sp>
        <p:nvSpPr>
          <p:cNvPr id="8" name="">
            <a:extLst xmlns:a="http://schemas.openxmlformats.org/drawingml/2006/main">
              <a:ext uri="{FF2B5EF4-FFF2-40B4-BE49-F238E27FC236}">
                <a16:creationId xmlns:a16="http://schemas.microsoft.com/office/drawing/2014/main" id="{9DF29DAC-5F5A-4A6B-B9A6-C6782CBD4F1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9" name="">
            <a:extLst xmlns:a="http://schemas.openxmlformats.org/drawingml/2006/main">
              <a:ext uri="{FF2B5EF4-FFF2-40B4-BE49-F238E27FC236}">
                <a16:creationId xmlns:a16="http://schemas.microsoft.com/office/drawing/2014/main" id="{75BFA112-5171-46F1-B8D3-13D0DD815792}"/>
              </a:ext>
            </a:extLst>
          </p:cNvPr>
          <p:cNvSpPr>
            <a:spLocks xmlns:a="http://schemas.openxmlformats.org/drawingml/2006/main" noGrp="1"/>
          </p:cNvSpPr>
          <p:nvPr/>
        </p:nvSpPr>
        <p:spPr>
          <a:xfrm xmlns:a="http://schemas.openxmlformats.org/drawingml/2006/main">
            <a:off x="66675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Observe</a:t>
            </a:r>
          </a:p>
        </p:txBody>
      </p:sp>
      <p:sp>
        <p:nvSpPr>
          <p:cNvPr id="10" name="">
            <a:extLst xmlns:a="http://schemas.openxmlformats.org/drawingml/2006/main">
              <a:ext uri="{FF2B5EF4-FFF2-40B4-BE49-F238E27FC236}">
                <a16:creationId xmlns:a16="http://schemas.microsoft.com/office/drawing/2014/main" id="{A304559A-9721-4DFE-BBEC-5756C27CABA0}"/>
              </a:ext>
            </a:extLst>
          </p:cNvPr>
          <p:cNvSpPr>
            <a:spLocks xmlns:a="http://schemas.openxmlformats.org/drawingml/2006/main" noGrp="1"/>
          </p:cNvSpPr>
          <p:nvPr/>
        </p:nvSpPr>
        <p:spPr>
          <a:xfrm xmlns:a="http://schemas.openxmlformats.org/drawingml/2006/main">
            <a:off x="4410075"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Retrieve</a:t>
            </a:r>
          </a:p>
        </p:txBody>
      </p:sp>
      <p:sp>
        <p:nvSpPr>
          <p:cNvPr id="11" name="">
            <a:extLst xmlns:a="http://schemas.openxmlformats.org/drawingml/2006/main">
              <a:ext uri="{FF2B5EF4-FFF2-40B4-BE49-F238E27FC236}">
                <a16:creationId xmlns:a16="http://schemas.microsoft.com/office/drawing/2014/main" id="{0F8B969D-56EC-4D7F-98A7-A922D15BBB95}"/>
              </a:ext>
            </a:extLst>
          </p:cNvPr>
          <p:cNvSpPr>
            <a:spLocks xmlns:a="http://schemas.openxmlformats.org/drawingml/2006/main" noGrp="1"/>
          </p:cNvSpPr>
          <p:nvPr/>
        </p:nvSpPr>
        <p:spPr>
          <a:xfrm xmlns:a="http://schemas.openxmlformats.org/drawingml/2006/main">
            <a:off x="815340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Decide</a:t>
            </a:r>
          </a:p>
        </p:txBody>
      </p:sp>
      <p:sp>
        <p:nvSpPr>
          <p:cNvPr id="12" name="">
            <a:extLst xmlns:a="http://schemas.openxmlformats.org/drawingml/2006/main">
              <a:ext uri="{FF2B5EF4-FFF2-40B4-BE49-F238E27FC236}">
                <a16:creationId xmlns:a16="http://schemas.microsoft.com/office/drawing/2014/main" id="{86C92A85-5DDF-42CF-AD33-1A359B858425}"/>
              </a:ext>
            </a:extLst>
          </p:cNvPr>
          <p:cNvSpPr>
            <a:spLocks xmlns:a="http://schemas.openxmlformats.org/drawingml/2006/main" noGrp="1"/>
          </p:cNvSpPr>
          <p:nvPr/>
        </p:nvSpPr>
        <p:spPr>
          <a:xfrm xmlns:a="http://schemas.openxmlformats.org/drawingml/2006/main">
            <a:off x="66675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Validate</a:t>
            </a:r>
          </a:p>
        </p:txBody>
      </p:sp>
      <p:sp>
        <p:nvSpPr>
          <p:cNvPr id="13" name="">
            <a:extLst xmlns:a="http://schemas.openxmlformats.org/drawingml/2006/main">
              <a:ext uri="{FF2B5EF4-FFF2-40B4-BE49-F238E27FC236}">
                <a16:creationId xmlns:a16="http://schemas.microsoft.com/office/drawing/2014/main" id="{94983B8F-5A50-4AA5-AEC9-3D5F9F00A003}"/>
              </a:ext>
            </a:extLst>
          </p:cNvPr>
          <p:cNvSpPr>
            <a:spLocks xmlns:a="http://schemas.openxmlformats.org/drawingml/2006/main" noGrp="1"/>
          </p:cNvSpPr>
          <p:nvPr/>
        </p:nvSpPr>
        <p:spPr>
          <a:xfrm xmlns:a="http://schemas.openxmlformats.org/drawingml/2006/main">
            <a:off x="4410075"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Measure</a:t>
            </a:r>
          </a:p>
        </p:txBody>
      </p:sp>
      <p:sp>
        <p:nvSpPr>
          <p:cNvPr id="14" name="">
            <a:extLst xmlns:a="http://schemas.openxmlformats.org/drawingml/2006/main">
              <a:ext uri="{FF2B5EF4-FFF2-40B4-BE49-F238E27FC236}">
                <a16:creationId xmlns:a16="http://schemas.microsoft.com/office/drawing/2014/main" id="{5B9977CB-71C5-4CD9-88EA-EB6BF07636F1}"/>
              </a:ext>
            </a:extLst>
          </p:cNvPr>
          <p:cNvSpPr>
            <a:spLocks xmlns:a="http://schemas.openxmlformats.org/drawingml/2006/main" noGrp="1"/>
          </p:cNvSpPr>
          <p:nvPr/>
        </p:nvSpPr>
        <p:spPr>
          <a:xfrm xmlns:a="http://schemas.openxmlformats.org/drawingml/2006/main">
            <a:off x="815340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Reflect</a:t>
            </a:r>
          </a:p>
        </p:txBody>
      </p:sp>
      <p:sp>
        <p:nvSpPr>
          <p:cNvPr id="15" name="">
            <a:extLst xmlns:a="http://schemas.openxmlformats.org/drawingml/2006/main">
              <a:ext uri="{FF2B5EF4-FFF2-40B4-BE49-F238E27FC236}">
                <a16:creationId xmlns:a16="http://schemas.microsoft.com/office/drawing/2014/main" id="{E8BF58CF-2D60-4750-B3B0-F06FADF4B851}"/>
              </a:ext>
            </a:extLst>
          </p:cNvPr>
          <p:cNvSpPr>
            <a:spLocks xmlns:a="http://schemas.openxmlformats.org/drawingml/2006/main" noGrp="1"/>
          </p:cNvSpPr>
          <p:nvPr/>
        </p:nvSpPr>
        <p:spPr>
          <a:xfrm xmlns:a="http://schemas.openxmlformats.org/drawingml/2006/main">
            <a:off x="72390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Demand + queues</a:t>
            </a:r>
          </a:p>
        </p:txBody>
      </p:sp>
      <p:sp>
        <p:nvSpPr>
          <p:cNvPr id="16" name="">
            <a:extLst xmlns:a="http://schemas.openxmlformats.org/drawingml/2006/main">
              <a:ext uri="{FF2B5EF4-FFF2-40B4-BE49-F238E27FC236}">
                <a16:creationId xmlns:a16="http://schemas.microsoft.com/office/drawing/2014/main" id="{4B54B1AB-07BE-4EBE-A09D-E631047B7C49}"/>
              </a:ext>
            </a:extLst>
          </p:cNvPr>
          <p:cNvSpPr>
            <a:spLocks xmlns:a="http://schemas.openxmlformats.org/drawingml/2006/main" noGrp="1"/>
          </p:cNvSpPr>
          <p:nvPr/>
        </p:nvSpPr>
        <p:spPr>
          <a:xfrm xmlns:a="http://schemas.openxmlformats.org/drawingml/2006/main">
            <a:off x="4467225"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Earlier episodes</a:t>
            </a:r>
          </a:p>
        </p:txBody>
      </p:sp>
      <p:sp>
        <p:nvSpPr>
          <p:cNvPr id="17" name="">
            <a:extLst xmlns:a="http://schemas.openxmlformats.org/drawingml/2006/main">
              <a:ext uri="{FF2B5EF4-FFF2-40B4-BE49-F238E27FC236}">
                <a16:creationId xmlns:a16="http://schemas.microsoft.com/office/drawing/2014/main" id="{C4F47BE7-5EB8-42EC-8F96-03A7C4E31755}"/>
              </a:ext>
            </a:extLst>
          </p:cNvPr>
          <p:cNvSpPr>
            <a:spLocks xmlns:a="http://schemas.openxmlformats.org/drawingml/2006/main" noGrp="1"/>
          </p:cNvSpPr>
          <p:nvPr/>
        </p:nvSpPr>
        <p:spPr>
          <a:xfrm xmlns:a="http://schemas.openxmlformats.org/drawingml/2006/main">
            <a:off x="821055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Typed JSON</a:t>
            </a:r>
          </a:p>
        </p:txBody>
      </p:sp>
      <p:sp>
        <p:nvSpPr>
          <p:cNvPr id="18" name="">
            <a:extLst xmlns:a="http://schemas.openxmlformats.org/drawingml/2006/main">
              <a:ext uri="{FF2B5EF4-FFF2-40B4-BE49-F238E27FC236}">
                <a16:creationId xmlns:a16="http://schemas.microsoft.com/office/drawing/2014/main" id="{27B9EBCE-568C-458B-B032-1D6DD9BFDBB2}"/>
              </a:ext>
            </a:extLst>
          </p:cNvPr>
          <p:cNvSpPr>
            <a:spLocks xmlns:a="http://schemas.openxmlformats.org/drawingml/2006/main" noGrp="1"/>
          </p:cNvSpPr>
          <p:nvPr/>
        </p:nvSpPr>
        <p:spPr>
          <a:xfrm xmlns:a="http://schemas.openxmlformats.org/drawingml/2006/main">
            <a:off x="72390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Independent gate</a:t>
            </a:r>
          </a:p>
        </p:txBody>
      </p:sp>
      <p:sp>
        <p:nvSpPr>
          <p:cNvPr id="19" name="">
            <a:extLst xmlns:a="http://schemas.openxmlformats.org/drawingml/2006/main">
              <a:ext uri="{FF2B5EF4-FFF2-40B4-BE49-F238E27FC236}">
                <a16:creationId xmlns:a16="http://schemas.microsoft.com/office/drawing/2014/main" id="{CC9A011B-D9E4-4EEB-AF2B-C70C154399ED}"/>
              </a:ext>
            </a:extLst>
          </p:cNvPr>
          <p:cNvSpPr>
            <a:spLocks xmlns:a="http://schemas.openxmlformats.org/drawingml/2006/main" noGrp="1"/>
          </p:cNvSpPr>
          <p:nvPr/>
        </p:nvSpPr>
        <p:spPr>
          <a:xfrm xmlns:a="http://schemas.openxmlformats.org/drawingml/2006/main">
            <a:off x="4467225"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Outcome + reward</a:t>
            </a:r>
          </a:p>
        </p:txBody>
      </p:sp>
      <p:sp>
        <p:nvSpPr>
          <p:cNvPr id="20" name="">
            <a:extLst xmlns:a="http://schemas.openxmlformats.org/drawingml/2006/main">
              <a:ext uri="{FF2B5EF4-FFF2-40B4-BE49-F238E27FC236}">
                <a16:creationId xmlns:a16="http://schemas.microsoft.com/office/drawing/2014/main" id="{48D8B898-E044-4B07-BB26-5C56FB925091}"/>
              </a:ext>
            </a:extLst>
          </p:cNvPr>
          <p:cNvSpPr>
            <a:spLocks xmlns:a="http://schemas.openxmlformats.org/drawingml/2006/main" noGrp="1"/>
          </p:cNvSpPr>
          <p:nvPr/>
        </p:nvSpPr>
        <p:spPr>
          <a:xfrm xmlns:a="http://schemas.openxmlformats.org/drawingml/2006/main">
            <a:off x="821055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Bounded memory</a:t>
            </a:r>
          </a:p>
        </p:txBody>
      </p:sp>
    </p:spTree>
    <p:extLst>
      <p:ext uri="{BB962C8B-B14F-4D97-AF65-F5344CB8AC3E}">
        <p14:creationId xmlns:p14="http://schemas.microsoft.com/office/powerpoint/2010/main" val="43588804"/>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9B4B3EB4-2240-4321-A5D6-26418F68C7AA}"/>
              </a:ext>
            </a:extLst>
          </p:cNvPr>
          <p:cNvCxnSpPr>
            <a:stCxn xmlns:a="http://schemas.openxmlformats.org/drawingml/2006/main" id="11" idx="3"/>
            <a:endCxn xmlns:a="http://schemas.openxmlformats.org/drawingml/2006/main" id="12" idx="1"/>
          </p:cNvCxnSpPr>
          <p:nvPr/>
        </p:nvCxnSpPr>
        <p:spPr>
          <a:xfrm xmlns:a="http://schemas.openxmlformats.org/drawingml/2006/main" flipV="1">
            <a:off x="7286625" y="3309938"/>
            <a:ext cx="2000250"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9712F641-B710-407A-A800-BF3FF12CAAC7}"/>
              </a:ext>
            </a:extLst>
          </p:cNvPr>
          <p:cNvCxnSpPr>
            <a:stCxn xmlns:a="http://schemas.openxmlformats.org/drawingml/2006/main" id="10" idx="3"/>
            <a:endCxn xmlns:a="http://schemas.openxmlformats.org/drawingml/2006/main" id="12" idx="1"/>
          </p:cNvCxnSpPr>
          <p:nvPr/>
        </p:nvCxnSpPr>
        <p:spPr>
          <a:xfrm xmlns:a="http://schemas.openxmlformats.org/drawingml/2006/main">
            <a:off x="7286625" y="2166938"/>
            <a:ext cx="2000250" cy="11430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A9D00429-C195-4BF7-9575-1AEA97F1E603}"/>
              </a:ext>
            </a:extLst>
          </p:cNvPr>
          <p:cNvCxnSpPr>
            <a:stCxn xmlns:a="http://schemas.openxmlformats.org/drawingml/2006/main" id="9" idx="3"/>
            <a:endCxn xmlns:a="http://schemas.openxmlformats.org/drawingml/2006/main" id="11" idx="1"/>
          </p:cNvCxnSpPr>
          <p:nvPr/>
        </p:nvCxnSpPr>
        <p:spPr>
          <a:xfrm xmlns:a="http://schemas.openxmlformats.org/drawingml/2006/main">
            <a:off x="2952750" y="3309938"/>
            <a:ext cx="1952625"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65CE8AF6-4040-4A75-BA25-D060184EFD7F}"/>
              </a:ext>
            </a:extLst>
          </p:cNvPr>
          <p:cNvCxnSpPr>
            <a:stCxn xmlns:a="http://schemas.openxmlformats.org/drawingml/2006/main" id="9" idx="3"/>
            <a:endCxn xmlns:a="http://schemas.openxmlformats.org/drawingml/2006/main" id="10" idx="1"/>
          </p:cNvCxnSpPr>
          <p:nvPr/>
        </p:nvCxnSpPr>
        <p:spPr>
          <a:xfrm xmlns:a="http://schemas.openxmlformats.org/drawingml/2006/main" flipV="1">
            <a:off x="2952750" y="2166938"/>
            <a:ext cx="1952625" cy="1143000"/>
          </a:xfrm>
          <a:prstGeom xmlns:a="http://schemas.openxmlformats.org/drawingml/2006/main" prst="bentConnector3">
            <a:avLst>
              <a:gd name="adj1" fmla="val 50000"/>
            </a:avLst>
          </a:prstGeom>
          <a:ln xmlns:a="http://schemas.openxmlformats.org/drawingml/2006/main" w="19050">
            <a:solidFill>
              <a:srgbClr val="007D76"/>
            </a:solidFill>
          </a:ln>
        </p:spPr>
      </p:cxnSp>
      <p:sp>
        <p:nvSpPr>
          <p:cNvPr id="6" name="">
            <a:extLst xmlns:a="http://schemas.openxmlformats.org/drawingml/2006/main">
              <a:ext uri="{FF2B5EF4-FFF2-40B4-BE49-F238E27FC236}">
                <a16:creationId xmlns:a16="http://schemas.microsoft.com/office/drawing/2014/main" id="{37804CBD-547C-4426-B328-A8095881545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Two-path fluid topology</a:t>
            </a:r>
          </a:p>
        </p:txBody>
      </p:sp>
      <p:sp>
        <p:nvSpPr>
          <p:cNvPr id="7" name="">
            <a:extLst xmlns:a="http://schemas.openxmlformats.org/drawingml/2006/main">
              <a:ext uri="{FF2B5EF4-FFF2-40B4-BE49-F238E27FC236}">
                <a16:creationId xmlns:a16="http://schemas.microsoft.com/office/drawing/2014/main" id="{7F4BE0EE-98F2-4B2F-BEE9-DF282CB7250D}"/>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8" name="">
            <a:extLst xmlns:a="http://schemas.openxmlformats.org/drawingml/2006/main">
              <a:ext uri="{FF2B5EF4-FFF2-40B4-BE49-F238E27FC236}">
                <a16:creationId xmlns:a16="http://schemas.microsoft.com/office/drawing/2014/main" id="{3A0848A4-0AB8-4BC5-A70E-C5CEDF8D7586}"/>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A logical network model; no packet testbed is claimed</a:t>
            </a:r>
          </a:p>
        </p:txBody>
      </p:sp>
      <p:sp>
        <p:nvSpPr>
          <p:cNvPr id="9" name="">
            <a:extLst xmlns:a="http://schemas.openxmlformats.org/drawingml/2006/main">
              <a:ext uri="{FF2B5EF4-FFF2-40B4-BE49-F238E27FC236}">
                <a16:creationId xmlns:a16="http://schemas.microsoft.com/office/drawing/2014/main" id="{AA2C43CA-CC0C-4326-82A0-394B6C2EB404}"/>
              </a:ext>
            </a:extLst>
          </p:cNvPr>
          <p:cNvSpPr>
            <a:spLocks xmlns:a="http://schemas.openxmlformats.org/drawingml/2006/main" noGrp="1"/>
          </p:cNvSpPr>
          <p:nvPr/>
        </p:nvSpPr>
        <p:spPr>
          <a:xfrm xmlns:a="http://schemas.openxmlformats.org/drawingml/2006/main">
            <a:off x="666750"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s1 / ingress</a:t>
            </a:r>
          </a:p>
        </p:txBody>
      </p:sp>
      <p:sp>
        <p:nvSpPr>
          <p:cNvPr id="10" name="">
            <a:extLst xmlns:a="http://schemas.openxmlformats.org/drawingml/2006/main">
              <a:ext uri="{FF2B5EF4-FFF2-40B4-BE49-F238E27FC236}">
                <a16:creationId xmlns:a16="http://schemas.microsoft.com/office/drawing/2014/main" id="{F4F3772E-6A60-4362-AA2C-1EE0B26042D0}"/>
              </a:ext>
            </a:extLst>
          </p:cNvPr>
          <p:cNvSpPr>
            <a:spLocks xmlns:a="http://schemas.openxmlformats.org/drawingml/2006/main" noGrp="1"/>
          </p:cNvSpPr>
          <p:nvPr/>
        </p:nvSpPr>
        <p:spPr>
          <a:xfrm xmlns:a="http://schemas.openxmlformats.org/drawingml/2006/main">
            <a:off x="4905375" y="17145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s2 / primary</a:t>
            </a:r>
          </a:p>
        </p:txBody>
      </p:sp>
      <p:sp>
        <p:nvSpPr>
          <p:cNvPr id="11" name="">
            <a:extLst xmlns:a="http://schemas.openxmlformats.org/drawingml/2006/main">
              <a:ext uri="{FF2B5EF4-FFF2-40B4-BE49-F238E27FC236}">
                <a16:creationId xmlns:a16="http://schemas.microsoft.com/office/drawing/2014/main" id="{0D50AA42-72C3-4461-84AB-82121D214037}"/>
              </a:ext>
            </a:extLst>
          </p:cNvPr>
          <p:cNvSpPr>
            <a:spLocks xmlns:a="http://schemas.openxmlformats.org/drawingml/2006/main" noGrp="1"/>
          </p:cNvSpPr>
          <p:nvPr/>
        </p:nvSpPr>
        <p:spPr>
          <a:xfrm xmlns:a="http://schemas.openxmlformats.org/drawingml/2006/main">
            <a:off x="4905375" y="41910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s3 / alternate</a:t>
            </a:r>
          </a:p>
        </p:txBody>
      </p:sp>
      <p:sp>
        <p:nvSpPr>
          <p:cNvPr id="12" name="">
            <a:extLst xmlns:a="http://schemas.openxmlformats.org/drawingml/2006/main">
              <a:ext uri="{FF2B5EF4-FFF2-40B4-BE49-F238E27FC236}">
                <a16:creationId xmlns:a16="http://schemas.microsoft.com/office/drawing/2014/main" id="{44E9574C-E22D-4CAA-A855-C70257E1A569}"/>
              </a:ext>
            </a:extLst>
          </p:cNvPr>
          <p:cNvSpPr>
            <a:spLocks xmlns:a="http://schemas.openxmlformats.org/drawingml/2006/main" noGrp="1"/>
          </p:cNvSpPr>
          <p:nvPr/>
        </p:nvSpPr>
        <p:spPr>
          <a:xfrm xmlns:a="http://schemas.openxmlformats.org/drawingml/2006/main">
            <a:off x="9286875"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s4 / egress</a:t>
            </a:r>
          </a:p>
        </p:txBody>
      </p:sp>
      <p:sp>
        <p:nvSpPr>
          <p:cNvPr id="13" name="">
            <a:extLst xmlns:a="http://schemas.openxmlformats.org/drawingml/2006/main">
              <a:ext uri="{FF2B5EF4-FFF2-40B4-BE49-F238E27FC236}">
                <a16:creationId xmlns:a16="http://schemas.microsoft.com/office/drawing/2014/main" id="{9DCB27EA-336E-4041-89C5-E006171F67B4}"/>
              </a:ext>
            </a:extLst>
          </p:cNvPr>
          <p:cNvSpPr>
            <a:spLocks xmlns:a="http://schemas.openxmlformats.org/drawingml/2006/main" noGrp="1"/>
          </p:cNvSpPr>
          <p:nvPr/>
        </p:nvSpPr>
        <p:spPr>
          <a:xfrm xmlns:a="http://schemas.openxmlformats.org/drawingml/2006/main">
            <a:off x="4238625" y="29241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D76"/>
                </a:solidFill>
                <a:latin typeface="Arial"/>
                <a:ea typeface="Arial"/>
                <a:cs typeface="Arial"/>
              </a:defRPr>
            </a:defPPr>
            <a:lvl1pPr>
              <a:defRPr sz="2175" b="1">
                <a:solidFill>
                  <a:srgbClr val="007D76"/>
                </a:solidFill>
                <a:latin typeface="Arial"/>
                <a:ea typeface="Arial"/>
                <a:cs typeface="Arial"/>
              </a:defRPr>
            </a:lvl1pPr>
            <a:lvl2pPr>
              <a:defRPr sz="2175" b="1">
                <a:solidFill>
                  <a:srgbClr val="007D76"/>
                </a:solidFill>
                <a:latin typeface="Arial"/>
                <a:ea typeface="Arial"/>
                <a:cs typeface="Arial"/>
              </a:defRPr>
            </a:lvl2pPr>
            <a:lvl3pPr>
              <a:defRPr sz="2175" b="1">
                <a:solidFill>
                  <a:srgbClr val="007D76"/>
                </a:solidFill>
                <a:latin typeface="Arial"/>
                <a:ea typeface="Arial"/>
                <a:cs typeface="Arial"/>
              </a:defRPr>
            </a:lvl3pPr>
            <a:lvl4pPr>
              <a:defRPr sz="2175" b="1">
                <a:solidFill>
                  <a:srgbClr val="007D76"/>
                </a:solidFill>
                <a:latin typeface="Arial"/>
                <a:ea typeface="Arial"/>
                <a:cs typeface="Arial"/>
              </a:defRPr>
            </a:lvl4pPr>
            <a:lvl5pPr>
              <a:defRPr sz="2175" b="1">
                <a:solidFill>
                  <a:srgbClr val="007D76"/>
                </a:solidFill>
                <a:latin typeface="Arial"/>
                <a:ea typeface="Arial"/>
                <a:cs typeface="Arial"/>
              </a:defRPr>
            </a:lvl5pPr>
            <a:lvl6pPr>
              <a:defRPr sz="2175" b="1">
                <a:solidFill>
                  <a:srgbClr val="007D76"/>
                </a:solidFill>
                <a:latin typeface="Arial"/>
                <a:ea typeface="Arial"/>
                <a:cs typeface="Arial"/>
              </a:defRPr>
            </a:lvl6pPr>
            <a:lvl7pPr>
              <a:defRPr sz="2175" b="1">
                <a:solidFill>
                  <a:srgbClr val="007D76"/>
                </a:solidFill>
                <a:latin typeface="Arial"/>
                <a:ea typeface="Arial"/>
                <a:cs typeface="Arial"/>
              </a:defRPr>
            </a:lvl7pPr>
            <a:lvl8pPr>
              <a:defRPr sz="2175" b="1">
                <a:solidFill>
                  <a:srgbClr val="007D76"/>
                </a:solidFill>
                <a:latin typeface="Arial"/>
                <a:ea typeface="Arial"/>
                <a:cs typeface="Arial"/>
              </a:defRPr>
            </a:lvl8pPr>
            <a:lvl9pPr>
              <a:defRPr sz="2175" b="1">
                <a:solidFill>
                  <a:srgbClr val="007D76"/>
                </a:solidFill>
                <a:latin typeface="Arial"/>
                <a:ea typeface="Arial"/>
                <a:cs typeface="Arial"/>
              </a:defRPr>
            </a:lvl9pPr>
          </a:lstStyle>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10 Mbps per path</a:t>
            </a:r>
          </a:p>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0.5 Mbit buffer</a:t>
            </a:r>
          </a:p>
        </p:txBody>
      </p:sp>
      <p:sp>
        <p:nvSpPr>
          <p:cNvPr id="14" name="">
            <a:extLst xmlns:a="http://schemas.openxmlformats.org/drawingml/2006/main">
              <a:ext uri="{FF2B5EF4-FFF2-40B4-BE49-F238E27FC236}">
                <a16:creationId xmlns:a16="http://schemas.microsoft.com/office/drawing/2014/main" id="{A720A093-7A58-4782-8B4A-DF99F86A7900}"/>
              </a:ext>
            </a:extLst>
          </p:cNvPr>
          <p:cNvSpPr>
            <a:spLocks xmlns:a="http://schemas.openxmlformats.org/drawingml/2006/main" noGrp="1"/>
          </p:cNvSpPr>
          <p:nvPr/>
        </p:nvSpPr>
        <p:spPr>
          <a:xfrm xmlns:a="http://schemas.openxmlformats.org/drawingml/2006/main">
            <a:off x="666750" y="54864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8 ms propagation component; five-second windows; one elephant flow plus path-specific background traffic</a:t>
            </a:r>
          </a:p>
        </p:txBody>
      </p:sp>
    </p:spTree>
    <p:extLst>
      <p:ext uri="{BB962C8B-B14F-4D97-AF65-F5344CB8AC3E}">
        <p14:creationId xmlns:p14="http://schemas.microsoft.com/office/powerpoint/2010/main" val="407725173"/>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BC3456-B25F-4633-9056-755BD5621E3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State embedding and episodic memory</a:t>
            </a:r>
          </a:p>
        </p:txBody>
      </p:sp>
      <p:sp>
        <p:nvSpPr>
          <p:cNvPr id="3" name="">
            <a:extLst xmlns:a="http://schemas.openxmlformats.org/drawingml/2006/main">
              <a:ext uri="{FF2B5EF4-FFF2-40B4-BE49-F238E27FC236}">
                <a16:creationId xmlns:a16="http://schemas.microsoft.com/office/drawing/2014/main" id="{F70108E9-42D7-4503-A4AA-48FAC318B733}"/>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896E213F-A295-4B41-83FC-38059D112E89}"/>
              </a:ext>
            </a:extLst>
          </p:cNvPr>
          <p:cNvSpPr>
            <a:spLocks xmlns:a="http://schemas.openxmlformats.org/drawingml/2006/main" noGrp="1"/>
          </p:cNvSpPr>
          <p:nvPr/>
        </p:nvSpPr>
        <p:spPr>
          <a:xfrm xmlns:a="http://schemas.openxmlformats.org/drawingml/2006/main">
            <a:off x="628650" y="1762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007D76"/>
                </a:solidFill>
                <a:latin typeface="Arial"/>
                <a:ea typeface="Arial"/>
                <a:cs typeface="Arial"/>
              </a:defRPr>
            </a:defPPr>
            <a:lvl1pPr>
              <a:defRPr sz="2700" b="0">
                <a:solidFill>
                  <a:srgbClr val="007D76"/>
                </a:solidFill>
                <a:latin typeface="Arial"/>
                <a:ea typeface="Arial"/>
                <a:cs typeface="Arial"/>
              </a:defRPr>
            </a:lvl1pPr>
            <a:lvl2pPr>
              <a:defRPr sz="2700" b="0">
                <a:solidFill>
                  <a:srgbClr val="007D76"/>
                </a:solidFill>
                <a:latin typeface="Arial"/>
                <a:ea typeface="Arial"/>
                <a:cs typeface="Arial"/>
              </a:defRPr>
            </a:lvl2pPr>
            <a:lvl3pPr>
              <a:defRPr sz="2700" b="0">
                <a:solidFill>
                  <a:srgbClr val="007D76"/>
                </a:solidFill>
                <a:latin typeface="Arial"/>
                <a:ea typeface="Arial"/>
                <a:cs typeface="Arial"/>
              </a:defRPr>
            </a:lvl3pPr>
            <a:lvl4pPr>
              <a:defRPr sz="2700" b="0">
                <a:solidFill>
                  <a:srgbClr val="007D76"/>
                </a:solidFill>
                <a:latin typeface="Arial"/>
                <a:ea typeface="Arial"/>
                <a:cs typeface="Arial"/>
              </a:defRPr>
            </a:lvl4pPr>
            <a:lvl5pPr>
              <a:defRPr sz="2700" b="0">
                <a:solidFill>
                  <a:srgbClr val="007D76"/>
                </a:solidFill>
                <a:latin typeface="Arial"/>
                <a:ea typeface="Arial"/>
                <a:cs typeface="Arial"/>
              </a:defRPr>
            </a:lvl5pPr>
            <a:lvl6pPr>
              <a:defRPr sz="2700" b="0">
                <a:solidFill>
                  <a:srgbClr val="007D76"/>
                </a:solidFill>
                <a:latin typeface="Arial"/>
                <a:ea typeface="Arial"/>
                <a:cs typeface="Arial"/>
              </a:defRPr>
            </a:lvl6pPr>
            <a:lvl7pPr>
              <a:defRPr sz="2700" b="0">
                <a:solidFill>
                  <a:srgbClr val="007D76"/>
                </a:solidFill>
                <a:latin typeface="Arial"/>
                <a:ea typeface="Arial"/>
                <a:cs typeface="Arial"/>
              </a:defRPr>
            </a:lvl7pPr>
            <a:lvl8pPr>
              <a:defRPr sz="2700" b="0">
                <a:solidFill>
                  <a:srgbClr val="007D76"/>
                </a:solidFill>
                <a:latin typeface="Arial"/>
                <a:ea typeface="Arial"/>
                <a:cs typeface="Arial"/>
              </a:defRPr>
            </a:lvl8pPr>
            <a:lvl9pPr>
              <a:defRPr sz="2700" b="0">
                <a:solidFill>
                  <a:srgbClr val="007D76"/>
                </a:solidFill>
                <a:latin typeface="Arial"/>
                <a:ea typeface="Arial"/>
                <a:cs typeface="Arial"/>
              </a:defRPr>
            </a:lvl9pPr>
          </a:lstStyle>
          <a:p xmlns:a="http://schemas.openxmlformats.org/drawingml/2006/main">
            <a:pPr>
              <a:defRPr sz="2700" b="0">
                <a:solidFill>
                  <a:srgbClr val="007D76"/>
                </a:solidFill>
                <a:latin typeface="Arial"/>
                <a:ea typeface="Arial"/>
                <a:cs typeface="Arial"/>
              </a:defRPr>
            </a:pPr>
            <a:r>
              <a:rPr sz="2700" b="0">
                <a:solidFill>
                  <a:srgbClr val="007D76"/>
                </a:solidFill>
                <a:latin typeface="Arial"/>
                <a:ea typeface="Arial"/>
                <a:cs typeface="Arial"/>
              </a:rPr>
              <a:t>Traffic demand + queue occupancy</a:t>
            </a:r>
          </a:p>
        </p:txBody>
      </p:sp>
      <p:sp>
        <p:nvSpPr>
          <p:cNvPr id="5" name="">
            <a:extLst xmlns:a="http://schemas.openxmlformats.org/drawingml/2006/main">
              <a:ext uri="{FF2B5EF4-FFF2-40B4-BE49-F238E27FC236}">
                <a16:creationId xmlns:a16="http://schemas.microsoft.com/office/drawing/2014/main" id="{EBC09DE6-0CF0-4098-BEC8-3639013F782C}"/>
              </a:ext>
            </a:extLst>
          </p:cNvPr>
          <p:cNvSpPr>
            <a:spLocks xmlns:a="http://schemas.openxmlformats.org/drawingml/2006/main" noGrp="1"/>
          </p:cNvSpPr>
          <p:nvPr/>
        </p:nvSpPr>
        <p:spPr>
          <a:xfrm xmlns:a="http://schemas.openxmlformats.org/drawingml/2006/main">
            <a:off x="628650" y="26670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Normalize features → unit vector → cosine similarity</a:t>
            </a:r>
          </a:p>
        </p:txBody>
      </p:sp>
      <p:sp>
        <p:nvSpPr>
          <p:cNvPr id="6" name="">
            <a:extLst xmlns:a="http://schemas.openxmlformats.org/drawingml/2006/main">
              <a:ext uri="{FF2B5EF4-FFF2-40B4-BE49-F238E27FC236}">
                <a16:creationId xmlns:a16="http://schemas.microsoft.com/office/drawing/2014/main" id="{04414C74-B735-4D97-AE03-B3436B856196}"/>
              </a:ext>
            </a:extLst>
          </p:cNvPr>
          <p:cNvSpPr>
            <a:spLocks xmlns:a="http://schemas.openxmlformats.org/drawingml/2006/main" noGrp="1"/>
          </p:cNvSpPr>
          <p:nvPr/>
        </p:nvSpPr>
        <p:spPr>
          <a:xfrm xmlns:a="http://schemas.openxmlformats.org/drawingml/2006/main">
            <a:off x="647700" y="374332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four earlier episodes from a memory of at most 30.</a:t>
            </a:r>
          </a:p>
        </p:txBody>
      </p:sp>
      <p:sp>
        <p:nvSpPr>
          <p:cNvPr id="7" name="">
            <a:extLst xmlns:a="http://schemas.openxmlformats.org/drawingml/2006/main">
              <a:ext uri="{FF2B5EF4-FFF2-40B4-BE49-F238E27FC236}">
                <a16:creationId xmlns:a16="http://schemas.microsoft.com/office/drawing/2014/main" id="{CA7C56B8-589C-4992-823E-CF47DAA90CE6}"/>
              </a:ext>
            </a:extLst>
          </p:cNvPr>
          <p:cNvSpPr>
            <a:spLocks xmlns:a="http://schemas.openxmlformats.org/drawingml/2006/main" noGrp="1"/>
          </p:cNvSpPr>
          <p:nvPr/>
        </p:nvSpPr>
        <p:spPr>
          <a:xfrm xmlns:a="http://schemas.openxmlformats.org/drawingml/2006/main">
            <a:off x="647700" y="4476750"/>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Store state, installed action, reward and a concise reflection.</a:t>
            </a:r>
          </a:p>
        </p:txBody>
      </p:sp>
      <p:sp>
        <p:nvSpPr>
          <p:cNvPr id="8" name="">
            <a:extLst xmlns:a="http://schemas.openxmlformats.org/drawingml/2006/main">
              <a:ext uri="{FF2B5EF4-FFF2-40B4-BE49-F238E27FC236}">
                <a16:creationId xmlns:a16="http://schemas.microsoft.com/office/drawing/2014/main" id="{57A0808B-AF55-49C5-B3A2-843FC87537EC}"/>
              </a:ext>
            </a:extLst>
          </p:cNvPr>
          <p:cNvSpPr>
            <a:spLocks xmlns:a="http://schemas.openxmlformats.org/drawingml/2006/main" noGrp="1"/>
          </p:cNvSpPr>
          <p:nvPr/>
        </p:nvSpPr>
        <p:spPr>
          <a:xfrm xmlns:a="http://schemas.openxmlformats.org/drawingml/2006/main">
            <a:off x="647700" y="521017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Weights remain fixed. The embedding is a hand-designed numeric representation.</a:t>
            </a:r>
          </a:p>
        </p:txBody>
      </p:sp>
    </p:spTree>
    <p:extLst>
      <p:ext uri="{BB962C8B-B14F-4D97-AF65-F5344CB8AC3E}">
        <p14:creationId xmlns:p14="http://schemas.microsoft.com/office/powerpoint/2010/main" val="822223944"/>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F4B761-C2D6-4596-A967-8D8ECAD9A78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Actions and deterministic safety</a:t>
            </a:r>
          </a:p>
        </p:txBody>
      </p:sp>
      <p:sp>
        <p:nvSpPr>
          <p:cNvPr id="3" name="">
            <a:extLst xmlns:a="http://schemas.openxmlformats.org/drawingml/2006/main">
              <a:ext uri="{FF2B5EF4-FFF2-40B4-BE49-F238E27FC236}">
                <a16:creationId xmlns:a16="http://schemas.microsoft.com/office/drawing/2014/main" id="{71DC94A3-7840-4FAF-B599-D618DA66F21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graphicFrame>
        <p:nvGraphicFramePr>
          <p:cNvPr id="4" name="">
            <a:extLst xmlns:a="http://schemas.openxmlformats.org/drawingml/2006/main">
              <a:ext uri="{FF2B5EF4-FFF2-40B4-BE49-F238E27FC236}">
                <a16:creationId xmlns:a16="http://schemas.microsoft.com/office/drawing/2014/main" id="{0140C853-05B2-444C-ACCD-5684452B5D01}"/>
              </a:ext>
            </a:extLst>
          </p:cNvPr>
          <p:cNvGraphicFramePr/>
          <p:nvPr/>
        </p:nvGraphicFramePr>
        <p:xfrm>
          <a:off xmlns:a="http://schemas.openxmlformats.org/drawingml/2006/main" x="609600" y="1790700"/>
          <a:ext xmlns:a="http://schemas.openxmlformats.org/drawingml/2006/main" cx="10972800" cy="3238500"/>
        </p:xfrm>
        <a:graphic xmlns:a="http://schemas.openxmlformats.org/drawingml/2006/main">
          <a:graphicData uri="http://schemas.openxmlformats.org/drawingml/2006/table">
            <a:tbl>
              <a:tblPr/>
              <a:tblGrid>
                <a:gridCol w="2238375"/>
                <a:gridCol w="8734425"/>
              </a:tblGrid>
              <a:tr h="809625">
                <a:tc>
                  <a:txBody>
                    <a:bodyPr/>
                    <a:lstStyle/>
                    <a:p>
                      <a:r>
                        <a:rPr sz="1725" b="1">
                          <a:solidFill>
                            <a:srgbClr val="102E36"/>
                          </a:solidFill>
                          <a:latin typeface="Arial"/>
                          <a:ea typeface="Arial"/>
                          <a:cs typeface="Arial"/>
                        </a:rPr>
                        <a:t>Action</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Required checks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Reroute</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Exact flow and switch; alternate load ≤ 90% capacity</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Rate limit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most 20% reduction; minimum 512 kbps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No-op</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Safe fallback for invalid actions or provider failure</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1A231AAC-B2B9-4BBB-BA9D-6EC4CCAF3B19}"/>
              </a:ext>
            </a:extLst>
          </p:cNvPr>
          <p:cNvSpPr>
            <a:spLocks xmlns:a="http://schemas.openxmlformats.org/drawingml/2006/main" noGrp="1"/>
          </p:cNvSpPr>
          <p:nvPr/>
        </p:nvSpPr>
        <p:spPr>
          <a:xfrm xmlns:a="http://schemas.openxmlformats.org/drawingml/2006/main">
            <a:off x="628650" y="5305425"/>
            <a:ext cx="1090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Typed output is necessary. A separate gate decides whether the action can be applied.</a:t>
            </a:r>
          </a:p>
        </p:txBody>
      </p:sp>
    </p:spTree>
    <p:extLst>
      <p:ext uri="{BB962C8B-B14F-4D97-AF65-F5344CB8AC3E}">
        <p14:creationId xmlns:p14="http://schemas.microsoft.com/office/powerpoint/2010/main" val="866929461"/>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466F65-B7B8-489F-A30F-262C18E6AFB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Experimental design</a:t>
            </a:r>
          </a:p>
        </p:txBody>
      </p:sp>
      <p:sp>
        <p:nvSpPr>
          <p:cNvPr id="3" name="">
            <a:extLst xmlns:a="http://schemas.openxmlformats.org/drawingml/2006/main">
              <a:ext uri="{FF2B5EF4-FFF2-40B4-BE49-F238E27FC236}">
                <a16:creationId xmlns:a16="http://schemas.microsoft.com/office/drawing/2014/main" id="{B633613E-6083-406C-8B0F-7E4507E622B3}"/>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graphicFrame>
        <p:nvGraphicFramePr>
          <p:cNvPr id="4" name="">
            <a:extLst xmlns:a="http://schemas.openxmlformats.org/drawingml/2006/main">
              <a:ext uri="{FF2B5EF4-FFF2-40B4-BE49-F238E27FC236}">
                <a16:creationId xmlns:a16="http://schemas.microsoft.com/office/drawing/2014/main" id="{8F03C08C-18D1-4C84-B6C0-B9196CE2F180}"/>
              </a:ext>
            </a:extLst>
          </p:cNvPr>
          <p:cNvGraphicFramePr/>
          <p:nvPr/>
        </p:nvGraphicFramePr>
        <p:xfrm>
          <a:off xmlns:a="http://schemas.openxmlformats.org/drawingml/2006/main" x="609600" y="1743075"/>
          <a:ext xmlns:a="http://schemas.openxmlformats.org/drawingml/2006/main" cx="10972800" cy="3000375"/>
        </p:xfrm>
        <a:graphic xmlns:a="http://schemas.openxmlformats.org/drawingml/2006/main">
          <a:graphicData uri="http://schemas.openxmlformats.org/drawingml/2006/table">
            <a:tbl>
              <a:tblPr/>
              <a:tblGrid>
                <a:gridCol w="3286125"/>
                <a:gridCol w="1000125"/>
                <a:gridCol w="2000250"/>
                <a:gridCol w="4686300"/>
              </a:tblGrid>
              <a:tr h="750094">
                <a:tc>
                  <a:txBody>
                    <a:bodyPr/>
                    <a:lstStyle/>
                    <a:p>
                      <a:r>
                        <a:rPr sz="1725" b="1">
                          <a:solidFill>
                            <a:srgbClr val="102E36"/>
                          </a:solidFill>
                          <a:latin typeface="Arial"/>
                          <a:ea typeface="Arial"/>
                          <a:cs typeface="Arial"/>
                        </a:rPr>
                        <a:t>Experiment</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Seeds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Windows each</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A1 and A2 backend</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50094">
                <a:tc>
                  <a:txBody>
                    <a:bodyPr/>
                    <a:lstStyle/>
                    <a:p>
                      <a:r>
                        <a:rPr sz="1800">
                          <a:solidFill>
                            <a:srgbClr val="102E36"/>
                          </a:solidFill>
                          <a:latin typeface="Arial"/>
                          <a:ea typeface="Arial"/>
                          <a:cs typeface="Arial"/>
                        </a:rPr>
                        <a:t>Portable study</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Deterministic policies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Paced Gemini</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Gemini 3.5 Flash-Lite</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Free-router diagnostic</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free model or visible fallback</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8A953572-B5E0-4155-B46A-87D824F5C296}"/>
              </a:ext>
            </a:extLst>
          </p:cNvPr>
          <p:cNvSpPr>
            <a:spLocks xmlns:a="http://schemas.openxmlformats.org/drawingml/2006/main" noGrp="1"/>
          </p:cNvSpPr>
          <p:nvPr/>
        </p:nvSpPr>
        <p:spPr>
          <a:xfrm xmlns:a="http://schemas.openxmlformats.org/drawingml/2006/main">
            <a:off x="647700" y="5057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A0: static route    B1: feasible least-loaded route</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no episode memory    A2: similar-state memory</a:t>
            </a:r>
          </a:p>
        </p:txBody>
      </p:sp>
    </p:spTree>
    <p:extLst>
      <p:ext uri="{BB962C8B-B14F-4D97-AF65-F5344CB8AC3E}">
        <p14:creationId xmlns:p14="http://schemas.microsoft.com/office/powerpoint/2010/main" val="2139689209"/>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1F4C656-6082-4C7B-B396-E08C957ECD1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Offline latency results</a:t>
            </a:r>
          </a:p>
        </p:txBody>
      </p:sp>
      <p:sp>
        <p:nvSpPr>
          <p:cNvPr id="3" name="">
            <a:extLst xmlns:a="http://schemas.openxmlformats.org/drawingml/2006/main">
              <a:ext uri="{FF2B5EF4-FFF2-40B4-BE49-F238E27FC236}">
                <a16:creationId xmlns:a16="http://schemas.microsoft.com/office/drawing/2014/main" id="{5CEA655C-4591-4A27-8522-A0C02BD74EB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D9069A00-3377-4027-82DE-E9834A2EF22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Five seeds; 600 windows per controller; modeled delay in ms</a:t>
            </a:r>
          </a:p>
        </p:txBody>
      </p:sp>
      <p:graphicFrame>
        <p:nvGraphicFramePr>
          <p:cNvPr id="5" name="Chart">
            <a:extLst xmlns:a="http://schemas.openxmlformats.org/drawingml/2006/main">
              <a:ext uri="{FF2B5EF4-FFF2-40B4-BE49-F238E27FC236}">
                <a16:creationId xmlns:a16="http://schemas.microsoft.com/office/drawing/2014/main" id="{8A15B0EB-BB25-4CCB-9933-A48F813A31AD}"/>
              </a:ext>
            </a:extLst>
          </p:cNvPr>
          <p:cNvGraphicFramePr/>
          <p:nvPr/>
        </p:nvGraphicFramePr>
        <p:xfrm>
          <a:off xmlns:a="http://schemas.openxmlformats.org/drawingml/2006/main" x="666750" y="1762125"/>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9f1aa9ed572245e6"/>
          </a:graphicData>
        </a:graphic>
      </p:graphicFrame>
      <p:sp>
        <p:nvSpPr>
          <p:cNvPr id="6" name="">
            <a:extLst xmlns:a="http://schemas.openxmlformats.org/drawingml/2006/main">
              <a:ext uri="{FF2B5EF4-FFF2-40B4-BE49-F238E27FC236}">
                <a16:creationId xmlns:a16="http://schemas.microsoft.com/office/drawing/2014/main" id="{9E715F3B-DB69-4DFD-9878-FEA46D005AB9}"/>
              </a:ext>
            </a:extLst>
          </p:cNvPr>
          <p:cNvSpPr>
            <a:spLocks xmlns:a="http://schemas.openxmlformats.org/drawingml/2006/main" noGrp="1"/>
          </p:cNvSpPr>
          <p:nvPr/>
        </p:nvSpPr>
        <p:spPr>
          <a:xfrm xmlns:a="http://schemas.openxmlformats.org/drawingml/2006/main">
            <a:off x="8191500" y="19526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D76"/>
                </a:solidFill>
                <a:latin typeface="Arial"/>
                <a:ea typeface="Arial"/>
                <a:cs typeface="Arial"/>
              </a:defRPr>
            </a:defPPr>
            <a:lvl1pPr>
              <a:defRPr sz="2550" b="1">
                <a:solidFill>
                  <a:srgbClr val="007D76"/>
                </a:solidFill>
                <a:latin typeface="Arial"/>
                <a:ea typeface="Arial"/>
                <a:cs typeface="Arial"/>
              </a:defRPr>
            </a:lvl1pPr>
            <a:lvl2pPr>
              <a:defRPr sz="2550" b="1">
                <a:solidFill>
                  <a:srgbClr val="007D76"/>
                </a:solidFill>
                <a:latin typeface="Arial"/>
                <a:ea typeface="Arial"/>
                <a:cs typeface="Arial"/>
              </a:defRPr>
            </a:lvl2pPr>
            <a:lvl3pPr>
              <a:defRPr sz="2550" b="1">
                <a:solidFill>
                  <a:srgbClr val="007D76"/>
                </a:solidFill>
                <a:latin typeface="Arial"/>
                <a:ea typeface="Arial"/>
                <a:cs typeface="Arial"/>
              </a:defRPr>
            </a:lvl3pPr>
            <a:lvl4pPr>
              <a:defRPr sz="2550" b="1">
                <a:solidFill>
                  <a:srgbClr val="007D76"/>
                </a:solidFill>
                <a:latin typeface="Arial"/>
                <a:ea typeface="Arial"/>
                <a:cs typeface="Arial"/>
              </a:defRPr>
            </a:lvl4pPr>
            <a:lvl5pPr>
              <a:defRPr sz="2550" b="1">
                <a:solidFill>
                  <a:srgbClr val="007D76"/>
                </a:solidFill>
                <a:latin typeface="Arial"/>
                <a:ea typeface="Arial"/>
                <a:cs typeface="Arial"/>
              </a:defRPr>
            </a:lvl5pPr>
            <a:lvl6pPr>
              <a:defRPr sz="2550" b="1">
                <a:solidFill>
                  <a:srgbClr val="007D76"/>
                </a:solidFill>
                <a:latin typeface="Arial"/>
                <a:ea typeface="Arial"/>
                <a:cs typeface="Arial"/>
              </a:defRPr>
            </a:lvl6pPr>
            <a:lvl7pPr>
              <a:defRPr sz="2550" b="1">
                <a:solidFill>
                  <a:srgbClr val="007D76"/>
                </a:solidFill>
                <a:latin typeface="Arial"/>
                <a:ea typeface="Arial"/>
                <a:cs typeface="Arial"/>
              </a:defRPr>
            </a:lvl7pPr>
            <a:lvl8pPr>
              <a:defRPr sz="2550" b="1">
                <a:solidFill>
                  <a:srgbClr val="007D76"/>
                </a:solidFill>
                <a:latin typeface="Arial"/>
                <a:ea typeface="Arial"/>
                <a:cs typeface="Arial"/>
              </a:defRPr>
            </a:lvl8pPr>
            <a:lvl9pPr>
              <a:defRPr sz="2550" b="1">
                <a:solidFill>
                  <a:srgbClr val="007D76"/>
                </a:solidFill>
                <a:latin typeface="Arial"/>
                <a:ea typeface="Arial"/>
                <a:cs typeface="Arial"/>
              </a:defRPr>
            </a:lvl9pPr>
          </a:lstStyle>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Memory did not improve</a:t>
            </a:r>
          </a:p>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the offline controller</a:t>
            </a:r>
          </a:p>
        </p:txBody>
      </p:sp>
      <p:sp>
        <p:nvSpPr>
          <p:cNvPr id="7" name="">
            <a:extLst xmlns:a="http://schemas.openxmlformats.org/drawingml/2006/main">
              <a:ext uri="{FF2B5EF4-FFF2-40B4-BE49-F238E27FC236}">
                <a16:creationId xmlns:a16="http://schemas.microsoft.com/office/drawing/2014/main" id="{3F5B0CA3-6AA5-489E-BA79-01BF7E4979A6}"/>
              </a:ext>
            </a:extLst>
          </p:cNvPr>
          <p:cNvSpPr>
            <a:spLocks xmlns:a="http://schemas.openxmlformats.org/drawingml/2006/main" noGrp="1"/>
          </p:cNvSpPr>
          <p:nvPr/>
        </p:nvSpPr>
        <p:spPr>
          <a:xfrm xmlns:a="http://schemas.openxmlformats.org/drawingml/2006/main">
            <a:off x="8239125" y="349567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A1: 23.86 ms</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24.98 ms</a:t>
            </a:r>
          </a:p>
          <a:p xmlns:a="http://schemas.openxmlformats.org/drawingml/2006/main">
            <a:r>
              <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minus A1:</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+1.13 ms</a:t>
            </a:r>
          </a:p>
        </p:txBody>
      </p:sp>
    </p:spTree>
    <p:extLst>
      <p:ext uri="{BB962C8B-B14F-4D97-AF65-F5344CB8AC3E}">
        <p14:creationId xmlns:p14="http://schemas.microsoft.com/office/powerpoint/2010/main" val="1199689238"/>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F6D553-E3B2-4625-8B6B-87E63AA57B7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Goodput and total loss</a:t>
            </a:r>
          </a:p>
        </p:txBody>
      </p:sp>
      <p:sp>
        <p:nvSpPr>
          <p:cNvPr id="3" name="">
            <a:extLst xmlns:a="http://schemas.openxmlformats.org/drawingml/2006/main">
              <a:ext uri="{FF2B5EF4-FFF2-40B4-BE49-F238E27FC236}">
                <a16:creationId xmlns:a16="http://schemas.microsoft.com/office/drawing/2014/main" id="{F94727F3-D00D-4000-9CAC-3EA8119D9A7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A3EBCE17-FFBF-4A3F-B52A-0AEFBFF37008}"/>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window loss includes deliberate meter drops</a:t>
            </a:r>
          </a:p>
        </p:txBody>
      </p:sp>
      <p:graphicFrame>
        <p:nvGraphicFramePr>
          <p:cNvPr id="5" name="">
            <a:extLst xmlns:a="http://schemas.openxmlformats.org/drawingml/2006/main">
              <a:ext uri="{FF2B5EF4-FFF2-40B4-BE49-F238E27FC236}">
                <a16:creationId xmlns:a16="http://schemas.microsoft.com/office/drawing/2014/main" id="{0E36B30E-64B7-42ED-9F52-FA040BBD0103}"/>
              </a:ext>
            </a:extLst>
          </p:cNvPr>
          <p:cNvGraphicFramePr/>
          <p:nvPr/>
        </p:nvGraphicFramePr>
        <p:xfrm>
          <a:off xmlns:a="http://schemas.openxmlformats.org/drawingml/2006/main" x="609600" y="1743075"/>
          <a:ext xmlns:a="http://schemas.openxmlformats.org/drawingml/2006/main" cx="10972800" cy="3333750"/>
        </p:xfrm>
        <a:graphic xmlns:a="http://schemas.openxmlformats.org/drawingml/2006/main">
          <a:graphicData uri="http://schemas.openxmlformats.org/drawingml/2006/table">
            <a:tbl>
              <a:tblPr/>
              <a:tblGrid>
                <a:gridCol w="2428875"/>
                <a:gridCol w="2847975"/>
                <a:gridCol w="3219450"/>
                <a:gridCol w="2476500"/>
              </a:tblGrid>
              <a:tr h="666750">
                <a:tc>
                  <a:txBody>
                    <a:bodyPr/>
                    <a:lstStyle/>
                    <a:p>
                      <a:r>
                        <a:rPr sz="1725" b="1">
                          <a:solidFill>
                            <a:srgbClr val="102E36"/>
                          </a:solidFill>
                          <a:latin typeface="Arial"/>
                          <a:ea typeface="Arial"/>
                          <a:cs typeface="Arial"/>
                        </a:rPr>
                        <a:t>Controller</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Mean total loss %</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Safety vetoes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66750">
                <a:tc>
                  <a:txBody>
                    <a:bodyPr/>
                    <a:lstStyle/>
                    <a:p>
                      <a:r>
                        <a:rPr sz="1800">
                          <a:solidFill>
                            <a:srgbClr val="102E36"/>
                          </a:solidFill>
                          <a:latin typeface="Arial"/>
                          <a:ea typeface="Arial"/>
                          <a:cs typeface="Arial"/>
                        </a:rPr>
                        <a:t>A0</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13.326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9.966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13.399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9.416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13.308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10.013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A2</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13.233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10.691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62</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416DCAC1-E71C-4FE5-B26A-F82C46890A53}"/>
              </a:ext>
            </a:extLst>
          </p:cNvPr>
          <p:cNvSpPr>
            <a:spLocks xmlns:a="http://schemas.openxmlformats.org/drawingml/2006/main" noGrp="1"/>
          </p:cNvSpPr>
          <p:nvPr/>
        </p:nvSpPr>
        <p:spPr>
          <a:xfrm xmlns:a="http://schemas.openxmlformats.org/drawingml/2006/main">
            <a:off x="647700" y="530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A2 traded lower delay than A0 for lower goodput and more loss.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Latency alone is insufficient evidence of a better controller.</a:t>
            </a:r>
          </a:p>
        </p:txBody>
      </p:sp>
    </p:spTree>
    <p:extLst>
      <p:ext uri="{BB962C8B-B14F-4D97-AF65-F5344CB8AC3E}">
        <p14:creationId xmlns:p14="http://schemas.microsoft.com/office/powerpoint/2010/main" val="827828242"/>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755FE04-00D4-4010-8D92-381CCE85E4C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Interpreting reflection and memory</a:t>
            </a:r>
          </a:p>
        </p:txBody>
      </p:sp>
      <p:sp>
        <p:nvSpPr>
          <p:cNvPr id="3" name="">
            <a:extLst xmlns:a="http://schemas.openxmlformats.org/drawingml/2006/main">
              <a:ext uri="{FF2B5EF4-FFF2-40B4-BE49-F238E27FC236}">
                <a16:creationId xmlns:a16="http://schemas.microsoft.com/office/drawing/2014/main" id="{FC80AA72-9927-4373-9DED-907C54AC8C0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0BCEA6FC-607D-4B9A-A93C-E53ECF5DCEC4}"/>
              </a:ext>
            </a:extLst>
          </p:cNvPr>
          <p:cNvSpPr>
            <a:spLocks xmlns:a="http://schemas.openxmlformats.org/drawingml/2006/main" noGrp="1"/>
          </p:cNvSpPr>
          <p:nvPr/>
        </p:nvSpPr>
        <p:spPr>
          <a:xfrm xmlns:a="http://schemas.openxmlformats.org/drawingml/2006/main">
            <a:off x="619125" y="1809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62 vetoes in the offline memory condition</a:t>
            </a:r>
          </a:p>
        </p:txBody>
      </p:sp>
      <p:sp>
        <p:nvSpPr>
          <p:cNvPr id="5" name="">
            <a:extLst xmlns:a="http://schemas.openxmlformats.org/drawingml/2006/main">
              <a:ext uri="{FF2B5EF4-FFF2-40B4-BE49-F238E27FC236}">
                <a16:creationId xmlns:a16="http://schemas.microsoft.com/office/drawing/2014/main" id="{6F3AAB23-4EFA-414D-91E0-9E7D2BB48B7D}"/>
              </a:ext>
            </a:extLst>
          </p:cNvPr>
          <p:cNvSpPr>
            <a:spLocks xmlns:a="http://schemas.openxmlformats.org/drawingml/2006/main" noGrp="1"/>
          </p:cNvSpPr>
          <p:nvPr/>
        </p:nvSpPr>
        <p:spPr>
          <a:xfrm xmlns:a="http://schemas.openxmlformats.org/drawingml/2006/main">
            <a:off x="638175" y="3095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similar state can require a different feasible action.</a:t>
            </a:r>
          </a:p>
        </p:txBody>
      </p:sp>
      <p:sp>
        <p:nvSpPr>
          <p:cNvPr id="6" name="">
            <a:extLst xmlns:a="http://schemas.openxmlformats.org/drawingml/2006/main">
              <a:ext uri="{FF2B5EF4-FFF2-40B4-BE49-F238E27FC236}">
                <a16:creationId xmlns:a16="http://schemas.microsoft.com/office/drawing/2014/main" id="{CC15BA17-5868-46C9-B2E4-7C317943FF78}"/>
              </a:ext>
            </a:extLst>
          </p:cNvPr>
          <p:cNvSpPr>
            <a:spLocks xmlns:a="http://schemas.openxmlformats.org/drawingml/2006/main" noGrp="1"/>
          </p:cNvSpPr>
          <p:nvPr/>
        </p:nvSpPr>
        <p:spPr>
          <a:xfrm xmlns:a="http://schemas.openxmlformats.org/drawingml/2006/main">
            <a:off x="638175" y="40290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Reward pruning can discard informative failed episodes.</a:t>
            </a:r>
          </a:p>
        </p:txBody>
      </p:sp>
      <p:sp>
        <p:nvSpPr>
          <p:cNvPr id="7" name="">
            <a:extLst xmlns:a="http://schemas.openxmlformats.org/drawingml/2006/main">
              <a:ext uri="{FF2B5EF4-FFF2-40B4-BE49-F238E27FC236}">
                <a16:creationId xmlns:a16="http://schemas.microsoft.com/office/drawing/2014/main" id="{FD213432-5EAF-4C92-9BB8-5AB0B8955742}"/>
              </a:ext>
            </a:extLst>
          </p:cNvPr>
          <p:cNvSpPr>
            <a:spLocks xmlns:a="http://schemas.openxmlformats.org/drawingml/2006/main" noGrp="1"/>
          </p:cNvSpPr>
          <p:nvPr/>
        </p:nvSpPr>
        <p:spPr>
          <a:xfrm xmlns:a="http://schemas.openxmlformats.org/drawingml/2006/main">
            <a:off x="638175" y="4962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stored explanation supports adaptation; it does not guarantee improvement.</a:t>
            </a:r>
          </a:p>
        </p:txBody>
      </p:sp>
    </p:spTree>
    <p:extLst>
      <p:ext uri="{BB962C8B-B14F-4D97-AF65-F5344CB8AC3E}">
        <p14:creationId xmlns:p14="http://schemas.microsoft.com/office/powerpoint/2010/main" val="150227452"/>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4968C37-B2E2-47FF-ABC3-B8B2EE0AC4E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Gemini integration results</a:t>
            </a:r>
          </a:p>
        </p:txBody>
      </p:sp>
      <p:sp>
        <p:nvSpPr>
          <p:cNvPr id="3" name="">
            <a:extLst xmlns:a="http://schemas.openxmlformats.org/drawingml/2006/main">
              <a:ext uri="{FF2B5EF4-FFF2-40B4-BE49-F238E27FC236}">
                <a16:creationId xmlns:a16="http://schemas.microsoft.com/office/drawing/2014/main" id="{CB85250C-D5D4-4DC9-92FE-084396DAFAA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0B436925-B00A-4A7D-9D45-28D44AE0CA49}"/>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Three seeds × 24 windows per controller; network results are simulated</a:t>
            </a:r>
          </a:p>
        </p:txBody>
      </p:sp>
      <p:graphicFrame>
        <p:nvGraphicFramePr>
          <p:cNvPr id="5" name="Chart">
            <a:extLst xmlns:a="http://schemas.openxmlformats.org/drawingml/2006/main">
              <a:ext uri="{FF2B5EF4-FFF2-40B4-BE49-F238E27FC236}">
                <a16:creationId xmlns:a16="http://schemas.microsoft.com/office/drawing/2014/main" id="{8DFB7BF7-937A-46BD-9CCD-5404544D6BF4}"/>
              </a:ext>
            </a:extLst>
          </p:cNvPr>
          <p:cNvGraphicFramePr/>
          <p:nvPr/>
        </p:nvGraphicFramePr>
        <p:xfrm>
          <a:off xmlns:a="http://schemas.openxmlformats.org/drawingml/2006/main" x="666750" y="1809750"/>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b187c7c373824803"/>
          </a:graphicData>
        </a:graphic>
      </p:graphicFrame>
      <p:sp>
        <p:nvSpPr>
          <p:cNvPr id="6" name="">
            <a:extLst xmlns:a="http://schemas.openxmlformats.org/drawingml/2006/main">
              <a:ext uri="{FF2B5EF4-FFF2-40B4-BE49-F238E27FC236}">
                <a16:creationId xmlns:a16="http://schemas.microsoft.com/office/drawing/2014/main" id="{B244BD7F-C896-42C4-898C-20705F6DB6DB}"/>
              </a:ext>
            </a:extLst>
          </p:cNvPr>
          <p:cNvSpPr>
            <a:spLocks xmlns:a="http://schemas.openxmlformats.org/drawingml/2006/main" noGrp="1"/>
          </p:cNvSpPr>
          <p:nvPr/>
        </p:nvSpPr>
        <p:spPr>
          <a:xfrm xmlns:a="http://schemas.openxmlformats.org/drawingml/2006/main">
            <a:off x="8191500" y="180975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007D76"/>
                </a:solidFill>
                <a:latin typeface="Arial"/>
                <a:ea typeface="Arial"/>
                <a:cs typeface="Arial"/>
              </a:defRPr>
            </a:defPPr>
            <a:lvl1pPr>
              <a:defRPr sz="4050" b="1">
                <a:solidFill>
                  <a:srgbClr val="007D76"/>
                </a:solidFill>
                <a:latin typeface="Arial"/>
                <a:ea typeface="Arial"/>
                <a:cs typeface="Arial"/>
              </a:defRPr>
            </a:lvl1pPr>
            <a:lvl2pPr>
              <a:defRPr sz="4050" b="1">
                <a:solidFill>
                  <a:srgbClr val="007D76"/>
                </a:solidFill>
                <a:latin typeface="Arial"/>
                <a:ea typeface="Arial"/>
                <a:cs typeface="Arial"/>
              </a:defRPr>
            </a:lvl2pPr>
            <a:lvl3pPr>
              <a:defRPr sz="4050" b="1">
                <a:solidFill>
                  <a:srgbClr val="007D76"/>
                </a:solidFill>
                <a:latin typeface="Arial"/>
                <a:ea typeface="Arial"/>
                <a:cs typeface="Arial"/>
              </a:defRPr>
            </a:lvl3pPr>
            <a:lvl4pPr>
              <a:defRPr sz="4050" b="1">
                <a:solidFill>
                  <a:srgbClr val="007D76"/>
                </a:solidFill>
                <a:latin typeface="Arial"/>
                <a:ea typeface="Arial"/>
                <a:cs typeface="Arial"/>
              </a:defRPr>
            </a:lvl4pPr>
            <a:lvl5pPr>
              <a:defRPr sz="4050" b="1">
                <a:solidFill>
                  <a:srgbClr val="007D76"/>
                </a:solidFill>
                <a:latin typeface="Arial"/>
                <a:ea typeface="Arial"/>
                <a:cs typeface="Arial"/>
              </a:defRPr>
            </a:lvl5pPr>
            <a:lvl6pPr>
              <a:defRPr sz="4050" b="1">
                <a:solidFill>
                  <a:srgbClr val="007D76"/>
                </a:solidFill>
                <a:latin typeface="Arial"/>
                <a:ea typeface="Arial"/>
                <a:cs typeface="Arial"/>
              </a:defRPr>
            </a:lvl6pPr>
            <a:lvl7pPr>
              <a:defRPr sz="4050" b="1">
                <a:solidFill>
                  <a:srgbClr val="007D76"/>
                </a:solidFill>
                <a:latin typeface="Arial"/>
                <a:ea typeface="Arial"/>
                <a:cs typeface="Arial"/>
              </a:defRPr>
            </a:lvl7pPr>
            <a:lvl8pPr>
              <a:defRPr sz="4050" b="1">
                <a:solidFill>
                  <a:srgbClr val="007D76"/>
                </a:solidFill>
                <a:latin typeface="Arial"/>
                <a:ea typeface="Arial"/>
                <a:cs typeface="Arial"/>
              </a:defRPr>
            </a:lvl8pPr>
            <a:lvl9pPr>
              <a:defRPr sz="4050" b="1">
                <a:solidFill>
                  <a:srgbClr val="007D76"/>
                </a:solidFill>
                <a:latin typeface="Arial"/>
                <a:ea typeface="Arial"/>
                <a:cs typeface="Arial"/>
              </a:defRPr>
            </a:lvl9pPr>
          </a:lstStyle>
          <a:p xmlns:a="http://schemas.openxmlformats.org/drawingml/2006/main">
            <a:pPr>
              <a:defRPr sz="4050" b="1">
                <a:solidFill>
                  <a:srgbClr val="007D76"/>
                </a:solidFill>
                <a:latin typeface="Arial"/>
                <a:ea typeface="Arial"/>
                <a:cs typeface="Arial"/>
              </a:defRPr>
            </a:pPr>
            <a:r>
              <a:rPr sz="4050" b="1">
                <a:solidFill>
                  <a:srgbClr val="007D76"/>
                </a:solidFill>
                <a:latin typeface="Arial"/>
                <a:ea typeface="Arial"/>
                <a:cs typeface="Arial"/>
              </a:rPr>
              <a:t>288 / 288</a:t>
            </a:r>
          </a:p>
        </p:txBody>
      </p:sp>
      <p:sp>
        <p:nvSpPr>
          <p:cNvPr id="7" name="">
            <a:extLst xmlns:a="http://schemas.openxmlformats.org/drawingml/2006/main">
              <a:ext uri="{FF2B5EF4-FFF2-40B4-BE49-F238E27FC236}">
                <a16:creationId xmlns:a16="http://schemas.microsoft.com/office/drawing/2014/main" id="{B19C7D68-DF3F-414C-B8C7-931987238ED5}"/>
              </a:ext>
            </a:extLst>
          </p:cNvPr>
          <p:cNvSpPr>
            <a:spLocks xmlns:a="http://schemas.openxmlformats.org/drawingml/2006/main" noGrp="1"/>
          </p:cNvSpPr>
          <p:nvPr/>
        </p:nvSpPr>
        <p:spPr>
          <a:xfrm xmlns:a="http://schemas.openxmlformats.org/drawingml/2006/main">
            <a:off x="8248650" y="2714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successful decision and</a:t>
            </a:r>
          </a:p>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reflection API calls</a:t>
            </a:r>
          </a:p>
        </p:txBody>
      </p:sp>
      <p:sp>
        <p:nvSpPr>
          <p:cNvPr id="8" name="">
            <a:extLst xmlns:a="http://schemas.openxmlformats.org/drawingml/2006/main">
              <a:ext uri="{FF2B5EF4-FFF2-40B4-BE49-F238E27FC236}">
                <a16:creationId xmlns:a16="http://schemas.microsoft.com/office/drawing/2014/main" id="{7B08CC5B-A8E4-461A-A1A4-C9CA31C6786E}"/>
              </a:ext>
            </a:extLst>
          </p:cNvPr>
          <p:cNvSpPr>
            <a:spLocks xmlns:a="http://schemas.openxmlformats.org/drawingml/2006/main" noGrp="1"/>
          </p:cNvSpPr>
          <p:nvPr/>
        </p:nvSpPr>
        <p:spPr>
          <a:xfrm xmlns:a="http://schemas.openxmlformats.org/drawingml/2006/main">
            <a:off x="8248650" y="38766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A1 decisions: 72/72</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A2 decisions: 72/72</a:t>
            </a:r>
          </a:p>
          <a:p xmlns:a="http://schemas.openxmlformats.org/drawingml/2006/main">
            <a:r>
              <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Vetoes: 48 → 22</a:t>
            </a:r>
          </a:p>
        </p:txBody>
      </p:sp>
      <p:sp>
        <p:nvSpPr>
          <p:cNvPr id="9" name="">
            <a:extLst xmlns:a="http://schemas.openxmlformats.org/drawingml/2006/main">
              <a:ext uri="{FF2B5EF4-FFF2-40B4-BE49-F238E27FC236}">
                <a16:creationId xmlns:a16="http://schemas.microsoft.com/office/drawing/2014/main" id="{E931FDCB-B9A6-4158-8E98-B4896DF66685}"/>
              </a:ext>
            </a:extLst>
          </p:cNvPr>
          <p:cNvSpPr>
            <a:spLocks xmlns:a="http://schemas.openxmlformats.org/drawingml/2006/main" noGrp="1"/>
          </p:cNvSpPr>
          <p:nvPr/>
        </p:nvSpPr>
        <p:spPr>
          <a:xfrm xmlns:a="http://schemas.openxmlformats.org/drawingml/2006/main">
            <a:off x="666750" y="565785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A2 latency differs from A1 by -0.017 ms; goodput and loss are equal.</a:t>
            </a:r>
          </a:p>
        </p:txBody>
      </p:sp>
    </p:spTree>
    <p:extLst>
      <p:ext uri="{BB962C8B-B14F-4D97-AF65-F5344CB8AC3E}">
        <p14:creationId xmlns:p14="http://schemas.microsoft.com/office/powerpoint/2010/main" val="632112439"/>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267328-023A-4E89-B5D4-F90372CF09B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Free model availability</a:t>
            </a:r>
          </a:p>
        </p:txBody>
      </p:sp>
      <p:sp>
        <p:nvSpPr>
          <p:cNvPr id="3" name="">
            <a:extLst xmlns:a="http://schemas.openxmlformats.org/drawingml/2006/main">
              <a:ext uri="{FF2B5EF4-FFF2-40B4-BE49-F238E27FC236}">
                <a16:creationId xmlns:a16="http://schemas.microsoft.com/office/drawing/2014/main" id="{A8211180-4D2C-4CEA-8A4D-5E24FD706564}"/>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C018DA25-9ABF-403B-B050-7B82D7413E8D}"/>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One structured healthy-network check per discovered zero-price model ID</a:t>
            </a:r>
          </a:p>
        </p:txBody>
      </p:sp>
      <p:sp>
        <p:nvSpPr>
          <p:cNvPr id="5" name="">
            <a:extLst xmlns:a="http://schemas.openxmlformats.org/drawingml/2006/main">
              <a:ext uri="{FF2B5EF4-FFF2-40B4-BE49-F238E27FC236}">
                <a16:creationId xmlns:a16="http://schemas.microsoft.com/office/drawing/2014/main" id="{2593F5D6-0D7A-4291-A070-AB231D377AE3}"/>
              </a:ext>
            </a:extLst>
          </p:cNvPr>
          <p:cNvSpPr>
            <a:spLocks xmlns:a="http://schemas.openxmlformats.org/drawingml/2006/main" noGrp="1"/>
          </p:cNvSpPr>
          <p:nvPr/>
        </p:nvSpPr>
        <p:spPr>
          <a:xfrm xmlns:a="http://schemas.openxmlformats.org/drawingml/2006/main">
            <a:off x="619125" y="177165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007D76"/>
                </a:solidFill>
                <a:latin typeface="Arial"/>
                <a:ea typeface="Arial"/>
                <a:cs typeface="Arial"/>
              </a:defRPr>
            </a:defPPr>
            <a:lvl1pPr>
              <a:defRPr sz="6600" b="1">
                <a:solidFill>
                  <a:srgbClr val="007D76"/>
                </a:solidFill>
                <a:latin typeface="Arial"/>
                <a:ea typeface="Arial"/>
                <a:cs typeface="Arial"/>
              </a:defRPr>
            </a:lvl1pPr>
            <a:lvl2pPr>
              <a:defRPr sz="6600" b="1">
                <a:solidFill>
                  <a:srgbClr val="007D76"/>
                </a:solidFill>
                <a:latin typeface="Arial"/>
                <a:ea typeface="Arial"/>
                <a:cs typeface="Arial"/>
              </a:defRPr>
            </a:lvl2pPr>
            <a:lvl3pPr>
              <a:defRPr sz="6600" b="1">
                <a:solidFill>
                  <a:srgbClr val="007D76"/>
                </a:solidFill>
                <a:latin typeface="Arial"/>
                <a:ea typeface="Arial"/>
                <a:cs typeface="Arial"/>
              </a:defRPr>
            </a:lvl3pPr>
            <a:lvl4pPr>
              <a:defRPr sz="6600" b="1">
                <a:solidFill>
                  <a:srgbClr val="007D76"/>
                </a:solidFill>
                <a:latin typeface="Arial"/>
                <a:ea typeface="Arial"/>
                <a:cs typeface="Arial"/>
              </a:defRPr>
            </a:lvl4pPr>
            <a:lvl5pPr>
              <a:defRPr sz="6600" b="1">
                <a:solidFill>
                  <a:srgbClr val="007D76"/>
                </a:solidFill>
                <a:latin typeface="Arial"/>
                <a:ea typeface="Arial"/>
                <a:cs typeface="Arial"/>
              </a:defRPr>
            </a:lvl5pPr>
            <a:lvl6pPr>
              <a:defRPr sz="6600" b="1">
                <a:solidFill>
                  <a:srgbClr val="007D76"/>
                </a:solidFill>
                <a:latin typeface="Arial"/>
                <a:ea typeface="Arial"/>
                <a:cs typeface="Arial"/>
              </a:defRPr>
            </a:lvl6pPr>
            <a:lvl7pPr>
              <a:defRPr sz="6600" b="1">
                <a:solidFill>
                  <a:srgbClr val="007D76"/>
                </a:solidFill>
                <a:latin typeface="Arial"/>
                <a:ea typeface="Arial"/>
                <a:cs typeface="Arial"/>
              </a:defRPr>
            </a:lvl7pPr>
            <a:lvl8pPr>
              <a:defRPr sz="6600" b="1">
                <a:solidFill>
                  <a:srgbClr val="007D76"/>
                </a:solidFill>
                <a:latin typeface="Arial"/>
                <a:ea typeface="Arial"/>
                <a:cs typeface="Arial"/>
              </a:defRPr>
            </a:lvl8pPr>
            <a:lvl9pPr>
              <a:defRPr sz="6600" b="1">
                <a:solidFill>
                  <a:srgbClr val="007D76"/>
                </a:solidFill>
                <a:latin typeface="Arial"/>
                <a:ea typeface="Arial"/>
                <a:cs typeface="Arial"/>
              </a:defRPr>
            </a:lvl9pPr>
          </a:lstStyle>
          <a:p xmlns:a="http://schemas.openxmlformats.org/drawingml/2006/main">
            <a:pPr>
              <a:defRPr sz="6600" b="1">
                <a:solidFill>
                  <a:srgbClr val="007D76"/>
                </a:solidFill>
                <a:latin typeface="Arial"/>
                <a:ea typeface="Arial"/>
                <a:cs typeface="Arial"/>
              </a:defRPr>
            </a:pPr>
            <a:r>
              <a:rPr sz="6600" b="1">
                <a:solidFill>
                  <a:srgbClr val="007D76"/>
                </a:solidFill>
                <a:latin typeface="Arial"/>
                <a:ea typeface="Arial"/>
                <a:cs typeface="Arial"/>
              </a:rPr>
              <a:t>9 / 17</a:t>
            </a:r>
          </a:p>
        </p:txBody>
      </p:sp>
      <p:sp>
        <p:nvSpPr>
          <p:cNvPr id="6" name="">
            <a:extLst xmlns:a="http://schemas.openxmlformats.org/drawingml/2006/main">
              <a:ext uri="{FF2B5EF4-FFF2-40B4-BE49-F238E27FC236}">
                <a16:creationId xmlns:a16="http://schemas.microsoft.com/office/drawing/2014/main" id="{9037C495-9E2D-4926-B54F-8124683F165E}"/>
              </a:ext>
            </a:extLst>
          </p:cNvPr>
          <p:cNvSpPr>
            <a:spLocks xmlns:a="http://schemas.openxmlformats.org/drawingml/2006/main" noGrp="1"/>
          </p:cNvSpPr>
          <p:nvPr/>
        </p:nvSpPr>
        <p:spPr>
          <a:xfrm xmlns:a="http://schemas.openxmlformats.org/drawingml/2006/main">
            <a:off x="685800" y="3267075"/>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02E36"/>
                </a:solidFill>
                <a:latin typeface="Arial"/>
                <a:ea typeface="Arial"/>
                <a:cs typeface="Arial"/>
              </a:defRPr>
            </a:defPPr>
            <a:lvl1pPr>
              <a:defRPr sz="2400" b="0">
                <a:solidFill>
                  <a:srgbClr val="102E36"/>
                </a:solidFill>
                <a:latin typeface="Arial"/>
                <a:ea typeface="Arial"/>
                <a:cs typeface="Arial"/>
              </a:defRPr>
            </a:lvl1pPr>
            <a:lvl2pPr>
              <a:defRPr sz="2400" b="0">
                <a:solidFill>
                  <a:srgbClr val="102E36"/>
                </a:solidFill>
                <a:latin typeface="Arial"/>
                <a:ea typeface="Arial"/>
                <a:cs typeface="Arial"/>
              </a:defRPr>
            </a:lvl2pPr>
            <a:lvl3pPr>
              <a:defRPr sz="2400" b="0">
                <a:solidFill>
                  <a:srgbClr val="102E36"/>
                </a:solidFill>
                <a:latin typeface="Arial"/>
                <a:ea typeface="Arial"/>
                <a:cs typeface="Arial"/>
              </a:defRPr>
            </a:lvl3pPr>
            <a:lvl4pPr>
              <a:defRPr sz="2400" b="0">
                <a:solidFill>
                  <a:srgbClr val="102E36"/>
                </a:solidFill>
                <a:latin typeface="Arial"/>
                <a:ea typeface="Arial"/>
                <a:cs typeface="Arial"/>
              </a:defRPr>
            </a:lvl4pPr>
            <a:lvl5pPr>
              <a:defRPr sz="2400" b="0">
                <a:solidFill>
                  <a:srgbClr val="102E36"/>
                </a:solidFill>
                <a:latin typeface="Arial"/>
                <a:ea typeface="Arial"/>
                <a:cs typeface="Arial"/>
              </a:defRPr>
            </a:lvl5pPr>
            <a:lvl6pPr>
              <a:defRPr sz="2400" b="0">
                <a:solidFill>
                  <a:srgbClr val="102E36"/>
                </a:solidFill>
                <a:latin typeface="Arial"/>
                <a:ea typeface="Arial"/>
                <a:cs typeface="Arial"/>
              </a:defRPr>
            </a:lvl6pPr>
            <a:lvl7pPr>
              <a:defRPr sz="2400" b="0">
                <a:solidFill>
                  <a:srgbClr val="102E36"/>
                </a:solidFill>
                <a:latin typeface="Arial"/>
                <a:ea typeface="Arial"/>
                <a:cs typeface="Arial"/>
              </a:defRPr>
            </a:lvl7pPr>
            <a:lvl8pPr>
              <a:defRPr sz="2400" b="0">
                <a:solidFill>
                  <a:srgbClr val="102E36"/>
                </a:solidFill>
                <a:latin typeface="Arial"/>
                <a:ea typeface="Arial"/>
                <a:cs typeface="Arial"/>
              </a:defRPr>
            </a:lvl8pPr>
            <a:lvl9pPr>
              <a:defRPr sz="2400" b="0">
                <a:solidFill>
                  <a:srgbClr val="102E36"/>
                </a:solidFill>
                <a:latin typeface="Arial"/>
                <a:ea typeface="Arial"/>
                <a:cs typeface="Arial"/>
              </a:defRPr>
            </a:lvl9pPr>
          </a:lstStyle>
          <a:p xmlns:a="http://schemas.openxmlformats.org/drawingml/2006/main">
            <a:pPr>
              <a:defRPr sz="2400" b="0">
                <a:solidFill>
                  <a:srgbClr val="102E36"/>
                </a:solidFill>
                <a:latin typeface="Arial"/>
                <a:ea typeface="Arial"/>
                <a:cs typeface="Arial"/>
              </a:defRPr>
            </a:pPr>
            <a:r>
              <a:rPr sz="2400" b="0">
                <a:solidFill>
                  <a:srgbClr val="102E36"/>
                </a:solidFill>
                <a:latin typeface="Arial"/>
                <a:ea typeface="Arial"/>
                <a:cs typeface="Arial"/>
              </a:rPr>
              <a:t>models returned valid decisions</a:t>
            </a:r>
          </a:p>
        </p:txBody>
      </p:sp>
      <p:sp>
        <p:nvSpPr>
          <p:cNvPr id="7" name="">
            <a:extLst xmlns:a="http://schemas.openxmlformats.org/drawingml/2006/main">
              <a:ext uri="{FF2B5EF4-FFF2-40B4-BE49-F238E27FC236}">
                <a16:creationId xmlns:a16="http://schemas.microsoft.com/office/drawing/2014/main" id="{45EBFB36-5088-48B2-81B2-19125C39D860}"/>
              </a:ext>
            </a:extLst>
          </p:cNvPr>
          <p:cNvSpPr>
            <a:spLocks xmlns:a="http://schemas.openxmlformats.org/drawingml/2006/main" noGrp="1"/>
          </p:cNvSpPr>
          <p:nvPr/>
        </p:nvSpPr>
        <p:spPr>
          <a:xfrm xmlns:a="http://schemas.openxmlformats.org/drawingml/2006/main">
            <a:off x="7143750" y="19050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8 checks were unavailable</a:t>
            </a:r>
          </a:p>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or unsuitable in this run.</a:t>
            </a:r>
          </a:p>
        </p:txBody>
      </p:sp>
      <p:sp>
        <p:nvSpPr>
          <p:cNvPr id="8" name="">
            <a:extLst xmlns:a="http://schemas.openxmlformats.org/drawingml/2006/main">
              <a:ext uri="{FF2B5EF4-FFF2-40B4-BE49-F238E27FC236}">
                <a16:creationId xmlns:a16="http://schemas.microsoft.com/office/drawing/2014/main" id="{A47A0F10-3B03-4403-855C-D63303D9FB4E}"/>
              </a:ext>
            </a:extLst>
          </p:cNvPr>
          <p:cNvSpPr>
            <a:spLocks xmlns:a="http://schemas.openxmlformats.org/drawingml/2006/main" noGrp="1"/>
          </p:cNvSpPr>
          <p:nvPr/>
        </p:nvSpPr>
        <p:spPr>
          <a:xfrm xmlns:a="http://schemas.openxmlformats.org/drawingml/2006/main">
            <a:off x="7143750" y="358140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Free-router diagnostic:</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API decisions 3/12</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A2 API decisions 0/12</a:t>
            </a:r>
          </a:p>
        </p:txBody>
      </p:sp>
      <p:sp>
        <p:nvSpPr>
          <p:cNvPr id="9" name="">
            <a:extLst xmlns:a="http://schemas.openxmlformats.org/drawingml/2006/main">
              <a:ext uri="{FF2B5EF4-FFF2-40B4-BE49-F238E27FC236}">
                <a16:creationId xmlns:a16="http://schemas.microsoft.com/office/drawing/2014/main" id="{F36975AC-A8D6-4C73-907D-C8689A47181C}"/>
              </a:ext>
            </a:extLst>
          </p:cNvPr>
          <p:cNvSpPr>
            <a:spLocks xmlns:a="http://schemas.openxmlformats.org/drawingml/2006/main" noGrp="1"/>
          </p:cNvSpPr>
          <p:nvPr/>
        </p:nvSpPr>
        <p:spPr>
          <a:xfrm xmlns:a="http://schemas.openxmlformats.org/drawingml/2006/main">
            <a:off x="666750" y="54483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Availability and JSON compatibility are separate from control quality.</a:t>
            </a:r>
          </a:p>
        </p:txBody>
      </p:sp>
    </p:spTree>
    <p:extLst>
      <p:ext uri="{BB962C8B-B14F-4D97-AF65-F5344CB8AC3E}">
        <p14:creationId xmlns:p14="http://schemas.microsoft.com/office/powerpoint/2010/main" val="873866802"/>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AECAB6-468B-4423-8E93-B9ABCC93DDA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Related work</a:t>
            </a:r>
          </a:p>
        </p:txBody>
      </p:sp>
      <p:sp>
        <p:nvSpPr>
          <p:cNvPr id="3" name="">
            <a:extLst xmlns:a="http://schemas.openxmlformats.org/drawingml/2006/main">
              <a:ext uri="{FF2B5EF4-FFF2-40B4-BE49-F238E27FC236}">
                <a16:creationId xmlns:a16="http://schemas.microsoft.com/office/drawing/2014/main" id="{8C397C5B-7A79-4583-9D9D-4BC9C2FB4012}"/>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graphicFrame>
        <p:nvGraphicFramePr>
          <p:cNvPr id="4" name="">
            <a:extLst xmlns:a="http://schemas.openxmlformats.org/drawingml/2006/main">
              <a:ext uri="{FF2B5EF4-FFF2-40B4-BE49-F238E27FC236}">
                <a16:creationId xmlns:a16="http://schemas.microsoft.com/office/drawing/2014/main" id="{7C275E3E-D743-49CF-95C9-5F380915F235}"/>
              </a:ext>
            </a:extLst>
          </p:cNvPr>
          <p:cNvGraphicFramePr/>
          <p:nvPr/>
        </p:nvGraphicFramePr>
        <p:xfrm>
          <a:off xmlns:a="http://schemas.openxmlformats.org/drawingml/2006/main" x="609600" y="1781175"/>
          <a:ext xmlns:a="http://schemas.openxmlformats.org/drawingml/2006/main" cx="10972800" cy="3238500"/>
        </p:xfrm>
        <a:graphic xmlns:a="http://schemas.openxmlformats.org/drawingml/2006/main">
          <a:graphicData uri="http://schemas.openxmlformats.org/drawingml/2006/table">
            <a:tbl>
              <a:tblPr/>
              <a:tblGrid>
                <a:gridCol w="2714625"/>
                <a:gridCol w="3952875"/>
                <a:gridCol w="4305300"/>
              </a:tblGrid>
              <a:tr h="809625">
                <a:tc>
                  <a:txBody>
                    <a:bodyPr/>
                    <a:lstStyle/>
                    <a:p>
                      <a:r>
                        <a:rPr sz="1725" b="1">
                          <a:solidFill>
                            <a:srgbClr val="102E36"/>
                          </a:solidFill>
                          <a:latin typeface="Arial"/>
                          <a:ea typeface="Arial"/>
                          <a:cs typeface="Arial"/>
                        </a:rPr>
                        <a:t>Work</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Relevance</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Comparison boundary</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Reflexion (2023)</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Verbal feedback and episode memory</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Different tasks; no SDN score transfer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RouteNet (2019)</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Topology-aware network KPI modeling</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15.4% worst-case MRE is prediction error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Local A0 and 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Static and feasible greedy baselines</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Measured on the same demand</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778495BA-5AD7-428C-8930-8F4E9513C87F}"/>
              </a:ext>
            </a:extLst>
          </p:cNvPr>
          <p:cNvSpPr>
            <a:spLocks xmlns:a="http://schemas.openxmlformats.org/drawingml/2006/main" noGrp="1"/>
          </p:cNvSpPr>
          <p:nvPr/>
        </p:nvSpPr>
        <p:spPr>
          <a:xfrm xmlns:a="http://schemas.openxmlformats.org/drawingml/2006/main">
            <a:off x="647700" y="537210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Published measurements retain their original task and units.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They are not substituted for local experimental results.</a:t>
            </a:r>
          </a:p>
        </p:txBody>
      </p:sp>
    </p:spTree>
    <p:extLst>
      <p:ext uri="{BB962C8B-B14F-4D97-AF65-F5344CB8AC3E}">
        <p14:creationId xmlns:p14="http://schemas.microsoft.com/office/powerpoint/2010/main" val="1927552453"/>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E6F9E2-3E34-47C8-8267-F778B4379A7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Engineering corrections and validation</a:t>
            </a:r>
          </a:p>
        </p:txBody>
      </p:sp>
      <p:sp>
        <p:nvSpPr>
          <p:cNvPr id="3" name="">
            <a:extLst xmlns:a="http://schemas.openxmlformats.org/drawingml/2006/main">
              <a:ext uri="{FF2B5EF4-FFF2-40B4-BE49-F238E27FC236}">
                <a16:creationId xmlns:a16="http://schemas.microsoft.com/office/drawing/2014/main" id="{D6D1C632-37BB-4D7C-8103-49B6E6CB877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F439BFA5-87AB-4EA2-AD6C-A732087959F8}"/>
              </a:ext>
            </a:extLst>
          </p:cNvPr>
          <p:cNvSpPr>
            <a:spLocks xmlns:a="http://schemas.openxmlformats.org/drawingml/2006/main" noGrp="1"/>
          </p:cNvSpPr>
          <p:nvPr/>
        </p:nvSpPr>
        <p:spPr>
          <a:xfrm xmlns:a="http://schemas.openxmlformats.org/drawingml/2006/main">
            <a:off x="647700" y="17145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Outputs and experiment paths stay inside selfx.</a:t>
            </a:r>
          </a:p>
        </p:txBody>
      </p:sp>
      <p:sp>
        <p:nvSpPr>
          <p:cNvPr id="5" name="">
            <a:extLst xmlns:a="http://schemas.openxmlformats.org/drawingml/2006/main">
              <a:ext uri="{FF2B5EF4-FFF2-40B4-BE49-F238E27FC236}">
                <a16:creationId xmlns:a16="http://schemas.microsoft.com/office/drawing/2014/main" id="{9C9ED4EC-511D-4535-B2AF-94DAA45652BF}"/>
              </a:ext>
            </a:extLst>
          </p:cNvPr>
          <p:cNvSpPr>
            <a:spLocks xmlns:a="http://schemas.openxmlformats.org/drawingml/2006/main" noGrp="1"/>
          </p:cNvSpPr>
          <p:nvPr/>
        </p:nvSpPr>
        <p:spPr>
          <a:xfrm xmlns:a="http://schemas.openxmlformats.org/drawingml/2006/main">
            <a:off x="647700" y="27432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Metered OpenFlow rules preserve observed forwarding.</a:t>
            </a:r>
          </a:p>
        </p:txBody>
      </p:sp>
      <p:sp>
        <p:nvSpPr>
          <p:cNvPr id="6" name="">
            <a:extLst xmlns:a="http://schemas.openxmlformats.org/drawingml/2006/main">
              <a:ext uri="{FF2B5EF4-FFF2-40B4-BE49-F238E27FC236}">
                <a16:creationId xmlns:a16="http://schemas.microsoft.com/office/drawing/2014/main" id="{61BA6CBC-BFD0-4270-A65E-37FB7CD8F2BA}"/>
              </a:ext>
            </a:extLst>
          </p:cNvPr>
          <p:cNvSpPr>
            <a:spLocks xmlns:a="http://schemas.openxmlformats.org/drawingml/2006/main" noGrp="1"/>
          </p:cNvSpPr>
          <p:nvPr/>
        </p:nvSpPr>
        <p:spPr>
          <a:xfrm xmlns:a="http://schemas.openxmlformats.org/drawingml/2006/main">
            <a:off x="647700" y="37719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Rerouting requires a validated alternative egress.</a:t>
            </a:r>
          </a:p>
        </p:txBody>
      </p:sp>
      <p:sp>
        <p:nvSpPr>
          <p:cNvPr id="7" name="">
            <a:extLst xmlns:a="http://schemas.openxmlformats.org/drawingml/2006/main">
              <a:ext uri="{FF2B5EF4-FFF2-40B4-BE49-F238E27FC236}">
                <a16:creationId xmlns:a16="http://schemas.microsoft.com/office/drawing/2014/main" id="{5978972F-93B3-4BAA-B76D-6DB5C9BE8D0D}"/>
              </a:ext>
            </a:extLst>
          </p:cNvPr>
          <p:cNvSpPr>
            <a:spLocks xmlns:a="http://schemas.openxmlformats.org/drawingml/2006/main" noGrp="1"/>
          </p:cNvSpPr>
          <p:nvPr/>
        </p:nvSpPr>
        <p:spPr>
          <a:xfrm xmlns:a="http://schemas.openxmlformats.org/drawingml/2006/main">
            <a:off x="647700" y="48006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Tests cover conservation, reproducibility, provider fallback and dashboard access.</a:t>
            </a:r>
          </a:p>
        </p:txBody>
      </p:sp>
    </p:spTree>
    <p:extLst>
      <p:ext uri="{BB962C8B-B14F-4D97-AF65-F5344CB8AC3E}">
        <p14:creationId xmlns:p14="http://schemas.microsoft.com/office/powerpoint/2010/main" val="1195250947"/>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8D00CF-4E4C-47EC-8334-31DD443AA75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Limitations and next experiments</a:t>
            </a:r>
          </a:p>
        </p:txBody>
      </p:sp>
      <p:sp>
        <p:nvSpPr>
          <p:cNvPr id="3" name="">
            <a:extLst xmlns:a="http://schemas.openxmlformats.org/drawingml/2006/main">
              <a:ext uri="{FF2B5EF4-FFF2-40B4-BE49-F238E27FC236}">
                <a16:creationId xmlns:a16="http://schemas.microsoft.com/office/drawing/2014/main" id="{E531368B-F4DA-4184-9FA4-C0BBABF85C3C}"/>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5A441393-ED00-4559-AA35-9CD3323AEB9B}"/>
              </a:ext>
            </a:extLst>
          </p:cNvPr>
          <p:cNvSpPr>
            <a:spLocks xmlns:a="http://schemas.openxmlformats.org/drawingml/2006/main" noGrp="1"/>
          </p:cNvSpPr>
          <p:nvPr/>
        </p:nvSpPr>
        <p:spPr>
          <a:xfrm xmlns:a="http://schemas.openxmlformats.org/drawingml/2006/main">
            <a:off x="647700" y="17430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fluid model is not packet capture or a physical-network measurement.</a:t>
            </a:r>
          </a:p>
        </p:txBody>
      </p:sp>
      <p:sp>
        <p:nvSpPr>
          <p:cNvPr id="5" name="">
            <a:extLst xmlns:a="http://schemas.openxmlformats.org/drawingml/2006/main">
              <a:ext uri="{FF2B5EF4-FFF2-40B4-BE49-F238E27FC236}">
                <a16:creationId xmlns:a16="http://schemas.microsoft.com/office/drawing/2014/main" id="{82CC4244-14CB-44A9-955B-84F20C7F3F90}"/>
              </a:ext>
            </a:extLst>
          </p:cNvPr>
          <p:cNvSpPr>
            <a:spLocks xmlns:a="http://schemas.openxmlformats.org/drawingml/2006/main" noGrp="1"/>
          </p:cNvSpPr>
          <p:nvPr/>
        </p:nvSpPr>
        <p:spPr>
          <a:xfrm xmlns:a="http://schemas.openxmlformats.org/drawingml/2006/main">
            <a:off x="647700" y="27813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hand-designed embedding has no formal learning or stability guarantee.</a:t>
            </a:r>
          </a:p>
        </p:txBody>
      </p:sp>
      <p:sp>
        <p:nvSpPr>
          <p:cNvPr id="6" name="">
            <a:extLst xmlns:a="http://schemas.openxmlformats.org/drawingml/2006/main">
              <a:ext uri="{FF2B5EF4-FFF2-40B4-BE49-F238E27FC236}">
                <a16:creationId xmlns:a16="http://schemas.microsoft.com/office/drawing/2014/main" id="{3727DDC9-1A8A-4496-9809-E514CE340324}"/>
              </a:ext>
            </a:extLst>
          </p:cNvPr>
          <p:cNvSpPr>
            <a:spLocks xmlns:a="http://schemas.openxmlformats.org/drawingml/2006/main" noGrp="1"/>
          </p:cNvSpPr>
          <p:nvPr/>
        </p:nvSpPr>
        <p:spPr>
          <a:xfrm xmlns:a="http://schemas.openxmlformats.org/drawingml/2006/main">
            <a:off x="647700" y="381952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Paced live API calls do not meet a five-second real-time deadline.</a:t>
            </a:r>
          </a:p>
        </p:txBody>
      </p:sp>
      <p:sp>
        <p:nvSpPr>
          <p:cNvPr id="7" name="">
            <a:extLst xmlns:a="http://schemas.openxmlformats.org/drawingml/2006/main">
              <a:ext uri="{FF2B5EF4-FFF2-40B4-BE49-F238E27FC236}">
                <a16:creationId xmlns:a16="http://schemas.microsoft.com/office/drawing/2014/main" id="{8B104696-6E6C-41B9-9DBA-47415F2D1967}"/>
              </a:ext>
            </a:extLst>
          </p:cNvPr>
          <p:cNvSpPr>
            <a:spLocks xmlns:a="http://schemas.openxmlformats.org/drawingml/2006/main" noGrp="1"/>
          </p:cNvSpPr>
          <p:nvPr/>
        </p:nvSpPr>
        <p:spPr>
          <a:xfrm xmlns:a="http://schemas.openxmlformats.org/drawingml/2006/main">
            <a:off x="647700" y="48577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Next: endpoint-instrumented Linux tests, fixed models, more workloads and topologies.</a:t>
            </a:r>
          </a:p>
        </p:txBody>
      </p:sp>
    </p:spTree>
    <p:extLst>
      <p:ext uri="{BB962C8B-B14F-4D97-AF65-F5344CB8AC3E}">
        <p14:creationId xmlns:p14="http://schemas.microsoft.com/office/powerpoint/2010/main" val="39732591"/>
      </p:ext>
    </p:extLst>
  </p:cSld>
</p:sld>
</file>

<file path=ppt/slides/slide1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56F9244-5B57-4FEB-9D5F-5470F72D0BD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Expanded benchmark coverage</a:t>
            </a:r>
          </a:p>
        </p:txBody>
      </p:sp>
      <p:sp>
        <p:nvSpPr>
          <p:cNvPr id="3" name="">
            <a:extLst xmlns:a="http://schemas.openxmlformats.org/drawingml/2006/main">
              <a:ext uri="{FF2B5EF4-FFF2-40B4-BE49-F238E27FC236}">
                <a16:creationId xmlns:a16="http://schemas.microsoft.com/office/drawing/2014/main" id="{35A66B59-8C7F-4A4F-BB37-2B70BD76ACB0}"/>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7AC6D1C6-6D63-4EFC-AABF-44F42E052093}"/>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Offline decisions; all network values are simulated</a:t>
            </a:r>
          </a:p>
        </p:txBody>
      </p:sp>
      <p:sp>
        <p:nvSpPr>
          <p:cNvPr id="5" name="">
            <a:extLst xmlns:a="http://schemas.openxmlformats.org/drawingml/2006/main">
              <a:ext uri="{FF2B5EF4-FFF2-40B4-BE49-F238E27FC236}">
                <a16:creationId xmlns:a16="http://schemas.microsoft.com/office/drawing/2014/main" id="{570E97D7-F7FC-413E-8167-DF103BF8E92F}"/>
              </a:ext>
            </a:extLst>
          </p:cNvPr>
          <p:cNvSpPr>
            <a:spLocks xmlns:a="http://schemas.openxmlformats.org/drawingml/2006/main" noGrp="1"/>
          </p:cNvSpPr>
          <p:nvPr/>
        </p:nvSpPr>
        <p:spPr>
          <a:xfrm xmlns:a="http://schemas.openxmlformats.org/drawingml/2006/main">
            <a:off x="638175" y="1695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007D76"/>
                </a:solidFill>
                <a:latin typeface="Arial"/>
                <a:ea typeface="Arial"/>
                <a:cs typeface="Arial"/>
              </a:defRPr>
            </a:defPPr>
            <a:lvl1pPr>
              <a:defRPr sz="6000" b="1">
                <a:solidFill>
                  <a:srgbClr val="007D76"/>
                </a:solidFill>
                <a:latin typeface="Arial"/>
                <a:ea typeface="Arial"/>
                <a:cs typeface="Arial"/>
              </a:defRPr>
            </a:lvl1pPr>
            <a:lvl2pPr>
              <a:defRPr sz="6000" b="1">
                <a:solidFill>
                  <a:srgbClr val="007D76"/>
                </a:solidFill>
                <a:latin typeface="Arial"/>
                <a:ea typeface="Arial"/>
                <a:cs typeface="Arial"/>
              </a:defRPr>
            </a:lvl2pPr>
            <a:lvl3pPr>
              <a:defRPr sz="6000" b="1">
                <a:solidFill>
                  <a:srgbClr val="007D76"/>
                </a:solidFill>
                <a:latin typeface="Arial"/>
                <a:ea typeface="Arial"/>
                <a:cs typeface="Arial"/>
              </a:defRPr>
            </a:lvl3pPr>
            <a:lvl4pPr>
              <a:defRPr sz="6000" b="1">
                <a:solidFill>
                  <a:srgbClr val="007D76"/>
                </a:solidFill>
                <a:latin typeface="Arial"/>
                <a:ea typeface="Arial"/>
                <a:cs typeface="Arial"/>
              </a:defRPr>
            </a:lvl4pPr>
            <a:lvl5pPr>
              <a:defRPr sz="6000" b="1">
                <a:solidFill>
                  <a:srgbClr val="007D76"/>
                </a:solidFill>
                <a:latin typeface="Arial"/>
                <a:ea typeface="Arial"/>
                <a:cs typeface="Arial"/>
              </a:defRPr>
            </a:lvl5pPr>
            <a:lvl6pPr>
              <a:defRPr sz="6000" b="1">
                <a:solidFill>
                  <a:srgbClr val="007D76"/>
                </a:solidFill>
                <a:latin typeface="Arial"/>
                <a:ea typeface="Arial"/>
                <a:cs typeface="Arial"/>
              </a:defRPr>
            </a:lvl6pPr>
            <a:lvl7pPr>
              <a:defRPr sz="6000" b="1">
                <a:solidFill>
                  <a:srgbClr val="007D76"/>
                </a:solidFill>
                <a:latin typeface="Arial"/>
                <a:ea typeface="Arial"/>
                <a:cs typeface="Arial"/>
              </a:defRPr>
            </a:lvl7pPr>
            <a:lvl8pPr>
              <a:defRPr sz="6000" b="1">
                <a:solidFill>
                  <a:srgbClr val="007D76"/>
                </a:solidFill>
                <a:latin typeface="Arial"/>
                <a:ea typeface="Arial"/>
                <a:cs typeface="Arial"/>
              </a:defRPr>
            </a:lvl8pPr>
            <a:lvl9pPr>
              <a:defRPr sz="6000" b="1">
                <a:solidFill>
                  <a:srgbClr val="007D76"/>
                </a:solidFill>
                <a:latin typeface="Arial"/>
                <a:ea typeface="Arial"/>
                <a:cs typeface="Arial"/>
              </a:defRPr>
            </a:lvl9pPr>
          </a:lstStyle>
          <a:p xmlns:a="http://schemas.openxmlformats.org/drawingml/2006/main">
            <a:pPr>
              <a:defRPr sz="6000" b="1">
                <a:solidFill>
                  <a:srgbClr val="007D76"/>
                </a:solidFill>
                <a:latin typeface="Arial"/>
                <a:ea typeface="Arial"/>
                <a:cs typeface="Arial"/>
              </a:defRPr>
            </a:pPr>
            <a:r>
              <a:rPr sz="6000" b="1">
                <a:solidFill>
                  <a:srgbClr val="007D76"/>
                </a:solidFill>
                <a:latin typeface="Arial"/>
                <a:ea typeface="Arial"/>
                <a:cs typeface="Arial"/>
              </a:rPr>
              <a:t>57,600</a:t>
            </a:r>
          </a:p>
        </p:txBody>
      </p:sp>
      <p:sp>
        <p:nvSpPr>
          <p:cNvPr id="6" name="">
            <a:extLst xmlns:a="http://schemas.openxmlformats.org/drawingml/2006/main">
              <a:ext uri="{FF2B5EF4-FFF2-40B4-BE49-F238E27FC236}">
                <a16:creationId xmlns:a16="http://schemas.microsoft.com/office/drawing/2014/main" id="{D1C0A246-C6B9-4581-B0EC-66B5690FF3D8}"/>
              </a:ext>
            </a:extLst>
          </p:cNvPr>
          <p:cNvSpPr>
            <a:spLocks xmlns:a="http://schemas.openxmlformats.org/drawingml/2006/main" noGrp="1"/>
          </p:cNvSpPr>
          <p:nvPr/>
        </p:nvSpPr>
        <p:spPr>
          <a:xfrm xmlns:a="http://schemas.openxmlformats.org/drawingml/2006/main">
            <a:off x="685800" y="2838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02E36"/>
                </a:solidFill>
                <a:latin typeface="Arial"/>
                <a:ea typeface="Arial"/>
                <a:cs typeface="Arial"/>
              </a:defRPr>
            </a:defPPr>
            <a:lvl1pPr>
              <a:defRPr sz="2475" b="0">
                <a:solidFill>
                  <a:srgbClr val="102E36"/>
                </a:solidFill>
                <a:latin typeface="Arial"/>
                <a:ea typeface="Arial"/>
                <a:cs typeface="Arial"/>
              </a:defRPr>
            </a:lvl1pPr>
            <a:lvl2pPr>
              <a:defRPr sz="2475" b="0">
                <a:solidFill>
                  <a:srgbClr val="102E36"/>
                </a:solidFill>
                <a:latin typeface="Arial"/>
                <a:ea typeface="Arial"/>
                <a:cs typeface="Arial"/>
              </a:defRPr>
            </a:lvl2pPr>
            <a:lvl3pPr>
              <a:defRPr sz="2475" b="0">
                <a:solidFill>
                  <a:srgbClr val="102E36"/>
                </a:solidFill>
                <a:latin typeface="Arial"/>
                <a:ea typeface="Arial"/>
                <a:cs typeface="Arial"/>
              </a:defRPr>
            </a:lvl3pPr>
            <a:lvl4pPr>
              <a:defRPr sz="2475" b="0">
                <a:solidFill>
                  <a:srgbClr val="102E36"/>
                </a:solidFill>
                <a:latin typeface="Arial"/>
                <a:ea typeface="Arial"/>
                <a:cs typeface="Arial"/>
              </a:defRPr>
            </a:lvl4pPr>
            <a:lvl5pPr>
              <a:defRPr sz="2475" b="0">
                <a:solidFill>
                  <a:srgbClr val="102E36"/>
                </a:solidFill>
                <a:latin typeface="Arial"/>
                <a:ea typeface="Arial"/>
                <a:cs typeface="Arial"/>
              </a:defRPr>
            </a:lvl5pPr>
            <a:lvl6pPr>
              <a:defRPr sz="2475" b="0">
                <a:solidFill>
                  <a:srgbClr val="102E36"/>
                </a:solidFill>
                <a:latin typeface="Arial"/>
                <a:ea typeface="Arial"/>
                <a:cs typeface="Arial"/>
              </a:defRPr>
            </a:lvl6pPr>
            <a:lvl7pPr>
              <a:defRPr sz="2475" b="0">
                <a:solidFill>
                  <a:srgbClr val="102E36"/>
                </a:solidFill>
                <a:latin typeface="Arial"/>
                <a:ea typeface="Arial"/>
                <a:cs typeface="Arial"/>
              </a:defRPr>
            </a:lvl7pPr>
            <a:lvl8pPr>
              <a:defRPr sz="2475" b="0">
                <a:solidFill>
                  <a:srgbClr val="102E36"/>
                </a:solidFill>
                <a:latin typeface="Arial"/>
                <a:ea typeface="Arial"/>
                <a:cs typeface="Arial"/>
              </a:defRPr>
            </a:lvl8pPr>
            <a:lvl9pPr>
              <a:defRPr sz="2475" b="0">
                <a:solidFill>
                  <a:srgbClr val="102E36"/>
                </a:solidFill>
                <a:latin typeface="Arial"/>
                <a:ea typeface="Arial"/>
                <a:cs typeface="Arial"/>
              </a:defRPr>
            </a:lvl9pPr>
          </a:lstStyle>
          <a:p xmlns:a="http://schemas.openxmlformats.org/drawingml/2006/main">
            <a:pPr>
              <a:defRPr sz="2475" b="0">
                <a:solidFill>
                  <a:srgbClr val="102E36"/>
                </a:solidFill>
                <a:latin typeface="Arial"/>
                <a:ea typeface="Arial"/>
                <a:cs typeface="Arial"/>
              </a:defRPr>
            </a:pPr>
            <a:r>
              <a:rPr sz="2475" b="0">
                <a:solidFill>
                  <a:srgbClr val="102E36"/>
                </a:solidFill>
                <a:latin typeface="Arial"/>
                <a:ea typeface="Arial"/>
                <a:cs typeface="Arial"/>
              </a:rPr>
              <a:t>measured control windows</a:t>
            </a:r>
          </a:p>
        </p:txBody>
      </p:sp>
      <p:graphicFrame>
        <p:nvGraphicFramePr>
          <p:cNvPr id="7" name="">
            <a:extLst xmlns:a="http://schemas.openxmlformats.org/drawingml/2006/main">
              <a:ext uri="{FF2B5EF4-FFF2-40B4-BE49-F238E27FC236}">
                <a16:creationId xmlns:a16="http://schemas.microsoft.com/office/drawing/2014/main" id="{7640383C-2B9D-425A-990B-1E0AEBB57072}"/>
              </a:ext>
            </a:extLst>
          </p:cNvPr>
          <p:cNvGraphicFramePr/>
          <p:nvPr/>
        </p:nvGraphicFramePr>
        <p:xfrm>
          <a:off xmlns:a="http://schemas.openxmlformats.org/drawingml/2006/main" x="609600" y="3790950"/>
          <a:ext xmlns:a="http://schemas.openxmlformats.org/drawingml/2006/main" cx="10972800" cy="1714500"/>
        </p:xfrm>
        <a:graphic xmlns:a="http://schemas.openxmlformats.org/drawingml/2006/main">
          <a:graphicData uri="http://schemas.openxmlformats.org/drawingml/2006/table">
            <a:tbl>
              <a:tblPr/>
              <a:tblGrid>
                <a:gridCol w="3619500"/>
                <a:gridCol w="3619500"/>
                <a:gridCol w="3733800"/>
              </a:tblGrid>
              <a:tr h="571500">
                <a:tc>
                  <a:txBody>
                    <a:bodyPr/>
                    <a:lstStyle/>
                    <a:p>
                      <a:r>
                        <a:rPr sz="1725" b="1">
                          <a:solidFill>
                            <a:srgbClr val="102E36"/>
                          </a:solidFill>
                          <a:latin typeface="Arial"/>
                          <a:ea typeface="Arial"/>
                          <a:cs typeface="Arial"/>
                        </a:rPr>
                        <a:t>Traffic scenarios</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Paired seeds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Windows per condition</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571500">
                <a:tc>
                  <a:txBody>
                    <a:bodyPr/>
                    <a:lstStyle/>
                    <a:p>
                      <a:r>
                        <a:rPr sz="1800">
                          <a:solidFill>
                            <a:srgbClr val="102E36"/>
                          </a:solidFill>
                          <a:latin typeface="Arial"/>
                          <a:ea typeface="Arial"/>
                          <a:cs typeface="Arial"/>
                        </a:rPr>
                        <a:t>6</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120 per seed</a:t>
                      </a:r>
                    </a:p>
                  </a:txBody>
                  <a:tcPr marL="114300" marR="114300" marT="114300" marB="114300">
                    <a:lnR w="9525">
                      <a:solidFill>
                        <a:srgbClr val="D9E3DF"/>
                      </a:solidFill>
                      <a:prstDash val="solid"/>
                    </a:lnR>
                    <a:lnB w="9525">
                      <a:solidFill>
                        <a:srgbClr val="D9E3DF"/>
                      </a:solidFill>
                      <a:prstDash val="solid"/>
                    </a:lnB>
                    <a:solidFill>
                      <a:srgbClr val="F6F8F3"/>
                    </a:solidFill>
                  </a:tcPr>
                </a:tc>
              </a:tr>
              <a:tr h="571500">
                <a:tc>
                  <a:txBody>
                    <a:bodyPr/>
                    <a:lstStyle/>
                    <a:p>
                      <a:r>
                        <a:rPr sz="1800">
                          <a:solidFill>
                            <a:srgbClr val="102E36"/>
                          </a:solidFill>
                          <a:latin typeface="Arial"/>
                          <a:ea typeface="Arial"/>
                          <a:cs typeface="Arial"/>
                        </a:rPr>
                        <a:t>8 controllers</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600 simulated seconds</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per scenario and seed</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8" name="">
            <a:extLst xmlns:a="http://schemas.openxmlformats.org/drawingml/2006/main">
              <a:ext uri="{FF2B5EF4-FFF2-40B4-BE49-F238E27FC236}">
                <a16:creationId xmlns:a16="http://schemas.microsoft.com/office/drawing/2014/main" id="{7409D885-F65C-4FDA-B20A-02BED231DA7A}"/>
              </a:ext>
            </a:extLst>
          </p:cNvPr>
          <p:cNvSpPr>
            <a:spLocks xmlns:a="http://schemas.openxmlformats.org/drawingml/2006/main" noGrp="1"/>
          </p:cNvSpPr>
          <p:nvPr/>
        </p:nvSpPr>
        <p:spPr>
          <a:xfrm xmlns:a="http://schemas.openxmlformats.org/drawingml/2006/main">
            <a:off x="647700" y="5734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Includes original A2, guarded H1 and A3, plus a myopic model reference.</a:t>
            </a:r>
          </a:p>
        </p:txBody>
      </p:sp>
    </p:spTree>
    <p:extLst>
      <p:ext uri="{BB962C8B-B14F-4D97-AF65-F5344CB8AC3E}">
        <p14:creationId xmlns:p14="http://schemas.microsoft.com/office/powerpoint/2010/main" val="406067130"/>
      </p:ext>
    </p:extLst>
  </p:cSld>
</p:sld>
</file>

<file path=ppt/slides/slide1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045992-0CF4-4570-9FF6-25B45FD7371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Scenario delay benchmark</a:t>
            </a:r>
          </a:p>
        </p:txBody>
      </p:sp>
      <p:sp>
        <p:nvSpPr>
          <p:cNvPr id="3" name="">
            <a:extLst xmlns:a="http://schemas.openxmlformats.org/drawingml/2006/main">
              <a:ext uri="{FF2B5EF4-FFF2-40B4-BE49-F238E27FC236}">
                <a16:creationId xmlns:a16="http://schemas.microsoft.com/office/drawing/2014/main" id="{A796095B-EFA5-44AC-9E7A-BFAB8ED3D867}"/>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17 / SELF-X</a:t>
            </a:r>
          </a:p>
        </p:txBody>
      </p:sp>
      <p:sp>
        <p:nvSpPr>
          <p:cNvPr id="4" name="">
            <a:extLst xmlns:a="http://schemas.openxmlformats.org/drawingml/2006/main">
              <a:ext uri="{FF2B5EF4-FFF2-40B4-BE49-F238E27FC236}">
                <a16:creationId xmlns:a16="http://schemas.microsoft.com/office/drawing/2014/main" id="{B10FB723-F24D-48E8-A6E4-B0D1159B6D46}"/>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modeled delay in milliseconds; 1,200 windows per cell</a:t>
            </a:r>
          </a:p>
        </p:txBody>
      </p:sp>
      <p:graphicFrame>
        <p:nvGraphicFramePr>
          <p:cNvPr id="5" name="">
            <a:extLst xmlns:a="http://schemas.openxmlformats.org/drawingml/2006/main">
              <a:ext uri="{FF2B5EF4-FFF2-40B4-BE49-F238E27FC236}">
                <a16:creationId xmlns:a16="http://schemas.microsoft.com/office/drawing/2014/main" id="{413E9B18-D54A-4B4B-97F2-84F08D757227}"/>
              </a:ext>
            </a:extLst>
          </p:cNvPr>
          <p:cNvGraphicFramePr/>
          <p:nvPr/>
        </p:nvGraphicFramePr>
        <p:xfrm>
          <a:off xmlns:a="http://schemas.openxmlformats.org/drawingml/2006/main" x="609600" y="1704975"/>
          <a:ext xmlns:a="http://schemas.openxmlformats.org/drawingml/2006/main" cx="10972800" cy="3333750"/>
        </p:xfrm>
        <a:graphic xmlns:a="http://schemas.openxmlformats.org/drawingml/2006/main">
          <a:graphicData uri="http://schemas.openxmlformats.org/drawingml/2006/table">
            <a:tbl>
              <a:tblPr/>
              <a:tblGrid>
                <a:gridCol w="1752600"/>
                <a:gridCol w="1152525"/>
                <a:gridCol w="1152525"/>
                <a:gridCol w="1152525"/>
                <a:gridCol w="1152525"/>
                <a:gridCol w="1152525"/>
                <a:gridCol w="1152525"/>
                <a:gridCol w="1152525"/>
                <a:gridCol w="1152525"/>
              </a:tblGrid>
              <a:tr h="476250">
                <a:tc>
                  <a:txBody>
                    <a:bodyPr/>
                    <a:lstStyle/>
                    <a:p>
                      <a:r>
                        <a:rPr sz="1725" b="1">
                          <a:solidFill>
                            <a:srgbClr val="102E36"/>
                          </a:solidFill>
                          <a:latin typeface="Arial"/>
                          <a:ea typeface="Arial"/>
                          <a:cs typeface="Arial"/>
                        </a:rPr>
                        <a:t>Scenario</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A0</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B1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B2</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A2</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H1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A3</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O1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76250">
                <a:tc>
                  <a:txBody>
                    <a:bodyPr/>
                    <a:lstStyle/>
                    <a:p>
                      <a:r>
                        <a:rPr sz="1800">
                          <a:solidFill>
                            <a:srgbClr val="102E36"/>
                          </a:solidFill>
                          <a:latin typeface="Arial"/>
                          <a:ea typeface="Arial"/>
                          <a:cs typeface="Arial"/>
                        </a:rPr>
                        <a:t>Mixed</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30.45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27.38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28.79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23.73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23.90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24.37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23.77</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Flash</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26.37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10.80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18.76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11.60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10.70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10.04</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Alt busy</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13.51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13.51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13.63</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Shift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25.58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15.21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19.93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8.98</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Overload</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Light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CB26FF13-2ACA-461D-A394-22FA8A2B48C4}"/>
              </a:ext>
            </a:extLst>
          </p:cNvPr>
          <p:cNvSpPr>
            <a:spLocks xmlns:a="http://schemas.openxmlformats.org/drawingml/2006/main" noGrp="1"/>
          </p:cNvSpPr>
          <p:nvPr/>
        </p:nvSpPr>
        <p:spPr>
          <a:xfrm xmlns:a="http://schemas.openxmlformats.org/drawingml/2006/main">
            <a:off x="666750" y="53149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H1: guarded controller without memory</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A3: the same base controller with balanced, feasible memory</a:t>
            </a:r>
          </a:p>
        </p:txBody>
      </p:sp>
    </p:spTree>
    <p:extLst>
      <p:ext uri="{BB962C8B-B14F-4D97-AF65-F5344CB8AC3E}">
        <p14:creationId xmlns:p14="http://schemas.microsoft.com/office/powerpoint/2010/main" val="1525479040"/>
      </p:ext>
    </p:extLst>
  </p:cSld>
</p:sld>
</file>

<file path=ppt/slides/slide1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80E955-BA91-4161-A699-60375FBAF65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Memory after the same guard</a:t>
            </a:r>
          </a:p>
        </p:txBody>
      </p:sp>
      <p:sp>
        <p:nvSpPr>
          <p:cNvPr id="3" name="">
            <a:extLst xmlns:a="http://schemas.openxmlformats.org/drawingml/2006/main">
              <a:ext uri="{FF2B5EF4-FFF2-40B4-BE49-F238E27FC236}">
                <a16:creationId xmlns:a16="http://schemas.microsoft.com/office/drawing/2014/main" id="{CECB5BA8-47CE-4946-A693-F36B12C66C5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18 / SELF-X</a:t>
            </a:r>
          </a:p>
        </p:txBody>
      </p:sp>
      <p:sp>
        <p:nvSpPr>
          <p:cNvPr id="4" name="">
            <a:extLst xmlns:a="http://schemas.openxmlformats.org/drawingml/2006/main">
              <a:ext uri="{FF2B5EF4-FFF2-40B4-BE49-F238E27FC236}">
                <a16:creationId xmlns:a16="http://schemas.microsoft.com/office/drawing/2014/main" id="{7A65E57B-9002-4BC1-9EF3-31E8F40DEA49}"/>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modeled delay in ms; bootstrap intervals are in the report</a:t>
            </a:r>
          </a:p>
        </p:txBody>
      </p:sp>
      <p:graphicFrame>
        <p:nvGraphicFramePr>
          <p:cNvPr id="5" name="Chart">
            <a:extLst xmlns:a="http://schemas.openxmlformats.org/drawingml/2006/main">
              <a:ext uri="{FF2B5EF4-FFF2-40B4-BE49-F238E27FC236}">
                <a16:creationId xmlns:a16="http://schemas.microsoft.com/office/drawing/2014/main" id="{6C1B0BB6-1A25-4B89-B204-24E7968A2B8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79a2953d3182469a"/>
          </a:graphicData>
        </a:graphic>
      </p:graphicFrame>
      <p:sp>
        <p:nvSpPr>
          <p:cNvPr id="6" name="">
            <a:extLst xmlns:a="http://schemas.openxmlformats.org/drawingml/2006/main">
              <a:ext uri="{FF2B5EF4-FFF2-40B4-BE49-F238E27FC236}">
                <a16:creationId xmlns:a16="http://schemas.microsoft.com/office/drawing/2014/main" id="{00B4BAF7-B561-45BE-AE78-4AE90B2451EC}"/>
              </a:ext>
            </a:extLst>
          </p:cNvPr>
          <p:cNvSpPr>
            <a:spLocks xmlns:a="http://schemas.openxmlformats.org/drawingml/2006/main" noGrp="1"/>
          </p:cNvSpPr>
          <p:nvPr/>
        </p:nvSpPr>
        <p:spPr>
          <a:xfrm xmlns:a="http://schemas.openxmlformats.org/drawingml/2006/main">
            <a:off x="666750" y="55721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Mixed load: A3 minus H1 = +0.473 ms.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 added memory did not improve this comparison.</a:t>
            </a:r>
          </a:p>
        </p:txBody>
      </p:sp>
    </p:spTree>
    <p:extLst>
      <p:ext uri="{BB962C8B-B14F-4D97-AF65-F5344CB8AC3E}">
        <p14:creationId xmlns:p14="http://schemas.microsoft.com/office/powerpoint/2010/main" val="623592143"/>
      </p:ext>
    </p:extLst>
  </p:cSld>
</p:sld>
</file>

<file path=ppt/slides/slide1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ABEE45-55B2-40BB-A8FE-893F205CE9F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Aggregate performance and feasibility</a:t>
            </a:r>
          </a:p>
        </p:txBody>
      </p:sp>
      <p:sp>
        <p:nvSpPr>
          <p:cNvPr id="3" name="">
            <a:extLst xmlns:a="http://schemas.openxmlformats.org/drawingml/2006/main">
              <a:ext uri="{FF2B5EF4-FFF2-40B4-BE49-F238E27FC236}">
                <a16:creationId xmlns:a16="http://schemas.microsoft.com/office/drawing/2014/main" id="{ADC10F96-5B0A-4014-9736-1ECC96C6129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19 / SELF-X</a:t>
            </a:r>
          </a:p>
        </p:txBody>
      </p:sp>
      <p:sp>
        <p:nvSpPr>
          <p:cNvPr id="4" name="">
            <a:extLst xmlns:a="http://schemas.openxmlformats.org/drawingml/2006/main">
              <a:ext uri="{FF2B5EF4-FFF2-40B4-BE49-F238E27FC236}">
                <a16:creationId xmlns:a16="http://schemas.microsoft.com/office/drawing/2014/main" id="{D4E97765-49E6-4E22-A4F1-9DE672978900}"/>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Equal weights across six scenarios and ten seeds</a:t>
            </a:r>
          </a:p>
        </p:txBody>
      </p:sp>
      <p:graphicFrame>
        <p:nvGraphicFramePr>
          <p:cNvPr id="5" name="">
            <a:extLst xmlns:a="http://schemas.openxmlformats.org/drawingml/2006/main">
              <a:ext uri="{FF2B5EF4-FFF2-40B4-BE49-F238E27FC236}">
                <a16:creationId xmlns:a16="http://schemas.microsoft.com/office/drawing/2014/main" id="{C1D96F9B-1D40-4A45-9777-9C77B64586B7}"/>
              </a:ext>
            </a:extLst>
          </p:cNvPr>
          <p:cNvGraphicFramePr/>
          <p:nvPr/>
        </p:nvGraphicFramePr>
        <p:xfrm>
          <a:off xmlns:a="http://schemas.openxmlformats.org/drawingml/2006/main" x="609600" y="1685925"/>
          <a:ext xmlns:a="http://schemas.openxmlformats.org/drawingml/2006/main" cx="10972800" cy="3905250"/>
        </p:xfrm>
        <a:graphic xmlns:a="http://schemas.openxmlformats.org/drawingml/2006/main">
          <a:graphicData uri="http://schemas.openxmlformats.org/drawingml/2006/table">
            <a:tbl>
              <a:tblPr/>
              <a:tblGrid>
                <a:gridCol w="1047750"/>
                <a:gridCol w="2381250"/>
                <a:gridCol w="2667000"/>
                <a:gridCol w="2571750"/>
                <a:gridCol w="2305050"/>
              </a:tblGrid>
              <a:tr h="433917">
                <a:tc>
                  <a:txBody>
                    <a:bodyPr/>
                    <a:lstStyle/>
                    <a:p>
                      <a:r>
                        <a:rPr sz="1725" b="1">
                          <a:solidFill>
                            <a:srgbClr val="102E36"/>
                          </a:solidFill>
                          <a:latin typeface="Arial"/>
                          <a:ea typeface="Arial"/>
                          <a:cs typeface="Arial"/>
                        </a:rPr>
                        <a:t>ID</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Delay ms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Mean loss %</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Vetoes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33917">
                <a:tc>
                  <a:txBody>
                    <a:bodyPr/>
                    <a:lstStyle/>
                    <a:p>
                      <a:r>
                        <a:rPr sz="1800">
                          <a:solidFill>
                            <a:srgbClr val="102E36"/>
                          </a:solidFill>
                          <a:latin typeface="Arial"/>
                          <a:ea typeface="Arial"/>
                          <a:cs typeface="Arial"/>
                        </a:rPr>
                        <a:t>A0</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24.666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12.929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7.808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19.829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13.041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6.941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B2</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22.180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12.986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7.363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1887</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A1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16.565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12.875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7.902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A2</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16.964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12.824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8.314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134</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H1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16.649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12.979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7.291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A3</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16.829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12.960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7.443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33917">
                <a:tc>
                  <a:txBody>
                    <a:bodyPr/>
                    <a:lstStyle/>
                    <a:p>
                      <a:r>
                        <a:rPr sz="1800">
                          <a:solidFill>
                            <a:srgbClr val="102E36"/>
                          </a:solidFill>
                          <a:latin typeface="Arial"/>
                          <a:ea typeface="Arial"/>
                          <a:cs typeface="Arial"/>
                        </a:rPr>
                        <a:t>O1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16.700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12.987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7.246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4F5ED3C6-3C53-4F22-A750-7BF81ACE34BD}"/>
              </a:ext>
            </a:extLst>
          </p:cNvPr>
          <p:cNvSpPr>
            <a:spLocks xmlns:a="http://schemas.openxmlformats.org/drawingml/2006/main" noGrp="1"/>
          </p:cNvSpPr>
          <p:nvPr/>
        </p:nvSpPr>
        <p:spPr>
          <a:xfrm xmlns:a="http://schemas.openxmlformats.org/drawingml/2006/main">
            <a:off x="647700" y="58007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A2: 134 rejected proposals. A3: 0. Performance remains a separate question.</a:t>
            </a:r>
          </a:p>
        </p:txBody>
      </p:sp>
    </p:spTree>
    <p:extLst>
      <p:ext uri="{BB962C8B-B14F-4D97-AF65-F5344CB8AC3E}">
        <p14:creationId xmlns:p14="http://schemas.microsoft.com/office/powerpoint/2010/main" val="2032845068"/>
      </p:ext>
    </p:extLst>
  </p:cSld>
</p:sld>
</file>

<file path=ppt/slides/slide2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8EDF08-F23A-4667-B277-E1B75FE1074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Measured offline computation overhead</a:t>
            </a:r>
          </a:p>
        </p:txBody>
      </p:sp>
      <p:sp>
        <p:nvSpPr>
          <p:cNvPr id="3" name="">
            <a:extLst xmlns:a="http://schemas.openxmlformats.org/drawingml/2006/main">
              <a:ext uri="{FF2B5EF4-FFF2-40B4-BE49-F238E27FC236}">
                <a16:creationId xmlns:a16="http://schemas.microsoft.com/office/drawing/2014/main" id="{9C3F1B4C-452A-422B-B30E-E6F732BE9E46}"/>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20 / SELF-X</a:t>
            </a:r>
          </a:p>
        </p:txBody>
      </p:sp>
      <p:sp>
        <p:nvSpPr>
          <p:cNvPr id="4" name="">
            <a:extLst xmlns:a="http://schemas.openxmlformats.org/drawingml/2006/main">
              <a:ext uri="{FF2B5EF4-FFF2-40B4-BE49-F238E27FC236}">
                <a16:creationId xmlns:a16="http://schemas.microsoft.com/office/drawing/2014/main" id="{08539F68-E981-481C-AC4E-BA57E9180BF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control-loop computation in ms; excludes final memory flush</a:t>
            </a:r>
          </a:p>
        </p:txBody>
      </p:sp>
      <p:graphicFrame>
        <p:nvGraphicFramePr>
          <p:cNvPr id="5" name="Chart">
            <a:extLst xmlns:a="http://schemas.openxmlformats.org/drawingml/2006/main">
              <a:ext uri="{FF2B5EF4-FFF2-40B4-BE49-F238E27FC236}">
                <a16:creationId xmlns:a16="http://schemas.microsoft.com/office/drawing/2014/main" id="{AEAFBA62-994A-4621-80CF-962630ADA4E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b217ea667c2a4fc4"/>
          </a:graphicData>
        </a:graphic>
      </p:graphicFrame>
      <p:sp>
        <p:nvSpPr>
          <p:cNvPr id="6" name="">
            <a:extLst xmlns:a="http://schemas.openxmlformats.org/drawingml/2006/main">
              <a:ext uri="{FF2B5EF4-FFF2-40B4-BE49-F238E27FC236}">
                <a16:creationId xmlns:a16="http://schemas.microsoft.com/office/drawing/2014/main" id="{76AE2DB5-4661-49B2-A5E8-9033658460B3}"/>
              </a:ext>
            </a:extLst>
          </p:cNvPr>
          <p:cNvSpPr>
            <a:spLocks xmlns:a="http://schemas.openxmlformats.org/drawingml/2006/main" noGrp="1"/>
          </p:cNvSpPr>
          <p:nvPr/>
        </p:nvSpPr>
        <p:spPr>
          <a:xfrm xmlns:a="http://schemas.openxmlformats.org/drawingml/2006/main">
            <a:off x="666750" y="55816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Full suite: 11.33 seconds in .venv.</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Timing depends on this computer and excludes external API waiting.</a:t>
            </a:r>
          </a:p>
        </p:txBody>
      </p:sp>
    </p:spTree>
    <p:extLst>
      <p:ext uri="{BB962C8B-B14F-4D97-AF65-F5344CB8AC3E}">
        <p14:creationId xmlns:p14="http://schemas.microsoft.com/office/powerpoint/2010/main" val="623250162"/>
      </p:ext>
    </p:extLst>
  </p:cSld>
</p:sld>
</file>

<file path=ppt/slides/slide2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97CF3E-1773-43C7-B0E7-CB762A271EF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Live API latency and the control deadline</a:t>
            </a:r>
          </a:p>
        </p:txBody>
      </p:sp>
      <p:sp>
        <p:nvSpPr>
          <p:cNvPr id="3" name="">
            <a:extLst xmlns:a="http://schemas.openxmlformats.org/drawingml/2006/main">
              <a:ext uri="{FF2B5EF4-FFF2-40B4-BE49-F238E27FC236}">
                <a16:creationId xmlns:a16="http://schemas.microsoft.com/office/drawing/2014/main" id="{4642F9D5-8B00-477B-978F-08DBC6DA0706}"/>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21 / SELF-X</a:t>
            </a:r>
          </a:p>
        </p:txBody>
      </p:sp>
      <p:sp>
        <p:nvSpPr>
          <p:cNvPr id="4" name="">
            <a:extLst xmlns:a="http://schemas.openxmlformats.org/drawingml/2006/main">
              <a:ext uri="{FF2B5EF4-FFF2-40B4-BE49-F238E27FC236}">
                <a16:creationId xmlns:a16="http://schemas.microsoft.com/office/drawing/2014/main" id="{12FCD369-A33D-42D7-9C69-5065F15C7ACB}"/>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Fresh Gemini pilot executed in the isolated .venv</a:t>
            </a:r>
          </a:p>
        </p:txBody>
      </p:sp>
      <p:graphicFrame>
        <p:nvGraphicFramePr>
          <p:cNvPr id="5" name="Chart">
            <a:extLst xmlns:a="http://schemas.openxmlformats.org/drawingml/2006/main">
              <a:ext uri="{FF2B5EF4-FFF2-40B4-BE49-F238E27FC236}">
                <a16:creationId xmlns:a16="http://schemas.microsoft.com/office/drawing/2014/main" id="{61C3223C-3044-436B-B498-9C2B7DBA03A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fe0c4794e5e34101"/>
          </a:graphicData>
        </a:graphic>
      </p:graphicFrame>
      <p:sp>
        <p:nvSpPr>
          <p:cNvPr id="6" name="">
            <a:extLst xmlns:a="http://schemas.openxmlformats.org/drawingml/2006/main">
              <a:ext uri="{FF2B5EF4-FFF2-40B4-BE49-F238E27FC236}">
                <a16:creationId xmlns:a16="http://schemas.microsoft.com/office/drawing/2014/main" id="{658269C4-ABEA-4C85-9FDB-94B3900FA281}"/>
              </a:ext>
            </a:extLst>
          </p:cNvPr>
          <p:cNvSpPr>
            <a:spLocks xmlns:a="http://schemas.openxmlformats.org/drawingml/2006/main" noGrp="1"/>
          </p:cNvSpPr>
          <p:nvPr/>
        </p:nvSpPr>
        <p:spPr>
          <a:xfrm xmlns:a="http://schemas.openxmlformats.org/drawingml/2006/main">
            <a:off x="666750" y="55816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48/48 fresh API calls succeeded. Pacing keeps the demo reliable;</a:t>
            </a:r>
          </a:p>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this execution does not establish a five-second real-time controller.</a:t>
            </a:r>
          </a:p>
        </p:txBody>
      </p:sp>
    </p:spTree>
    <p:extLst>
      <p:ext uri="{BB962C8B-B14F-4D97-AF65-F5344CB8AC3E}">
        <p14:creationId xmlns:p14="http://schemas.microsoft.com/office/powerpoint/2010/main" val="1560532225"/>
      </p:ext>
    </p:extLst>
  </p:cSld>
</p:sld>
</file>

<file path=ppt/slides/slide22.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74E784-D987-45B0-A205-334E3F20E1E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Reproduce and inspect the evidence</a:t>
            </a:r>
          </a:p>
        </p:txBody>
      </p:sp>
      <p:sp>
        <p:nvSpPr>
          <p:cNvPr id="3" name="">
            <a:extLst xmlns:a="http://schemas.openxmlformats.org/drawingml/2006/main">
              <a:ext uri="{FF2B5EF4-FFF2-40B4-BE49-F238E27FC236}">
                <a16:creationId xmlns:a16="http://schemas.microsoft.com/office/drawing/2014/main" id="{68CAF96E-7FF6-4525-9EA0-4AABFB198BF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22 / SELF-X</a:t>
            </a:r>
          </a:p>
        </p:txBody>
      </p:sp>
      <p:sp>
        <p:nvSpPr>
          <p:cNvPr id="4" name="">
            <a:extLst xmlns:a="http://schemas.openxmlformats.org/drawingml/2006/main">
              <a:ext uri="{FF2B5EF4-FFF2-40B4-BE49-F238E27FC236}">
                <a16:creationId xmlns:a16="http://schemas.microsoft.com/office/drawing/2014/main" id="{34F98E71-C530-4044-965F-FAE83658A9E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Run from C:\Users\RAVIPRAKASH\SDN\SDN\selfx</a:t>
            </a:r>
          </a:p>
        </p:txBody>
      </p:sp>
      <p:sp>
        <p:nvSpPr>
          <p:cNvPr id="5" name="">
            <a:extLst xmlns:a="http://schemas.openxmlformats.org/drawingml/2006/main">
              <a:ext uri="{FF2B5EF4-FFF2-40B4-BE49-F238E27FC236}">
                <a16:creationId xmlns:a16="http://schemas.microsoft.com/office/drawing/2014/main" id="{BB5E6AF4-A620-4DD8-AF9B-0E79921120FA}"/>
              </a:ext>
            </a:extLst>
          </p:cNvPr>
          <p:cNvSpPr>
            <a:spLocks xmlns:a="http://schemas.openxmlformats.org/drawingml/2006/main" noGrp="1"/>
          </p:cNvSpPr>
          <p:nvPr/>
        </p:nvSpPr>
        <p:spPr>
          <a:xfrm xmlns:a="http://schemas.openxmlformats.org/drawingml/2006/main">
            <a:off x="666750" y="173355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all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benchmark</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a:t>
            </a:r>
          </a:p>
        </p:txBody>
      </p:sp>
      <p:sp>
        <p:nvSpPr>
          <p:cNvPr id="6" name="">
            <a:extLst xmlns:a="http://schemas.openxmlformats.org/drawingml/2006/main">
              <a:ext uri="{FF2B5EF4-FFF2-40B4-BE49-F238E27FC236}">
                <a16:creationId xmlns:a16="http://schemas.microsoft.com/office/drawing/2014/main" id="{36097C1A-6948-43D7-B422-5B7EB5ACF530}"/>
              </a:ext>
            </a:extLst>
          </p:cNvPr>
          <p:cNvSpPr>
            <a:spLocks xmlns:a="http://schemas.openxmlformats.org/drawingml/2006/main" noGrp="1"/>
          </p:cNvSpPr>
          <p:nvPr/>
        </p:nvSpPr>
        <p:spPr>
          <a:xfrm xmlns:a="http://schemas.openxmlformats.org/drawingml/2006/main">
            <a:off x="685800" y="4229100"/>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README → project guide → architecture → experimental protocol</a:t>
            </a:r>
          </a:p>
        </p:txBody>
      </p:sp>
      <p:sp>
        <p:nvSpPr>
          <p:cNvPr id="7" name="">
            <a:extLst xmlns:a="http://schemas.openxmlformats.org/drawingml/2006/main">
              <a:ext uri="{FF2B5EF4-FFF2-40B4-BE49-F238E27FC236}">
                <a16:creationId xmlns:a16="http://schemas.microsoft.com/office/drawing/2014/main" id="{58AFF57E-F644-4A87-8000-BA9427F80D86}"/>
              </a:ext>
            </a:extLst>
          </p:cNvPr>
          <p:cNvSpPr>
            <a:spLocks xmlns:a="http://schemas.openxmlformats.org/drawingml/2006/main" noGrp="1"/>
          </p:cNvSpPr>
          <p:nvPr/>
        </p:nvSpPr>
        <p:spPr>
          <a:xfrm xmlns:a="http://schemas.openxmlformats.org/drawingml/2006/main">
            <a:off x="685800" y="5153025"/>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D6CD"/>
                </a:solidFill>
                <a:latin typeface="Arial"/>
                <a:ea typeface="Arial"/>
                <a:cs typeface="Arial"/>
              </a:defRPr>
            </a:defPPr>
            <a:lvl1pPr>
              <a:defRPr sz="1875" b="0">
                <a:solidFill>
                  <a:srgbClr val="B7D6CD"/>
                </a:solidFill>
                <a:latin typeface="Arial"/>
                <a:ea typeface="Arial"/>
                <a:cs typeface="Arial"/>
              </a:defRPr>
            </a:lvl1pPr>
            <a:lvl2pPr>
              <a:defRPr sz="1875" b="0">
                <a:solidFill>
                  <a:srgbClr val="B7D6CD"/>
                </a:solidFill>
                <a:latin typeface="Arial"/>
                <a:ea typeface="Arial"/>
                <a:cs typeface="Arial"/>
              </a:defRPr>
            </a:lvl2pPr>
            <a:lvl3pPr>
              <a:defRPr sz="1875" b="0">
                <a:solidFill>
                  <a:srgbClr val="B7D6CD"/>
                </a:solidFill>
                <a:latin typeface="Arial"/>
                <a:ea typeface="Arial"/>
                <a:cs typeface="Arial"/>
              </a:defRPr>
            </a:lvl3pPr>
            <a:lvl4pPr>
              <a:defRPr sz="1875" b="0">
                <a:solidFill>
                  <a:srgbClr val="B7D6CD"/>
                </a:solidFill>
                <a:latin typeface="Arial"/>
                <a:ea typeface="Arial"/>
                <a:cs typeface="Arial"/>
              </a:defRPr>
            </a:lvl4pPr>
            <a:lvl5pPr>
              <a:defRPr sz="1875" b="0">
                <a:solidFill>
                  <a:srgbClr val="B7D6CD"/>
                </a:solidFill>
                <a:latin typeface="Arial"/>
                <a:ea typeface="Arial"/>
                <a:cs typeface="Arial"/>
              </a:defRPr>
            </a:lvl5pPr>
            <a:lvl6pPr>
              <a:defRPr sz="1875" b="0">
                <a:solidFill>
                  <a:srgbClr val="B7D6CD"/>
                </a:solidFill>
                <a:latin typeface="Arial"/>
                <a:ea typeface="Arial"/>
                <a:cs typeface="Arial"/>
              </a:defRPr>
            </a:lvl6pPr>
            <a:lvl7pPr>
              <a:defRPr sz="1875" b="0">
                <a:solidFill>
                  <a:srgbClr val="B7D6CD"/>
                </a:solidFill>
                <a:latin typeface="Arial"/>
                <a:ea typeface="Arial"/>
                <a:cs typeface="Arial"/>
              </a:defRPr>
            </a:lvl7pPr>
            <a:lvl8pPr>
              <a:defRPr sz="1875" b="0">
                <a:solidFill>
                  <a:srgbClr val="B7D6CD"/>
                </a:solidFill>
                <a:latin typeface="Arial"/>
                <a:ea typeface="Arial"/>
                <a:cs typeface="Arial"/>
              </a:defRPr>
            </a:lvl8pPr>
            <a:lvl9pPr>
              <a:defRPr sz="1875" b="0">
                <a:solidFill>
                  <a:srgbClr val="B7D6CD"/>
                </a:solidFill>
                <a:latin typeface="Arial"/>
                <a:ea typeface="Arial"/>
                <a:cs typeface="Arial"/>
              </a:defRPr>
            </a:lvl9pPr>
          </a:lstStyle>
          <a:p xmlns:a="http://schemas.openxmlformats.org/drawingml/2006/main">
            <a:pPr>
              <a:defRPr sz="1875" b="0">
                <a:solidFill>
                  <a:srgbClr val="B7D6CD"/>
                </a:solidFill>
                <a:latin typeface="Arial"/>
                <a:ea typeface="Arial"/>
                <a:cs typeface="Arial"/>
              </a:defRPr>
            </a:pPr>
            <a:r>
              <a:rPr sz="1875" b="0">
                <a:solidFill>
                  <a:srgbClr val="B7D6CD"/>
                </a:solidFill>
                <a:latin typeface="Arial"/>
                <a:ea typeface="Arial"/>
                <a:cs typeface="Arial"/>
              </a:rPr>
              <a:t>CSV + JSONL evidence · Editable DOCX and PPTX · Report and slide PDFs</a:t>
            </a:r>
          </a:p>
        </p:txBody>
      </p:sp>
    </p:spTree>
    <p:extLst>
      <p:ext uri="{BB962C8B-B14F-4D97-AF65-F5344CB8AC3E}">
        <p14:creationId xmlns:p14="http://schemas.microsoft.com/office/powerpoint/2010/main" val="14627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2026-10-20T06:49:50.4240000Z</dcterms:created>
  <dcterms:modified xsi:type="dcterms:W3CDTF">2026-10-20T06:49:50.4240000Z</dcterms:modified>
</coreProperties>
</file>