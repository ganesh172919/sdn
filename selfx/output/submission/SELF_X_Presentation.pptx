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4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5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6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7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8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f401df0e24413c" /><Relationship Type="http://schemas.openxmlformats.org/officeDocument/2006/relationships/extended-properties" Target="/docProps/app.xml" Id="R94124eb482114120" /><Relationship Type="http://schemas.openxmlformats.org/officeDocument/2006/relationships/officeDocument" Target="/ppt/presentation.xml" Id="R36522a944709454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e827b8c9984790"/>
  </p:sldMasterIdLst>
  <p:notesMasterIdLst>
    <p:notesMasterId xmlns:r="http://schemas.openxmlformats.org/officeDocument/2006/relationships" r:id="R62db5deb29674f61"/>
  </p:notesMasterIdLst>
  <p:sldIdLst>
    <p:sldId xmlns:r="http://schemas.openxmlformats.org/officeDocument/2006/relationships" id="256" r:id="Rc6c754ae47ad442e"/>
    <p:sldId xmlns:r="http://schemas.openxmlformats.org/officeDocument/2006/relationships" id="257" r:id="R339ef200f8e84fb6"/>
    <p:sldId xmlns:r="http://schemas.openxmlformats.org/officeDocument/2006/relationships" id="258" r:id="R5fe48b2697264a54"/>
    <p:sldId xmlns:r="http://schemas.openxmlformats.org/officeDocument/2006/relationships" id="259" r:id="R1bf8ea015bb844bd"/>
    <p:sldId xmlns:r="http://schemas.openxmlformats.org/officeDocument/2006/relationships" id="260" r:id="Ra5f1f3e307284533"/>
    <p:sldId xmlns:r="http://schemas.openxmlformats.org/officeDocument/2006/relationships" id="261" r:id="R67602081537748ac"/>
    <p:sldId xmlns:r="http://schemas.openxmlformats.org/officeDocument/2006/relationships" id="262" r:id="Rd72657a6ae8e4927"/>
    <p:sldId xmlns:r="http://schemas.openxmlformats.org/officeDocument/2006/relationships" id="263" r:id="Ra336ba27f937481e"/>
    <p:sldId xmlns:r="http://schemas.openxmlformats.org/officeDocument/2006/relationships" id="264" r:id="R0db8b19f44834fe5"/>
    <p:sldId xmlns:r="http://schemas.openxmlformats.org/officeDocument/2006/relationships" id="265" r:id="R287cf0d5b2c545bb"/>
    <p:sldId xmlns:r="http://schemas.openxmlformats.org/officeDocument/2006/relationships" id="266" r:id="R658a1d1d528f4fc5"/>
    <p:sldId xmlns:r="http://schemas.openxmlformats.org/officeDocument/2006/relationships" id="267" r:id="R1c0df0a5816d45a2"/>
    <p:sldId xmlns:r="http://schemas.openxmlformats.org/officeDocument/2006/relationships" id="268" r:id="R2939d8222e734314"/>
    <p:sldId xmlns:r="http://schemas.openxmlformats.org/officeDocument/2006/relationships" id="269" r:id="R3a02ccd15fa64c43"/>
    <p:sldId xmlns:r="http://schemas.openxmlformats.org/officeDocument/2006/relationships" id="270" r:id="Rd09a854464c842a2"/>
    <p:sldId xmlns:r="http://schemas.openxmlformats.org/officeDocument/2006/relationships" id="271" r:id="R43eb003572104f75"/>
    <p:sldId xmlns:r="http://schemas.openxmlformats.org/officeDocument/2006/relationships" id="272" r:id="R1ad1302851334607"/>
    <p:sldId xmlns:r="http://schemas.openxmlformats.org/officeDocument/2006/relationships" id="273" r:id="R0077d24e86d446c7"/>
    <p:sldId xmlns:r="http://schemas.openxmlformats.org/officeDocument/2006/relationships" id="274" r:id="Rf3e7a63abdf94f39"/>
    <p:sldId xmlns:r="http://schemas.openxmlformats.org/officeDocument/2006/relationships" id="275" r:id="Rabe2bdcc51a546f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b644acdfb7546bf" /><Relationship Type="http://schemas.openxmlformats.org/officeDocument/2006/relationships/slideMaster" Target="/ppt/slideMasters/slideMaster1.xml" Id="R70e827b8c9984790" /><Relationship Type="http://schemas.openxmlformats.org/officeDocument/2006/relationships/notesMaster" Target="/ppt/notesMasters/notesMaster1.xml" Id="R62db5deb29674f61" /><Relationship Type="http://schemas.openxmlformats.org/officeDocument/2006/relationships/presProps" Target="/ppt/presProps.xml" Id="R44ac7f548d594a9e" /><Relationship Type="http://schemas.openxmlformats.org/officeDocument/2006/relationships/tableStyles" Target="/ppt/tableStyles.xml" Id="R54808a276b404a96" /><Relationship Type="http://schemas.openxmlformats.org/officeDocument/2006/relationships/slide" Target="/ppt/slides/slide1.xml" Id="Rc6c754ae47ad442e" /><Relationship Type="http://schemas.openxmlformats.org/officeDocument/2006/relationships/slide" Target="/ppt/slides/slide2.xml" Id="R339ef200f8e84fb6" /><Relationship Type="http://schemas.openxmlformats.org/officeDocument/2006/relationships/slide" Target="/ppt/slides/slide3.xml" Id="R5fe48b2697264a54" /><Relationship Type="http://schemas.openxmlformats.org/officeDocument/2006/relationships/slide" Target="/ppt/slides/slide4.xml" Id="R1bf8ea015bb844bd" /><Relationship Type="http://schemas.openxmlformats.org/officeDocument/2006/relationships/slide" Target="/ppt/slides/slide5.xml" Id="Ra5f1f3e307284533" /><Relationship Type="http://schemas.openxmlformats.org/officeDocument/2006/relationships/slide" Target="/ppt/slides/slide6.xml" Id="R67602081537748ac" /><Relationship Type="http://schemas.openxmlformats.org/officeDocument/2006/relationships/slide" Target="/ppt/slides/slide7.xml" Id="Rd72657a6ae8e4927" /><Relationship Type="http://schemas.openxmlformats.org/officeDocument/2006/relationships/slide" Target="/ppt/slides/slide8.xml" Id="Ra336ba27f937481e" /><Relationship Type="http://schemas.openxmlformats.org/officeDocument/2006/relationships/slide" Target="/ppt/slides/slide9.xml" Id="R0db8b19f44834fe5" /><Relationship Type="http://schemas.openxmlformats.org/officeDocument/2006/relationships/slide" Target="/ppt/slides/slide10.xml" Id="R287cf0d5b2c545bb" /><Relationship Type="http://schemas.openxmlformats.org/officeDocument/2006/relationships/slide" Target="/ppt/slides/slide11.xml" Id="R658a1d1d528f4fc5" /><Relationship Type="http://schemas.openxmlformats.org/officeDocument/2006/relationships/slide" Target="/ppt/slides/slide12.xml" Id="R1c0df0a5816d45a2" /><Relationship Type="http://schemas.openxmlformats.org/officeDocument/2006/relationships/slide" Target="/ppt/slides/slide13.xml" Id="R2939d8222e734314" /><Relationship Type="http://schemas.openxmlformats.org/officeDocument/2006/relationships/slide" Target="/ppt/slides/slide14.xml" Id="R3a02ccd15fa64c43" /><Relationship Type="http://schemas.openxmlformats.org/officeDocument/2006/relationships/slide" Target="/ppt/slides/slide15.xml" Id="Rd09a854464c842a2" /><Relationship Type="http://schemas.openxmlformats.org/officeDocument/2006/relationships/slide" Target="/ppt/slides/slide16.xml" Id="R43eb003572104f75" /><Relationship Type="http://schemas.openxmlformats.org/officeDocument/2006/relationships/slide" Target="/ppt/slides/slide17.xml" Id="R1ad1302851334607" /><Relationship Type="http://schemas.openxmlformats.org/officeDocument/2006/relationships/slide" Target="/ppt/slides/slide18.xml" Id="R0077d24e86d446c7" /><Relationship Type="http://schemas.openxmlformats.org/officeDocument/2006/relationships/slide" Target="/ppt/slides/slide19.xml" Id="Rf3e7a63abdf94f39" /><Relationship Type="http://schemas.openxmlformats.org/officeDocument/2006/relationships/slide" Target="/ppt/slides/slide20.xml" Id="Rabe2bdcc51a546f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0fe865e70f401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543c2c5bdd490c" /><Relationship Type="http://schemas.openxmlformats.org/officeDocument/2006/relationships/notesMaster" Target="/ppt/notesMasters/notesMaster1.xml" Id="Rfc85b83808f34da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619aac0e884534" /><Relationship Type="http://schemas.openxmlformats.org/officeDocument/2006/relationships/notesMaster" Target="/ppt/notesMasters/notesMaster1.xml" Id="Rf84845ed65cf404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fe9361b9736415b" /><Relationship Type="http://schemas.openxmlformats.org/officeDocument/2006/relationships/notesMaster" Target="/ppt/notesMasters/notesMaster1.xml" Id="R96f4916ae83f4e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3d978921bb541e5" /><Relationship Type="http://schemas.openxmlformats.org/officeDocument/2006/relationships/notesMaster" Target="/ppt/notesMasters/notesMaster1.xml" Id="R100512f6f17a42f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937553877a44568" /><Relationship Type="http://schemas.openxmlformats.org/officeDocument/2006/relationships/notesMaster" Target="/ppt/notesMasters/notesMaster1.xml" Id="R11a93d106c4748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492cf95946449c" /><Relationship Type="http://schemas.openxmlformats.org/officeDocument/2006/relationships/notesMaster" Target="/ppt/notesMasters/notesMaster1.xml" Id="Re2e8f2dc336947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adcba7581ac4bd6" /><Relationship Type="http://schemas.openxmlformats.org/officeDocument/2006/relationships/notesMaster" Target="/ppt/notesMasters/notesMaster1.xml" Id="R4d4e627e0ff8492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c6b4cae94244c8d" /><Relationship Type="http://schemas.openxmlformats.org/officeDocument/2006/relationships/notesMaster" Target="/ppt/notesMasters/notesMaster1.xml" Id="Rd6baa727ecb244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2da5cc752bf4171" /><Relationship Type="http://schemas.openxmlformats.org/officeDocument/2006/relationships/notesMaster" Target="/ppt/notesMasters/notesMaster1.xml" Id="R5b06c1ddc4e1453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62087bce7334e35" /><Relationship Type="http://schemas.openxmlformats.org/officeDocument/2006/relationships/notesMaster" Target="/ppt/notesMasters/notesMaster1.xml" Id="R1bbb8caed5d041d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722b5d17d5c458e" /><Relationship Type="http://schemas.openxmlformats.org/officeDocument/2006/relationships/notesMaster" Target="/ppt/notesMasters/notesMaster1.xml" Id="R94c05211aad44b8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856e25e62a34f92" /><Relationship Type="http://schemas.openxmlformats.org/officeDocument/2006/relationships/notesMaster" Target="/ppt/notesMasters/notesMaster1.xml" Id="R3fbcc499e65f4e6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122cf2a62fd4284" /><Relationship Type="http://schemas.openxmlformats.org/officeDocument/2006/relationships/notesMaster" Target="/ppt/notesMasters/notesMaster1.xml" Id="Re6061701ea82442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49296fcd82c649c7" /><Relationship Type="http://schemas.openxmlformats.org/officeDocument/2006/relationships/notesMaster" Target="/ppt/notesMasters/notesMaster1.xml" Id="R16113d49b8ee46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6b504fd120840e9" /><Relationship Type="http://schemas.openxmlformats.org/officeDocument/2006/relationships/notesMaster" Target="/ppt/notesMasters/notesMaster1.xml" Id="R2f8c17ac97f44e3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77525ea1f764878" /><Relationship Type="http://schemas.openxmlformats.org/officeDocument/2006/relationships/notesMaster" Target="/ppt/notesMasters/notesMaster1.xml" Id="R0c4f26ab59f94101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92c4a3db3864945" /><Relationship Type="http://schemas.openxmlformats.org/officeDocument/2006/relationships/notesMaster" Target="/ppt/notesMasters/notesMaster1.xml" Id="Raf9629eeee11426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537df787ea9480f" /><Relationship Type="http://schemas.openxmlformats.org/officeDocument/2006/relationships/notesMaster" Target="/ppt/notesMasters/notesMaster1.xml" Id="Rbfc3341e8e954c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a2e3925bca5486b" /><Relationship Type="http://schemas.openxmlformats.org/officeDocument/2006/relationships/notesMaster" Target="/ppt/notesMasters/notesMaster1.xml" Id="R7bc6527b84fc431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76bd4fdde3452f" /><Relationship Type="http://schemas.openxmlformats.org/officeDocument/2006/relationships/notesMaster" Target="/ppt/notesMasters/notesMaster1.xml" Id="Ra03b39553e5740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Fresh primary evaluation, matched H2 ablation and actual Gemini/free OpenRouter integration. This project does not claim physical-network or production SLA results. All artifacts and evidence are inside selfx.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local dashboard shows generated traffic, actual provider suggestions, validation, simulated rule lifecycle and measured feedback. The Linux Mininet/Ryu path remains separate and is not validated by this fluid-model demonstration.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Capacity-scaled demand, feasibility margins and queues preserve load magnitude. Retrieval requires matching regimes, local calipers and strictly prior cycles. The evidence margin is a decision heuristic, not a calibrated confidence interval. Equivalent clipped caps are one candidate.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current cap is min(elephant, max(0.8×elephant, capacity−primary background−headroom, 0.512)) Mbps, rounded upward to integer kbps. This example is arithmetic, not a new empirical result. Total loss includes meter drops and overflow.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local timeout kills and joins the client worker. Cloud generation already accepted by a provider may continue. Healthy load does not need an API call. The cache is bounded to 64 entries, 12-window TTL, exact demand/queue/topology signature and revalidation. Local fallback cache is never labeled API cache. No API work is moved outside control timing.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seeds 1900–1909 are distinct from development 1880/1881. The final provider seeds are 1980/1981. Earlier accelerated 1920/1921 and scheduled 1940/1941 diagnostic traces remain preserved separately. The final rerun follows a bypass/cache optimization; primary network rules were unchanged. Statistics: paired seed percentile bootstrap, 4,000 draws, RNG 4099, exploratory without multiplicity correction.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output/benchmarks/v4/metrics.csv and summary.json. Mean of window loss, including meter drops. This is a system-policy gain that includes new meter logic; it is not attributed solely to memory. Graph atlas also reports pooled volume loss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Reward weights: latency delta /50 at −0.4, goodput delta /5000 at +0.4, loss delta /20 at −0.2. Each installed action is compared with same-state modeled no-op after selection. V3 is the preserved previous A4 algorithm.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Network delay is a delivery-weighted finite-buffer fluid proxy, not packet RTT. The report and atlas include scenario effects and paired 95% seed intervals. Heavily overloaded cases remain limited by the unchanged 20% flow-drop safety bound.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A4 explores then uses parameter-conditioned prior evidence. Its cold-start cost stays in the primary aggregate. H2 isolates the extra effect of memory; O2 is a privileged immediate-reward reference with the same actions, not a deployable or long-horizon bound.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Primary curves include all eight scenarios and ten seeds. Offline rule-learning replay seed 1880 stores actual parameter evidence and strict past-cycle retrieval, rather than fabricated learning narratives. No neural embedding or LLM weights are fine-tuned.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latency_gemini_pooled and latency_openrouter_pooled metrics. Mean is system-level and affected by call count and local reuse. It is not provider server latency alone. Small two-seed pilot; mode order reversed on second seed, service variability remains.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process deadline includes local startup, admission pacing and cancellation. A normal operating system is not a hard real-time environment. Client termination cannot cancel remote generation already accepted by a provider. Full max and misses are in the report.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Raw provider audits retain status, actual model when known, usage, transport and total elapsed time. Admission deferral starts no request. API success means schema-valid response; the independent safety validator can reject it. Saved rule replay exposes the raw suggestion and final installed decision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Misses derive from perf_counter full-cycle timings &gt;5000 ms. Accelerated and initial scheduled diagnostics are preserved separately and are not pooled into these final 1980/1981 observations.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Actual provider traces retain raw suggestion, rejection reason, bounded fallback, rule cookie/instructions, meter cap, prior-rule expiry, same-state no-op comparison, delivered/lost volume and reward. No physical switch is contacted. Replay makes no new API call.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output/benchmarks/v4/latency_gemini_scheduled/trace.jsonl, seed 1940 cycle 4. This diagnostic example is explicitly identified, not presented as a final-pilot record. The final pilot and replay also retain all real suggestions and local decisions. No invented response is used.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Only the free router or :free model IDs are used for OpenRouter. Catalog checks and generation audits are preserved under output/benchmarks/v4/free_model_checks.json. Credentials remain in ignored .env and are excluded from all documents and archives.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complete final verification is output/verification.json. Runtime status is output/runtime_validation.json. Every report/PDF page and presentation slide is rendered for visual QA. Old v2/v3 raw evidence and canonical artifact history are retained separately.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All graphs are PNG/SVG under output/benchmarks/v4/figures, with a 17-page PDF atlas and source hashes. Editable DOCX and PPTX, native exported PDFs and evidence ZIP are under output/submission. Primary results show loss/reward gains over H1 with a delay tradeoff, not uniform superiority or a causal LLM benefit. Live pilots have only two seeds.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234bdb3b3a463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04700e635644d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089179b6048a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21de17cf443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08b6956409449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7c9265c8a04da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2AC9B2E-D007-4BE1-B48B-7652E074A56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AC4F135-3232-44F3-8126-F86E85E8E7B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9EAF5EA5-1A9F-4178-8D38-7396E30622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1E7846-76FF-45A0-98BE-A58EA3582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C2AA71F-4018-4560-BAD1-E74B3FC65F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E4ECB749-8EFD-4077-830B-C999043459D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6EB444-177C-4D6D-9C3F-12ABB205B0C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AA73CE5-4F06-4F30-88FA-0B8EBC2ED0F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34A3638-7E1A-44FE-97DA-18EE3803A33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2FF3272-C3D6-4775-A7C0-39A7F82BD2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36b179fe9048d0" /><Relationship Type="http://schemas.openxmlformats.org/officeDocument/2006/relationships/slideLayout" Target="/ppt/slideLayouts/slideLayout1.xml" Id="R0634855f98ea42b8" /><Relationship Type="http://schemas.openxmlformats.org/officeDocument/2006/relationships/slideLayout" Target="/ppt/slideLayouts/slideLayout2.xml" Id="Rcd2e85b503914b6c" /><Relationship Type="http://schemas.openxmlformats.org/officeDocument/2006/relationships/slideLayout" Target="/ppt/slideLayouts/slideLayout3.xml" Id="R48bf1db40f914210" /><Relationship Type="http://schemas.openxmlformats.org/officeDocument/2006/relationships/slideLayout" Target="/ppt/slideLayouts/slideLayout4.xml" Id="R319bc657ff3c4985" /><Relationship Type="http://schemas.openxmlformats.org/officeDocument/2006/relationships/slideLayout" Target="/ppt/slideLayouts/slideLayout5.xml" Id="Rc42578a598e245ca" /><Relationship Type="http://schemas.openxmlformats.org/officeDocument/2006/relationships/slideLayout" Target="/ppt/slideLayouts/slideLayout6.xml" Id="Rd7da0c1ac28940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634855f98ea42b8"/>
    <p:sldLayoutId xmlns:r="http://schemas.openxmlformats.org/officeDocument/2006/relationships" id="2147483650" r:id="Rcd2e85b503914b6c"/>
    <p:sldLayoutId xmlns:r="http://schemas.openxmlformats.org/officeDocument/2006/relationships" id="2147483651" r:id="R48bf1db40f914210"/>
    <p:sldLayoutId xmlns:r="http://schemas.openxmlformats.org/officeDocument/2006/relationships" id="2147483652" r:id="R319bc657ff3c4985"/>
    <p:sldLayoutId xmlns:r="http://schemas.openxmlformats.org/officeDocument/2006/relationships" id="2147483653" r:id="Rc42578a598e245ca"/>
    <p:sldLayoutId xmlns:r="http://schemas.openxmlformats.org/officeDocument/2006/relationships" id="2147483654" r:id="Rd7da0c1ac28940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93cdc517dc489c" /><Relationship Type="http://schemas.openxmlformats.org/officeDocument/2006/relationships/notesSlide" Target="/ppt/notesSlides/notesSlide1.xml" Id="Re2c0d879b7f5454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67418935344fbe" /><Relationship Type="http://schemas.openxmlformats.org/officeDocument/2006/relationships/notesSlide" Target="/ppt/notesSlides/notesSlide2.xml" Id="R21520fc5afaf45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1607efc0874fa9" /><Relationship Type="http://schemas.openxmlformats.org/officeDocument/2006/relationships/notesSlide" Target="/ppt/notesSlides/notesSlide3.xml" Id="R70bb1dbaaf3a4b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2cd41b5e4a34f86" /><Relationship Type="http://schemas.openxmlformats.org/officeDocument/2006/relationships/notesSlide" Target="/ppt/notesSlides/notesSlide4.xml" Id="R61473e05c627479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8dd390c7ab4f56" /><Relationship Type="http://schemas.openxmlformats.org/officeDocument/2006/relationships/notesSlide" Target="/ppt/notesSlides/notesSlide5.xml" Id="R577a58d79b4546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1dc5007e91498d" /><Relationship Type="http://schemas.openxmlformats.org/officeDocument/2006/relationships/notesSlide" Target="/ppt/notesSlides/notesSlide6.xml" Id="R734bfb613a73400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ab489ebd96e41ca" /><Relationship Type="http://schemas.openxmlformats.org/officeDocument/2006/relationships/chart" Target="/ppt/slides/charts/chart1.xml" Id="Rfbacae931e08412a" /><Relationship Type="http://schemas.openxmlformats.org/officeDocument/2006/relationships/notesSlide" Target="/ppt/notesSlides/notesSlide7.xml" Id="R61ce7fff67a3494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8fbea09e59348ca" /><Relationship Type="http://schemas.openxmlformats.org/officeDocument/2006/relationships/chart" Target="/ppt/slides/charts/chart2.xml" Id="R27d57016475b4ae3" /><Relationship Type="http://schemas.openxmlformats.org/officeDocument/2006/relationships/notesSlide" Target="/ppt/notesSlides/notesSlide8.xml" Id="R2601c52bd2ed4b8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d73b120de84761" /><Relationship Type="http://schemas.openxmlformats.org/officeDocument/2006/relationships/notesSlide" Target="/ppt/notesSlides/notesSlide9.xml" Id="Rc85be7d70cf242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2b26b4570394781" /><Relationship Type="http://schemas.openxmlformats.org/officeDocument/2006/relationships/chart" Target="/ppt/slides/charts/chart3.xml" Id="R32670bb8e16e4165" /><Relationship Type="http://schemas.openxmlformats.org/officeDocument/2006/relationships/notesSlide" Target="/ppt/notesSlides/notesSlide10.xml" Id="R22a0f0dd9a52448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2f6ec924364057" /><Relationship Type="http://schemas.openxmlformats.org/officeDocument/2006/relationships/chart" Target="/ppt/slides/charts/chart4.xml" Id="Rb071e5fb0ea44984" /><Relationship Type="http://schemas.openxmlformats.org/officeDocument/2006/relationships/notesSlide" Target="/ppt/notesSlides/notesSlide11.xml" Id="R4d947f29b6594d2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41b029191d457d" /><Relationship Type="http://schemas.openxmlformats.org/officeDocument/2006/relationships/chart" Target="/ppt/slides/charts/chart5.xml" Id="Reaa2910275224f40" /><Relationship Type="http://schemas.openxmlformats.org/officeDocument/2006/relationships/notesSlide" Target="/ppt/notesSlides/notesSlide12.xml" Id="Ra40b25fd0ebf42c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5df25e2d694d52" /><Relationship Type="http://schemas.openxmlformats.org/officeDocument/2006/relationships/chart" Target="/ppt/slides/charts/chart6.xml" Id="Rcd6492cca8384072" /><Relationship Type="http://schemas.openxmlformats.org/officeDocument/2006/relationships/notesSlide" Target="/ppt/notesSlides/notesSlide13.xml" Id="R437e4c7cb6de4ac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9fe74036a2405c" /><Relationship Type="http://schemas.openxmlformats.org/officeDocument/2006/relationships/notesSlide" Target="/ppt/notesSlides/notesSlide14.xml" Id="R87b57a7b506c4d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c500bc23f42a7" /><Relationship Type="http://schemas.openxmlformats.org/officeDocument/2006/relationships/chart" Target="/ppt/slides/charts/chart7.xml" Id="R9e780ef0f7e3485e" /><Relationship Type="http://schemas.openxmlformats.org/officeDocument/2006/relationships/notesSlide" Target="/ppt/notesSlides/notesSlide15.xml" Id="R6476ae1ecb1b4d5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64d0c91b82c44fa" /><Relationship Type="http://schemas.openxmlformats.org/officeDocument/2006/relationships/notesSlide" Target="/ppt/notesSlides/notesSlide16.xml" Id="R596d494a5b76445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6e8d1fb576542bc" /><Relationship Type="http://schemas.openxmlformats.org/officeDocument/2006/relationships/notesSlide" Target="/ppt/notesSlides/notesSlide17.xml" Id="Ra163dd506daa45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9ccca13ac95433c" /><Relationship Type="http://schemas.openxmlformats.org/officeDocument/2006/relationships/chart" Target="/ppt/slides/charts/chart8.xml" Id="Raeef79a1a0334cac" /><Relationship Type="http://schemas.openxmlformats.org/officeDocument/2006/relationships/notesSlide" Target="/ppt/notesSlides/notesSlide18.xml" Id="Rfbe66b04f0b54ee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caf39629c5d4249" /><Relationship Type="http://schemas.openxmlformats.org/officeDocument/2006/relationships/notesSlide" Target="/ppt/notesSlides/notesSlide19.xml" Id="Rf56b543a26414b4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47d41c597f4041" /><Relationship Type="http://schemas.openxmlformats.org/officeDocument/2006/relationships/notesSlide" Target="/ppt/notesSlides/notesSlide20.xml" Id="Rb9832f65706e45b6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total loss %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strRef>
              <c:f>'Chart Data'!$A$2:$A$7</c:f>
              <c:strCache>
                <c:ptCount val="6"/>
                <c:pt idx="0">
                  <c:v>A0</c:v>
                </c:pt>
                <c:pt idx="1">
                  <c:v>A2</c:v>
                </c:pt>
                <c:pt idx="2">
                  <c:v>H1</c:v>
                </c:pt>
                <c:pt idx="3">
                  <c:v>H2</c:v>
                </c:pt>
                <c:pt idx="4">
                  <c:v>A4</c:v>
                </c:pt>
                <c:pt idx="5">
                  <c:v>O2</c:v>
                </c:pt>
              </c:strCache>
            </c:strRef>
          </c:cat>
          <c:val>
            <c:numRef>
              <c:f>'Chart Data'!$B$2:$B$7</c:f>
              <c:numCache>
                <c:formatCode>0.000</c:formatCode>
                <c:ptCount val="6"/>
                <c:pt idx="0">
                  <c:v>8.14944</c:v>
                </c:pt>
                <c:pt idx="1">
                  <c:v>8.303947</c:v>
                </c:pt>
                <c:pt idx="2">
                  <c:v>7.391415</c:v>
                </c:pt>
                <c:pt idx="3">
                  <c:v>7.076821</c:v>
                </c:pt>
                <c:pt idx="4">
                  <c:v>7.075128</c:v>
                </c:pt>
                <c:pt idx="5">
                  <c:v>7.050116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reward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H1</c:v>
                </c:pt>
                <c:pt idx="1">
                  <c:v>V3</c:v>
                </c:pt>
                <c:pt idx="2">
                  <c:v>H2</c:v>
                </c:pt>
                <c:pt idx="3">
                  <c:v>A4</c:v>
                </c:pt>
              </c:strCache>
            </c:strRef>
          </c:cat>
          <c:val>
            <c:numRef>
              <c:f>'Chart Data'!$B$2:$B$5</c:f>
              <c:numCache>
                <c:formatCode>0.00000</c:formatCode>
                <c:ptCount val="4"/>
                <c:pt idx="0">
                  <c:v>0.077639</c:v>
                </c:pt>
                <c:pt idx="1">
                  <c:v>0.077639</c:v>
                </c:pt>
                <c:pt idx="2">
                  <c:v>0.083304</c:v>
                </c:pt>
                <c:pt idx="3">
                  <c:v>0.082764</c:v>
                </c:pt>
              </c:numCache>
            </c:numRef>
          </c:val>
        </c:ser>
        <c:dLbls>
          <c:numFmt formatCode="0.0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.00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Mean reward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strRef>
              <c:f>'Chart Data'!$A$2:$A$4</c:f>
              <c:strCache>
                <c:ptCount val="3"/>
                <c:pt idx="0">
                  <c:v>H1</c:v>
                </c:pt>
                <c:pt idx="1">
                  <c:v>H2</c:v>
                </c:pt>
                <c:pt idx="2">
                  <c:v>A4</c:v>
                </c:pt>
              </c:strCache>
            </c:strRef>
          </c:cat>
          <c:val>
            <c:numRef>
              <c:f>'Chart Data'!$B$2:$B$4</c:f>
              <c:numCache>
                <c:formatCode>0.00000</c:formatCode>
                <c:ptCount val="3"/>
                <c:pt idx="0">
                  <c:v>0.077639</c:v>
                </c:pt>
                <c:pt idx="1">
                  <c:v>0.083304</c:v>
                </c:pt>
                <c:pt idx="2">
                  <c:v>0.082764</c:v>
                </c:pt>
              </c:numCache>
            </c:numRef>
          </c:val>
        </c:ser>
        <c:dLbls>
          <c:numFmt formatCode="0.00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.00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H1</c:v>
          </c:tx>
          <c:spPr>
            <a:solidFill xmlns:a="http://schemas.openxmlformats.org/drawingml/2006/main">
              <a:srgbClr val="234F7D"/>
            </a:solidFill>
          </c:spPr>
          <c:invertIfNegative val="0"/>
          <c:cat>
            <c:numRef>
              <c:f>'Chart Data'!$A$2:$A$7</c:f>
              <c:numCache>
                <c:formatCode>General</c:formatCode>
                <c:ptCount val="6"/>
                <c:pt idx="0">
                  <c:v>1</c:v>
                </c:pt>
                <c:pt idx="1">
                  <c:v>6</c:v>
                </c:pt>
                <c:pt idx="2">
                  <c:v>12</c:v>
                </c:pt>
                <c:pt idx="3">
                  <c:v>30</c:v>
                </c:pt>
                <c:pt idx="4">
                  <c:v>60</c:v>
                </c:pt>
                <c:pt idx="5">
                  <c:v>120</c:v>
                </c:pt>
              </c:numCache>
            </c:numRef>
          </c:cat>
          <c:val>
            <c:numRef>
              <c:f>'Chart Data'!$B$2:$B$7</c:f>
              <c:numCache>
                <c:formatCode>0.000</c:formatCode>
                <c:ptCount val="6"/>
                <c:pt idx="0">
                  <c:v>0.024621</c:v>
                </c:pt>
                <c:pt idx="1">
                  <c:v>0.067435</c:v>
                </c:pt>
                <c:pt idx="2">
                  <c:v>0.090139</c:v>
                </c:pt>
                <c:pt idx="3">
                  <c:v>0.084794</c:v>
                </c:pt>
                <c:pt idx="4">
                  <c:v>0.08857</c:v>
                </c:pt>
                <c:pt idx="5">
                  <c:v>0.077639</c:v>
                </c:pt>
              </c:numCache>
            </c:numRef>
          </c:val>
        </c:ser>
        <c:ser>
          <c:idx val="1"/>
          <c:order val="1"/>
          <c:tx>
            <c:v>H2</c:v>
          </c:tx>
          <c:spPr>
            <a:solidFill xmlns:a="http://schemas.openxmlformats.org/drawingml/2006/main">
              <a:srgbClr val="59A4AC"/>
            </a:solidFill>
          </c:spPr>
          <c:invertIfNegative val="0"/>
          <c:cat>
            <c:numRef>
              <c:f>'Chart Data'!$C$2:$C$7</c:f>
              <c:numCache>
                <c:formatCode>General</c:formatCode>
                <c:ptCount val="6"/>
                <c:pt idx="0">
                  <c:v>1</c:v>
                </c:pt>
                <c:pt idx="1">
                  <c:v>6</c:v>
                </c:pt>
                <c:pt idx="2">
                  <c:v>12</c:v>
                </c:pt>
                <c:pt idx="3">
                  <c:v>30</c:v>
                </c:pt>
                <c:pt idx="4">
                  <c:v>60</c:v>
                </c:pt>
                <c:pt idx="5">
                  <c:v>120</c:v>
                </c:pt>
              </c:numCache>
            </c:numRef>
          </c:cat>
          <c:val>
            <c:numRef>
              <c:f>'Chart Data'!$D$2:$D$7</c:f>
              <c:numCache>
                <c:formatCode>0.000</c:formatCode>
                <c:ptCount val="6"/>
                <c:pt idx="0">
                  <c:v>0.028995</c:v>
                </c:pt>
                <c:pt idx="1">
                  <c:v>0.072038</c:v>
                </c:pt>
                <c:pt idx="2">
                  <c:v>0.094417</c:v>
                </c:pt>
                <c:pt idx="3">
                  <c:v>0.088783</c:v>
                </c:pt>
                <c:pt idx="4">
                  <c:v>0.092414</c:v>
                </c:pt>
                <c:pt idx="5">
                  <c:v>0.083304</c:v>
                </c:pt>
              </c:numCache>
            </c:numRef>
          </c:val>
        </c:ser>
        <c:ser>
          <c:idx val="2"/>
          <c:order val="2"/>
          <c:tx>
            <c:v>A4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numRef>
              <c:f>'Chart Data'!$E$2:$E$7</c:f>
              <c:numCache>
                <c:formatCode>General</c:formatCode>
                <c:ptCount val="6"/>
                <c:pt idx="0">
                  <c:v>1</c:v>
                </c:pt>
                <c:pt idx="1">
                  <c:v>6</c:v>
                </c:pt>
                <c:pt idx="2">
                  <c:v>12</c:v>
                </c:pt>
                <c:pt idx="3">
                  <c:v>30</c:v>
                </c:pt>
                <c:pt idx="4">
                  <c:v>60</c:v>
                </c:pt>
                <c:pt idx="5">
                  <c:v>120</c:v>
                </c:pt>
              </c:numCache>
            </c:numRef>
          </c:cat>
          <c:val>
            <c:numRef>
              <c:f>'Chart Data'!$F$2:$F$7</c:f>
              <c:numCache>
                <c:formatCode>0.000</c:formatCode>
                <c:ptCount val="6"/>
                <c:pt idx="0">
                  <c:v>0.028995</c:v>
                </c:pt>
                <c:pt idx="1">
                  <c:v>0.07215</c:v>
                </c:pt>
                <c:pt idx="2">
                  <c:v>0.094596</c:v>
                </c:pt>
                <c:pt idx="3">
                  <c:v>0.088239</c:v>
                </c:pt>
                <c:pt idx="4">
                  <c:v>0.091844</c:v>
                </c:pt>
                <c:pt idx="5">
                  <c:v>0.082764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previous</c:v>
          </c:tx>
          <c:spPr>
            <a:solidFill xmlns:a="http://schemas.openxmlformats.org/drawingml/2006/main">
              <a:srgbClr val="467D9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Gemini</c:v>
                </c:pt>
                <c:pt idx="1">
                  <c:v>OpenRouter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0.486259</c:v>
                </c:pt>
                <c:pt idx="1">
                  <c:v>0.524132</c:v>
                </c:pt>
              </c:numCache>
            </c:numRef>
          </c:val>
        </c:ser>
        <c:ser>
          <c:idx val="1"/>
          <c:order val="1"/>
          <c:tx>
            <c:v>bounded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Gemini</c:v>
                </c:pt>
                <c:pt idx="1">
                  <c:v>OpenRouter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0.487277</c:v>
                </c:pt>
                <c:pt idx="1">
                  <c:v>1.22167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previous</c:v>
          </c:tx>
          <c:spPr>
            <a:solidFill xmlns:a="http://schemas.openxmlformats.org/drawingml/2006/main">
              <a:srgbClr val="467D9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Gemini</c:v>
                </c:pt>
                <c:pt idx="1">
                  <c:v>OpenRouter</c:v>
                </c:pt>
              </c:strCache>
            </c:strRef>
          </c:cat>
          <c:val>
            <c:numRef>
              <c:f>'Chart Data'!$B$2:$B$3</c:f>
              <c:numCache>
                <c:formatCode>0.000</c:formatCode>
                <c:ptCount val="2"/>
                <c:pt idx="0">
                  <c:v>1.087104</c:v>
                </c:pt>
                <c:pt idx="1">
                  <c:v>2.094094</c:v>
                </c:pt>
              </c:numCache>
            </c:numRef>
          </c:val>
        </c:ser>
        <c:ser>
          <c:idx val="1"/>
          <c:order val="1"/>
          <c:tx>
            <c:v>bounded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Gemini</c:v>
                </c:pt>
                <c:pt idx="1">
                  <c:v>OpenRouter</c:v>
                </c:pt>
              </c:strCache>
            </c:strRef>
          </c:cat>
          <c:val>
            <c:numRef>
              <c:f>'Chart Data'!$D$2:$D$3</c:f>
              <c:numCache>
                <c:formatCode>0.000</c:formatCode>
                <c:ptCount val="2"/>
                <c:pt idx="0">
                  <c:v>1.511037</c:v>
                </c:pt>
                <c:pt idx="1">
                  <c:v>3.620241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previous</c:v>
          </c:tx>
          <c:spPr>
            <a:solidFill xmlns:a="http://schemas.openxmlformats.org/drawingml/2006/main">
              <a:srgbClr val="467D91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Gemini</c:v>
                </c:pt>
                <c:pt idx="1">
                  <c:v>OpenRouter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24</c:v>
                </c:pt>
                <c:pt idx="1">
                  <c:v>24</c:v>
                </c:pt>
              </c:numCache>
            </c:numRef>
          </c:val>
        </c:ser>
        <c:ser>
          <c:idx val="1"/>
          <c:order val="1"/>
          <c:tx>
            <c:v>bounded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strRef>
              <c:f>'Chart Data'!$C$2:$C$3</c:f>
              <c:strCache>
                <c:ptCount val="2"/>
                <c:pt idx="0">
                  <c:v>Gemini</c:v>
                </c:pt>
                <c:pt idx="1">
                  <c:v>OpenRouter</c:v>
                </c:pt>
              </c:strCache>
            </c:strRef>
          </c:cat>
          <c:val>
            <c:numRef>
              <c:f>'Chart Data'!$D$2:$D$3</c:f>
              <c:numCache>
                <c:formatCode>0</c:formatCode>
                <c:ptCount val="2"/>
                <c:pt idx="0">
                  <c:v>24</c:v>
                </c:pt>
                <c:pt idx="1">
                  <c:v>24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425">
              <a:latin typeface="Arial"/>
              <a:ea typeface="Arial"/>
              <a:cs typeface="Arial"/>
            </a:defRPr>
          </a:pPr>
        </a:p>
      </c:txPr>
    </c:legend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Model IDs</c:v>
          </c:tx>
          <c:spPr>
            <a:solidFill xmlns:a="http://schemas.openxmlformats.org/drawingml/2006/main">
              <a:srgbClr val="007D76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Valid response</c:v>
                </c:pt>
                <c:pt idx="1">
                  <c:v>Unavailable / error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1</c:v>
                </c:pt>
                <c:pt idx="1">
                  <c:v>16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50"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9E3DF"/>
              </a:solidFill>
              <a:prstDash val="solid"/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6F8F3"/>
        </a:solidFill>
      </c:spPr>
    </c:plotArea>
    <c:plotVisOnly val="1"/>
  </c:chart>
  <c:spPr>
    <a:solidFill xmlns:a="http://schemas.openxmlformats.org/drawingml/2006/main">
      <a:srgbClr val="F6F8F3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8C3497-B280-4678-B12D-E7D4588C4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A7C0BA"/>
                </a:solidFill>
                <a:latin typeface="Arial"/>
                <a:ea typeface="Arial"/>
                <a:cs typeface="Arial"/>
              </a:rPr>
              <a:t>01 / SELF-X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877EB4-2C7A-47C4-94D2-45F1FB7A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A7C0BA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A7C0BA"/>
                </a:solidFill>
                <a:latin typeface="Arial"/>
                <a:ea typeface="Arial"/>
                <a:cs typeface="Arial"/>
              </a:rPr>
              <a:t>Measured revision 4 · 20 October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27FB3-4474-41BC-8BC1-A5A39CED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33450"/>
            <a:ext cx="1081087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7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SELF-X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CADD98-C5A3-4211-B0E8-B1284CB0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68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  <a:lvl1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1pPr>
            <a:lvl2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2pPr>
            <a:lvl3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3pPr>
            <a:lvl4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4pPr>
            <a:lvl5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5pPr>
            <a:lvl6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6pPr>
            <a:lvl7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7pPr>
            <a:lvl8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8pPr>
            <a:lvl9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Loss-aware control</a:t>
            </a:r>
          </a:p>
          <a:p xmlns:a="http://schemas.openxmlformats.org/drawingml/2006/main">
            <a:pPr>
              <a:defRPr sz="36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and bounded provider waiting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91174-B952-47E8-9BA6-BE008508D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38700"/>
            <a:ext cx="10620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B7D6C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B7D6CD"/>
                </a:solidFill>
                <a:latin typeface="Arial"/>
                <a:ea typeface="Arial"/>
                <a:cs typeface="Arial"/>
              </a:rPr>
              <a:t>Simulated traffic · Actual API requests · Complete rule replay</a:t>
            </a:r>
          </a:p>
        </p:txBody>
      </p:sp>
    </p:spTree>
    <p:extLst>
      <p:ext uri="{BB962C8B-B14F-4D97-AF65-F5344CB8AC3E}">
        <p14:creationId xmlns:p14="http://schemas.microsoft.com/office/powerpoint/2010/main" val="7262145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95442D-3668-4945-8D32-186429524DFA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7620000" y="4867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D70713-5161-4460-8809-E2EF4CD814C2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3810000" y="4867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C43A8-97D8-40B9-8431-B202897ECD1E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 flipH="1">
            <a:off x="2238375" y="3562350"/>
            <a:ext cx="7620000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B65CBE-9A9B-4406-B740-1E2747265989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620000" y="31718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461F3A-1E9C-4A7C-8A45-EBE3AE3AC277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810000" y="31718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49D474-4506-4C8C-8791-687C7BC3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Project goal and closed-loop architecture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6071EA-4AB9-4243-95AD-A86C688C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02 / SELF-X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C0D61D-7D16-4298-BA79-6886FC19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Source: saved v4 CSV, JSON and provider audits · All network outcomes are simulated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92D5DC-8F56-478A-A973-F45F5AA24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10810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4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Use earlier traffic outcomes to choose a bounded, reviewable flow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57C4CA-73F6-45E6-A1A9-3DFE5E3E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813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B0B18D-78EF-47C6-A372-D615A393D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7813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F47D9D8-AA48-481F-B9EF-DFEAF2FE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813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Suggest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A42907-354C-4872-8374-0093D18CD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Validate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538AB3-D87F-46B2-8E8E-7CD89C9E9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767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Install / expire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79234E-631E-4481-AF66-E5E04ACF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4767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Measure / learn</a:t>
            </a:r>
          </a:p>
        </p:txBody>
      </p:sp>
    </p:spTree>
    <p:extLst>
      <p:ext uri="{BB962C8B-B14F-4D97-AF65-F5344CB8AC3E}">
        <p14:creationId xmlns:p14="http://schemas.microsoft.com/office/powerpoint/2010/main" val="21360573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69A5D-E811-4C4E-BBBA-652026656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Memory now learns the meter parameter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AA2325-B8B4-41C3-8388-80327ACEB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03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A2261-E7A3-49F8-B360-BFA2CF40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No candidate simulator outcome is queried during A4 selection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49ACB-D06B-435B-9AD9-5054DC99888C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8375"/>
                <a:gridCol w="3667125"/>
                <a:gridCol w="5067300"/>
              </a:tblGrid>
              <a:tr h="650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Previous v3 A4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Current A4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Episode key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Context + action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Context + action + actual cap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Retention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96 episodes / 4 per cell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128 episodes / 6 per cell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Meter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Fixed 80% of flow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Capacity fitting + bounded headroom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Action advantage gate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3 prior observations per parameter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Choice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Conservative action reuse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Explore, then compare prior rewards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DEC61A-214E-473C-AD53-8FC79365D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34050"/>
            <a:ext cx="10810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Headroom candidates: 0, 0.1 and 0.3 Mbps. Cold start remains in all results.</a:t>
            </a:r>
          </a:p>
        </p:txBody>
      </p:sp>
    </p:spTree>
    <p:extLst>
      <p:ext uri="{BB962C8B-B14F-4D97-AF65-F5344CB8AC3E}">
        <p14:creationId xmlns:p14="http://schemas.microsoft.com/office/powerpoint/2010/main" val="89441581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958EF1-B6BB-4280-BA7A-DEEA1C7B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Remove only the traffic the capacity requires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BB88FF-C873-4980-8F88-BF4547E6C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04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A8E748-712E-4D6A-AF20-64191760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Independent safety limits are unchanged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B345FE-D970-4B88-A634-94A98D4E0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1081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Example: 5 Mbps primary background + 5.2 Mbps elephant; alternate busy.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10A309-5408-4091-8E4D-A49C209AE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800350"/>
            <a:ext cx="1081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H1 cap: 4.16 Mbps. Capacity-aware cap: 4.90 Mbps (0.1 Mbps headroom).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6702E8-EBD4-41E5-B16A-B27B4432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90950"/>
            <a:ext cx="1081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Bound: at least 80% of elephant demand and at least 512 kbps.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A90135-DD42-4A65-A16F-FF2D5E75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81550"/>
            <a:ext cx="1081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Reroute only if alternate demand stays at or below 90% of capacity.</a:t>
            </a:r>
          </a:p>
        </p:txBody>
      </p:sp>
    </p:spTree>
    <p:extLst>
      <p:ext uri="{BB962C8B-B14F-4D97-AF65-F5344CB8AC3E}">
        <p14:creationId xmlns:p14="http://schemas.microsoft.com/office/powerpoint/2010/main" val="21386530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A97D3C-6861-4AAA-8E6C-E935AE8B3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Bound the provider wait and retain every outcome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B1763E-7D0B-488E-8911-3477387D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05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7D5C0A-4C39-4D3A-AEC5-EDB30DE5B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3.8 s local wait budget inside a 5 s control interval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45BC2-79EB-493F-88AB-85C0C37E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081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Admit or defer by request pacing; deferral starts no request.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9650DA-4D24-4723-B5A5-B02FDF52F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62250"/>
            <a:ext cx="1081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Use a compact call in a cancellable process. Count startup and cleanup.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536513-A488-440D-A980-8E0D901A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62375"/>
            <a:ext cx="1081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Validate a fresh proposal; otherwise install the explicit local fallback.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2F7DD3-AFD5-4FCD-A17C-207C478FD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62500"/>
            <a:ext cx="10810875" cy="88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Reuse exact validated rules, or supported memory, with distinct origins.</a:t>
            </a:r>
          </a:p>
        </p:txBody>
      </p:sp>
    </p:spTree>
    <p:extLst>
      <p:ext uri="{BB962C8B-B14F-4D97-AF65-F5344CB8AC3E}">
        <p14:creationId xmlns:p14="http://schemas.microsoft.com/office/powerpoint/2010/main" val="16352290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5C0BDD-DF50-4723-A7D0-710788E2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Fresh evaluation with a matched attribution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9544A4-8268-4881-82FF-E48EA03B2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06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6944D-8558-4AC4-8C9C-E1E2A1DD4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Primary rules frozen before seeds 1900–1909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BBA538-5293-472F-A581-85220B2DD343}"/>
              </a:ext>
            </a:extLst>
          </p:cNvPr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33625"/>
                <a:gridCol w="4381500"/>
                <a:gridCol w="4257675"/>
              </a:tblGrid>
              <a:tr h="6572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Evidence set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Design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Purpose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Primary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8 scenarios × 10 seeds × 120 × 9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86,400 offline controller windows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H1 comparison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Old fixed 20% meter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Improvement over previous baseline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H2 comparison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New meter, fixed 0.1 headroom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Isolate extra memory effect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Final live pilot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2 fresh seeds × 12 × 2 modes / provider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Actual API timing and suggestions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65722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Rule-learning replay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120 recurring windows, seed 1880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Show exploration, memory and expiry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578849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239EC-C2A8-4069-8BB4-C28863A59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A4 reduces loss beyond H1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368283-4C0A-4DED-B53A-253E4356D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07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95DE9C-C71C-4F03-9BC6-1CDC8DAF8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Primary: equal weight per scenario and paired seed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6F5BB19-7BB2-45F9-AD14-B60CEF3158E6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bacae931e08412a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1D107B-CAA7-4679-A4FB-9353DF1F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H1 7.391% → A4 7.075%</a:t>
            </a:r>
          </a:p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A4 minus H1: -0.316 percentage points</a:t>
            </a:r>
          </a:p>
        </p:txBody>
      </p:sp>
    </p:spTree>
    <p:extLst>
      <p:ext uri="{BB962C8B-B14F-4D97-AF65-F5344CB8AC3E}">
        <p14:creationId xmlns:p14="http://schemas.microsoft.com/office/powerpoint/2010/main" val="87216700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4B47A-E052-4846-88CF-563F74D1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Reward improves over the old H1 baseline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62C1C1-5AED-435D-8757-99D082CC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08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70174-DCF6-4545-9A8B-F65E7FFA9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Higher no-op-relative reward is better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08230187-6580-4C94-9D95-F060B941AAE7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7d57016475b4ae3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5650F-A25B-4B51-A14F-4FD36B51D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A4 − H1: 0.005126</a:t>
            </a:r>
          </a:p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Matched H2 remains above A4 in mean reward.</a:t>
            </a:r>
          </a:p>
        </p:txBody>
      </p:sp>
    </p:spTree>
    <p:extLst>
      <p:ext uri="{BB962C8B-B14F-4D97-AF65-F5344CB8AC3E}">
        <p14:creationId xmlns:p14="http://schemas.microsoft.com/office/powerpoint/2010/main" val="86599725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5FC44C-1D7B-4A3E-8F27-222EF784C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The loss gain has a delay tradeoff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F3C475-EE40-4113-AEFB-8B46E0D2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09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B1FE8A-60E1-480C-B9EF-D7C3579EA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Report all metrics together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9EBE1F-721F-4390-83B6-1E30404DE034}"/>
              </a:ext>
            </a:extLst>
          </p:cNvPr>
          <p:cNvGraphicFramePr/>
          <p:nvPr/>
        </p:nvGraphicFramePr>
        <p:xfrm>
          <a:off xmlns:a="http://schemas.openxmlformats.org/drawingml/2006/main" x="609600" y="1771650"/>
          <a:ext xmlns:a="http://schemas.openxmlformats.org/drawingml/2006/main" cx="10972800" cy="3124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857375"/>
                <a:gridCol w="2190750"/>
                <a:gridCol w="2667000"/>
                <a:gridCol w="2476500"/>
                <a:gridCol w="1781175"/>
              </a:tblGrid>
              <a:tr h="5207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Controller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Delay ms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Goodput Mbps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Loss %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Reward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H1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17.131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12.956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7.391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0.077639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V3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17.131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12.956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7.391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0.077639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H2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17.363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13.011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7.077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0.083304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A4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17.452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13.011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7.075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0.082764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20700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O2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17.096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13.016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7.050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0.086096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9967A8-FC22-45FC-B47B-D634E207F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1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A4 − H1 modeled delay: +0.322 ms.</a:t>
            </a:r>
          </a:p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Lower loss and higher reward do not imply improvement in every metric.</a:t>
            </a:r>
          </a:p>
        </p:txBody>
      </p:sp>
    </p:spTree>
    <p:extLst>
      <p:ext uri="{BB962C8B-B14F-4D97-AF65-F5344CB8AC3E}">
        <p14:creationId xmlns:p14="http://schemas.microsoft.com/office/powerpoint/2010/main" val="9049554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0E79FA-7B02-421E-BF76-6AE82E18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H2 prevents over-attributing the gain to memory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43A7A-295E-498F-A5EC-24388D412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10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0F2476-A502-4F16-93B0-41514AE1C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Same meter candidates; fixed headroom and no memory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A1500C6-E206-400B-83E6-A94B1789AEC5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2670bb8e16e4165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66FBCD-9E2F-453F-B003-E5757BCC6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A4 − H2 reward: -0.000540.</a:t>
            </a:r>
          </a:p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The primary suite does not establish an extra reward gain from memory.</a:t>
            </a:r>
          </a:p>
        </p:txBody>
      </p:sp>
    </p:spTree>
    <p:extLst>
      <p:ext uri="{BB962C8B-B14F-4D97-AF65-F5344CB8AC3E}">
        <p14:creationId xmlns:p14="http://schemas.microsoft.com/office/powerpoint/2010/main" val="105381873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1DC082-77E6-4E7F-A95C-79B70F34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Learning is visible, including exploration cost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FBDDBC-9ED3-4CE3-9269-1D8551BA7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11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FC3526-8D65-45A8-B479-A513C2AC2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Primary reward over increasing prefix length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A1060446-E958-4B89-9332-0CDFC17881A5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071e5fb0ea44984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D658C8-E0DC-4108-A86F-23DD42181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Separate 120-window replay: 15 exploration, 45 supported memory decisions.</a:t>
            </a:r>
          </a:p>
          <a:p xmlns:a="http://schemas.openxmlformats.org/drawingml/2006/main">
            <a:pPr>
              <a:defRPr sz="19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Mechanism demonstration is separate from held-out performance evidence.</a:t>
            </a:r>
          </a:p>
        </p:txBody>
      </p:sp>
    </p:spTree>
    <p:extLst>
      <p:ext uri="{BB962C8B-B14F-4D97-AF65-F5344CB8AC3E}">
        <p14:creationId xmlns:p14="http://schemas.microsoft.com/office/powerpoint/2010/main" val="213496931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1EC2D-00AA-4F33-BE31-65EEE909C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Actual full-cycle provider timing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FF516-8ACA-4CB2-B425-DECED1CF9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12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46B8A-5384-40AD-AC81-5BEE256EE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Final pilot: observations every five wall-clock seconds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4C7FE5D8-B215-472E-A1FD-8E035DBCA896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aa2910275224f40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E0441B-1819-4140-9AA3-FCE7D38B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Includes pacing, process startup, cancellation, validation and memory update.</a:t>
            </a:r>
          </a:p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Observation idle time is separately recorded.</a:t>
            </a:r>
          </a:p>
        </p:txBody>
      </p:sp>
    </p:spTree>
    <p:extLst>
      <p:ext uri="{BB962C8B-B14F-4D97-AF65-F5344CB8AC3E}">
        <p14:creationId xmlns:p14="http://schemas.microsoft.com/office/powerpoint/2010/main" val="10208281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B19123-C888-4E0E-A8D2-9FC3610EC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P95 full-cycle timing and the control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6B5C8-3DFA-4D74-A6A3-EADB89E9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13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C68992-7AE5-4384-BE7F-BA266828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Local wait deadline does not guarantee a provider response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8D187F46-AD8B-4C32-92FE-956F65A23CF5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d6492cca8384072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B9B27-4834-45B7-9E3E-169566AE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Control target: 5 seconds. Provider wait budget: 3.8 seconds.</a:t>
            </a:r>
          </a:p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A timeout uses an explicit local rule and stays in all metrics.</a:t>
            </a:r>
          </a:p>
        </p:txBody>
      </p:sp>
    </p:spTree>
    <p:extLst>
      <p:ext uri="{BB962C8B-B14F-4D97-AF65-F5344CB8AC3E}">
        <p14:creationId xmlns:p14="http://schemas.microsoft.com/office/powerpoint/2010/main" val="18709745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7E1B3-A87B-4FBB-9942-B8F1B6133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Coverage: fresh responses remain separate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3B9B44-2CB7-4649-88A3-C001D272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14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64C4D-4CD5-4537-897F-B2A605D7E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Answered requests can still fail rule validation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40DC95-2B9D-46AB-8DBC-73EFC48CC77F}"/>
              </a:ext>
            </a:extLst>
          </p:cNvPr>
          <p:cNvGraphicFramePr/>
          <p:nvPr/>
        </p:nvGraphicFramePr>
        <p:xfrm>
          <a:off xmlns:a="http://schemas.openxmlformats.org/drawingml/2006/main" x="609600" y="18097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381500"/>
                <a:gridCol w="2857500"/>
                <a:gridCol w="1866900"/>
                <a:gridCol w="1866900"/>
              </a:tblGrid>
              <a:tr h="571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Provider / mode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Answered / calls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Timeouts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Deferrals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gemini / previous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12/12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gemini / bounded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10/10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openrouter / previous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3/8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openrouter / bounded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5/10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5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0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B81A82-AA53-4CBE-AC71-A3FC67DB4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108108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Cache, local-rule cache, healthy bypass and memory are local origins.</a:t>
            </a:r>
          </a:p>
          <a:p xmlns:a="http://schemas.openxmlformats.org/drawingml/2006/main">
            <a:pPr>
              <a:defRPr sz="217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No missing API answer is replaced with an invented model response.</a:t>
            </a:r>
          </a:p>
        </p:txBody>
      </p:sp>
    </p:spTree>
    <p:extLst>
      <p:ext uri="{BB962C8B-B14F-4D97-AF65-F5344CB8AC3E}">
        <p14:creationId xmlns:p14="http://schemas.microsoft.com/office/powerpoint/2010/main" val="12985431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2DE3FD-C672-45F1-95E7-78DF534C5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All final cycles met the five-second target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AD1C14-8486-4644-B9BD-2292F65D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15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76BDF-849B-4EE6-9BC4-990A520AB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Every window, including fallbacks and timeouts, is retained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312CDB84-95BC-4B10-A7A0-BF460F9E6AE4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e780ef0f7e3485e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F1E9C1-EFFB-427C-A5F8-B3540ABF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24 of 24 cycles met the target in each mode and provider.</a:t>
            </a:r>
          </a:p>
          <a:p xmlns:a="http://schemas.openxmlformats.org/drawingml/2006/main">
            <a: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Bounded OpenRouter used 5 deadline fallbacks; coverage remains separate.</a:t>
            </a:r>
          </a:p>
        </p:txBody>
      </p:sp>
    </p:spTree>
    <p:extLst>
      <p:ext uri="{BB962C8B-B14F-4D97-AF65-F5344CB8AC3E}">
        <p14:creationId xmlns:p14="http://schemas.microsoft.com/office/powerpoint/2010/main" val="5266707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10E4BD-9013-419E-8241-3AC6676E434B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620000" y="41814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44B0D-C5CF-4A02-8ED1-541E79E84C1D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810000" y="41814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B8A398-49E6-436F-952D-3156A1BF5E0F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2238375" y="2876550"/>
            <a:ext cx="7620000" cy="914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BA1AFF-610C-40F2-89DF-7F53FE7F2562}"/>
              </a:ext>
            </a:extLst>
          </p:cNvPr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7620000" y="24860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12083D-4CCB-4E58-8A63-C7482E131858}"/>
              </a:ext>
            </a:extLst>
          </p:cNvPr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3810000" y="248602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16193">
            <a:solidFill>
              <a:srgbClr val="007D76"/>
            </a:solidFill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E2A71-8100-4D68-A8C3-F10F3B536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A complete rule lifecycle you can replay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0F69BB-971B-4B88-B2E8-39243D21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16 / SELF-X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9DB021-2346-47C6-822C-A9A42F091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Dashboard → Rule demo → provider → seed → Play or 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131604-875B-408D-A203-85991597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Observe demand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F4E6D-46BB-4EA2-A287-5AC7384E6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Inspect proposal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759E3F-0D80-46FD-9C41-AE35330E4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09550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Validate exact rule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F501A9-7EAA-45D3-B2DE-0F0192639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Install / expire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280629-4BE5-4066-B548-A75716129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909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Measure outcome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471483-C7A7-4C02-AF2C-35251B83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90950"/>
            <a:ext cx="31432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14288">
            <a:solidFill>
              <a:srgbClr val="007D76"/>
            </a:solidFill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02E36"/>
                </a:solidFill>
                <a:latin typeface="Arial"/>
                <a:ea typeface="Arial"/>
                <a:cs typeface="Arial"/>
              </a:rPr>
              <a:t>Store evidence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25499C-D576-412A-A772-52E1316D3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108108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ADD: exact flow, priority 100, hard_timeout 5 s; OUTPUT 3 or METER + OUTPUT 2.</a:t>
            </a:r>
          </a:p>
          <a:p xmlns:a="http://schemas.openxmlformats.org/drawingml/2006/main">
            <a:pPr>
              <a:defRPr sz="2025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Final expiry restores default port 2. Installation is simulated.</a:t>
            </a:r>
          </a:p>
        </p:txBody>
      </p:sp>
    </p:spTree>
    <p:extLst>
      <p:ext uri="{BB962C8B-B14F-4D97-AF65-F5344CB8AC3E}">
        <p14:creationId xmlns:p14="http://schemas.microsoft.com/office/powerpoint/2010/main" val="15814331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538FF6-98F7-4F29-BCE6-4ACDF1280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Suggestions and installed rules can differ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BD3903-A6F4-4D15-8FA2-6F90F2BC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17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D485E3-717B-4B38-8C68-BC55C3175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First scheduled diagnostic: unsafe reroute rejected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866F91-8DCF-4B02-850E-52712CEF0D0C}"/>
              </a:ext>
            </a:extLst>
          </p:cNvPr>
          <p:cNvGraphicFramePr/>
          <p:nvPr/>
        </p:nvGraphicFramePr>
        <p:xfrm>
          <a:off xmlns:a="http://schemas.openxmlformats.org/drawingml/2006/main" x="609600" y="1752600"/>
          <a:ext xmlns:a="http://schemas.openxmlformats.org/drawingml/2006/main" cx="109728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210550"/>
              </a:tblGrid>
              <a:tr h="5556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Recorded evidence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Observe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Primary congested; alternate reroute would reach about 140.9%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Gemini suggestion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reroute: primary congested and alternate is safe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Independent validator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Reject: alternate exceeds the 90% capacity ceiling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Installed local action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Capacity-aware bounded meter, output port 2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Audit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Raw suggestion, guard reason, installed rule and outcome retained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5BC78A3-7143-4715-BAC8-F750BD318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A model explanation cannot override the deterministic safety gate.</a:t>
            </a:r>
          </a:p>
        </p:txBody>
      </p:sp>
    </p:spTree>
    <p:extLst>
      <p:ext uri="{BB962C8B-B14F-4D97-AF65-F5344CB8AC3E}">
        <p14:creationId xmlns:p14="http://schemas.microsoft.com/office/powerpoint/2010/main" val="1494035503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43A41-1844-49F9-95B0-3BDC46BD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Free-model availability is a separate 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C8A683-3E0B-4D61-89BF-14652B73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18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C6722D-C780-4BCA-9650-2E68D3BE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Every discovered zero-price model ID receives one healthy JSON check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DB25AE8D-F870-4E57-826C-0C5A6021E119}"/>
              </a:ext>
            </a:extLst>
          </p:cNvPr>
          <p:cNvGraphicFramePr/>
          <p:nvPr/>
        </p:nvGraphicFramePr>
        <p:xfrm>
          <a:off xmlns:a="http://schemas.openxmlformats.org/drawingml/2006/main" x="952500" y="1809750"/>
          <a:ext xmlns:a="http://schemas.openxmlformats.org/drawingml/2006/main" cx="10382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eef79a1a0334cac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BDAB9A-D4CC-4334-A41E-31617D22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505450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defPPr>
            <a:lvl1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1pPr>
            <a:lvl2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2pPr>
            <a:lvl3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3pPr>
            <a:lvl4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4pPr>
            <a:lvl5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5pPr>
            <a:lvl6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6pPr>
            <a:lvl7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7pPr>
            <a:lvl8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8pPr>
            <a:lvl9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1/17 valid compact action responses in this timestamped sweep.</a:t>
            </a:r>
          </a:p>
          <a:p xmlns:a="http://schemas.openxmlformats.org/drawingml/2006/main">
            <a:pPr>
              <a:defRPr sz="2100" b="0">
                <a:solidFill>
                  <a:srgbClr val="007D7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007D76"/>
                </a:solidFill>
                <a:latin typeface="Arial"/>
                <a:ea typeface="Arial"/>
                <a:cs typeface="Arial"/>
              </a:rPr>
              <a:t>14 rate/quota failures (429), 2 access denials (403); availability is not quality.</a:t>
            </a:r>
          </a:p>
        </p:txBody>
      </p:sp>
    </p:spTree>
    <p:extLst>
      <p:ext uri="{BB962C8B-B14F-4D97-AF65-F5344CB8AC3E}">
        <p14:creationId xmlns:p14="http://schemas.microsoft.com/office/powerpoint/2010/main" val="16728214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0CEABF-6DB9-4A49-B4AB-7E1AD59CA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Runtime and submission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EE6BC7-0F67-404E-9B33-347ACC1B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19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E5B7D1-1453-41D9-B7D8-486EA5C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Complete portable project runs inside selfx/.venv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927F6D-7FA0-42C6-8D18-B50D3C4E1041}"/>
              </a:ext>
            </a:extLst>
          </p:cNvPr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952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8258175"/>
              </a:tblGrid>
              <a:tr h="5646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Check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T w="9525">
                      <a:solidFill>
                        <a:srgbClr val="D9E3DF"/>
                      </a:solidFill>
                      <a:prstDash val="solid"/>
                    </a:lnT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E8F0E9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Tests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55 passed, 4 subtests passed in 6.20s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Data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Hash-matched traces, summary means, conservation, past-only retrieval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Deadline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Hung worker terminated; no surviving child; honest deferred/cache origins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Browser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Provider replay, learning demo, offline run, desktop/mobile navigation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Artifacts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Editable charts/tables, embedded workbooks, native PDF export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  <a:tr h="564696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Scope / keys</a:t>
                      </a:r>
                    </a:p>
                  </a:txBody>
                  <a:tcPr marL="95250" marR="95250" marT="57150" marB="57150">
                    <a:lnL w="9525">
                      <a:solidFill>
                        <a:srgbClr val="D9E3DF"/>
                      </a:solidFill>
                      <a:prstDash val="solid"/>
                    </a:lnL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102E36"/>
                          </a:solidFill>
                          <a:latin typeface="Arial"/>
                          <a:ea typeface="Arial"/>
                          <a:cs typeface="Arial"/>
                        </a:rPr>
                        <a:t>Selfx outputs only; .env excluded from source ZIP</a:t>
                      </a:r>
                    </a:p>
                  </a:txBody>
                  <a:tcPr marL="95250" marR="95250" marT="57150" marB="57150">
                    <a:lnR w="9525">
                      <a:solidFill>
                        <a:srgbClr val="D9E3DF"/>
                      </a:solidFill>
                      <a:prstDash val="solid"/>
                    </a:lnR>
                    <a:lnB w="9525">
                      <a:solidFill>
                        <a:srgbClr val="D9E3DF"/>
                      </a:solidFill>
                      <a:prstDash val="solid"/>
                    </a:lnB>
                    <a:solidFill>
                      <a:srgbClr val="F6F8F3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045022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289ABD-D847-45E1-BDE2-01059358D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"/>
            <a:ext cx="1095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3150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3150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Reproduce the demo and assess the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E24715-FD2F-4669-A377-CF6D5611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3333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125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20 / SELF-X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DEE90F-7575-4453-AC35-D98CEAB73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53175"/>
            <a:ext cx="757237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defPPr>
            <a:lvl1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1pPr>
            <a:lvl2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2pPr>
            <a:lvl3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3pPr>
            <a:lvl4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4pPr>
            <a:lvl5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5pPr>
            <a:lvl6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6pPr>
            <a:lvl7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7pPr>
            <a:lvl8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8pPr>
            <a:lvl9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1050" b="0">
                <a:solidFill>
                  <a:srgbClr val="60777B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0777B"/>
                </a:solidFill>
                <a:latin typeface="Arial"/>
                <a:ea typeface="Arial"/>
                <a:cs typeface="Arial"/>
              </a:rPr>
              <a:t>Local dashboard: http://127.0.0.1:8766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ECF3CD-2B04-4797-B470-9ACB2E73A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62125"/>
            <a:ext cx="10810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Run: .\run.ps1 all; .\run.ps1 dashboard -Port 8766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A6AFA8-40A6-4770-8A3A-016AF45F7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43200"/>
            <a:ext cx="10810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Replay: Rule demo → Gemini / OpenRouter / 120-window memory learning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4B54C-2771-458C-ADD3-BF6D33628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24275"/>
            <a:ext cx="10810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Review: docs/BENCHMARKS_V4.md, docs/RULE_DEMO.md, ARCHITECTURE.Rmd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4E9208-E7D7-48F7-BDEB-C22980C48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705350"/>
            <a:ext cx="10810875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defPPr>
            <a:lvl1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1pPr>
            <a:lvl2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2pPr>
            <a:lvl3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3pPr>
            <a:lvl4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4pPr>
            <a:lvl5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5pPr>
            <a:lvl6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6pPr>
            <a:lvl7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7pPr>
            <a:lvl8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8pPr>
            <a:lvl9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02E3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02E36"/>
                </a:solidFill>
                <a:latin typeface="Arial"/>
                <a:ea typeface="Arial"/>
                <a:cs typeface="Arial"/>
              </a:rPr>
              <a:t>Limits: fluid simulation; memory does not beat matched H2 reward; no SLA.</a:t>
            </a:r>
          </a:p>
        </p:txBody>
      </p:sp>
    </p:spTree>
    <p:extLst>
      <p:ext uri="{BB962C8B-B14F-4D97-AF65-F5344CB8AC3E}">
        <p14:creationId xmlns:p14="http://schemas.microsoft.com/office/powerpoint/2010/main" val="212589862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2026-10-20T08:56:13.0130000Z</dcterms:created>
  <dcterms:modified xsi:type="dcterms:W3CDTF">2026-10-20T08:56:13.0130000Z</dcterms:modified>
</coreProperties>
</file>