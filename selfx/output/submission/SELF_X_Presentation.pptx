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6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7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8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72647536544b7" /><Relationship Type="http://schemas.openxmlformats.org/officeDocument/2006/relationships/extended-properties" Target="/docProps/app.xml" Id="R6d8d1aab4f924257" /><Relationship Type="http://schemas.openxmlformats.org/officeDocument/2006/relationships/officeDocument" Target="/ppt/presentation.xml" Id="R02ce388b48fa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4de382da304edf"/>
  </p:sldMasterIdLst>
  <p:notesMasterIdLst>
    <p:notesMasterId xmlns:r="http://schemas.openxmlformats.org/officeDocument/2006/relationships" r:id="R11eb01b7cb0943e5"/>
  </p:notesMasterIdLst>
  <p:sldIdLst>
    <p:sldId xmlns:r="http://schemas.openxmlformats.org/officeDocument/2006/relationships" id="256" r:id="R69b954914392481d"/>
    <p:sldId xmlns:r="http://schemas.openxmlformats.org/officeDocument/2006/relationships" id="257" r:id="Rb1f31d6a5b214a29"/>
    <p:sldId xmlns:r="http://schemas.openxmlformats.org/officeDocument/2006/relationships" id="258" r:id="Rd6c4088874ab4f87"/>
    <p:sldId xmlns:r="http://schemas.openxmlformats.org/officeDocument/2006/relationships" id="259" r:id="R3dfd448d19994bfa"/>
    <p:sldId xmlns:r="http://schemas.openxmlformats.org/officeDocument/2006/relationships" id="260" r:id="R3e52e47532f3458e"/>
    <p:sldId xmlns:r="http://schemas.openxmlformats.org/officeDocument/2006/relationships" id="261" r:id="R57aca64da41148eb"/>
    <p:sldId xmlns:r="http://schemas.openxmlformats.org/officeDocument/2006/relationships" id="262" r:id="R5e4d3b75933e471e"/>
    <p:sldId xmlns:r="http://schemas.openxmlformats.org/officeDocument/2006/relationships" id="263" r:id="R8c29d7df213d4690"/>
    <p:sldId xmlns:r="http://schemas.openxmlformats.org/officeDocument/2006/relationships" id="264" r:id="R3a11b33bd22d4b5a"/>
    <p:sldId xmlns:r="http://schemas.openxmlformats.org/officeDocument/2006/relationships" id="265" r:id="Rf4d85fa0b7974d86"/>
    <p:sldId xmlns:r="http://schemas.openxmlformats.org/officeDocument/2006/relationships" id="266" r:id="R67d76b341c7b4e76"/>
    <p:sldId xmlns:r="http://schemas.openxmlformats.org/officeDocument/2006/relationships" id="267" r:id="R2da9625580bf46b0"/>
    <p:sldId xmlns:r="http://schemas.openxmlformats.org/officeDocument/2006/relationships" id="268" r:id="R3e7541dbb2dd40cd"/>
    <p:sldId xmlns:r="http://schemas.openxmlformats.org/officeDocument/2006/relationships" id="269" r:id="R9cc7921131474353"/>
    <p:sldId xmlns:r="http://schemas.openxmlformats.org/officeDocument/2006/relationships" id="270" r:id="Rcd9dbbc859e2499b"/>
    <p:sldId xmlns:r="http://schemas.openxmlformats.org/officeDocument/2006/relationships" id="271" r:id="R4ac29f10104d4beb"/>
    <p:sldId xmlns:r="http://schemas.openxmlformats.org/officeDocument/2006/relationships" id="272" r:id="Rd49f1a9000884a83"/>
    <p:sldId xmlns:r="http://schemas.openxmlformats.org/officeDocument/2006/relationships" id="273" r:id="R1cbeb89667614060"/>
    <p:sldId xmlns:r="http://schemas.openxmlformats.org/officeDocument/2006/relationships" id="274" r:id="R63c6aff1159b4c37"/>
    <p:sldId xmlns:r="http://schemas.openxmlformats.org/officeDocument/2006/relationships" id="275" r:id="R97e99fe0d18d42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2a33d982be4d99" /><Relationship Type="http://schemas.openxmlformats.org/officeDocument/2006/relationships/slideMaster" Target="/ppt/slideMasters/slideMaster1.xml" Id="R994de382da304edf" /><Relationship Type="http://schemas.openxmlformats.org/officeDocument/2006/relationships/notesMaster" Target="/ppt/notesMasters/notesMaster1.xml" Id="R11eb01b7cb0943e5" /><Relationship Type="http://schemas.openxmlformats.org/officeDocument/2006/relationships/presProps" Target="/ppt/presProps.xml" Id="Re3c325c861974c8c" /><Relationship Type="http://schemas.openxmlformats.org/officeDocument/2006/relationships/tableStyles" Target="/ppt/tableStyles.xml" Id="R79b77379a8d94adf" /><Relationship Type="http://schemas.openxmlformats.org/officeDocument/2006/relationships/slide" Target="/ppt/slides/slide1.xml" Id="R69b954914392481d" /><Relationship Type="http://schemas.openxmlformats.org/officeDocument/2006/relationships/slide" Target="/ppt/slides/slide2.xml" Id="Rb1f31d6a5b214a29" /><Relationship Type="http://schemas.openxmlformats.org/officeDocument/2006/relationships/slide" Target="/ppt/slides/slide3.xml" Id="Rd6c4088874ab4f87" /><Relationship Type="http://schemas.openxmlformats.org/officeDocument/2006/relationships/slide" Target="/ppt/slides/slide4.xml" Id="R3dfd448d19994bfa" /><Relationship Type="http://schemas.openxmlformats.org/officeDocument/2006/relationships/slide" Target="/ppt/slides/slide5.xml" Id="R3e52e47532f3458e" /><Relationship Type="http://schemas.openxmlformats.org/officeDocument/2006/relationships/slide" Target="/ppt/slides/slide6.xml" Id="R57aca64da41148eb" /><Relationship Type="http://schemas.openxmlformats.org/officeDocument/2006/relationships/slide" Target="/ppt/slides/slide7.xml" Id="R5e4d3b75933e471e" /><Relationship Type="http://schemas.openxmlformats.org/officeDocument/2006/relationships/slide" Target="/ppt/slides/slide8.xml" Id="R8c29d7df213d4690" /><Relationship Type="http://schemas.openxmlformats.org/officeDocument/2006/relationships/slide" Target="/ppt/slides/slide9.xml" Id="R3a11b33bd22d4b5a" /><Relationship Type="http://schemas.openxmlformats.org/officeDocument/2006/relationships/slide" Target="/ppt/slides/slide10.xml" Id="Rf4d85fa0b7974d86" /><Relationship Type="http://schemas.openxmlformats.org/officeDocument/2006/relationships/slide" Target="/ppt/slides/slide11.xml" Id="R67d76b341c7b4e76" /><Relationship Type="http://schemas.openxmlformats.org/officeDocument/2006/relationships/slide" Target="/ppt/slides/slide12.xml" Id="R2da9625580bf46b0" /><Relationship Type="http://schemas.openxmlformats.org/officeDocument/2006/relationships/slide" Target="/ppt/slides/slide13.xml" Id="R3e7541dbb2dd40cd" /><Relationship Type="http://schemas.openxmlformats.org/officeDocument/2006/relationships/slide" Target="/ppt/slides/slide14.xml" Id="R9cc7921131474353" /><Relationship Type="http://schemas.openxmlformats.org/officeDocument/2006/relationships/slide" Target="/ppt/slides/slide15.xml" Id="Rcd9dbbc859e2499b" /><Relationship Type="http://schemas.openxmlformats.org/officeDocument/2006/relationships/slide" Target="/ppt/slides/slide16.xml" Id="R4ac29f10104d4beb" /><Relationship Type="http://schemas.openxmlformats.org/officeDocument/2006/relationships/slide" Target="/ppt/slides/slide17.xml" Id="Rd49f1a9000884a83" /><Relationship Type="http://schemas.openxmlformats.org/officeDocument/2006/relationships/slide" Target="/ppt/slides/slide18.xml" Id="R1cbeb89667614060" /><Relationship Type="http://schemas.openxmlformats.org/officeDocument/2006/relationships/slide" Target="/ppt/slides/slide19.xml" Id="R63c6aff1159b4c37" /><Relationship Type="http://schemas.openxmlformats.org/officeDocument/2006/relationships/slide" Target="/ppt/slides/slide20.xml" Id="R97e99fe0d18d42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4ece85c7974a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472ccee1f44719" /><Relationship Type="http://schemas.openxmlformats.org/officeDocument/2006/relationships/notesMaster" Target="/ppt/notesMasters/notesMaster1.xml" Id="Rd2917e333fad4d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ebf6e8a31a437f" /><Relationship Type="http://schemas.openxmlformats.org/officeDocument/2006/relationships/notesMaster" Target="/ppt/notesMasters/notesMaster1.xml" Id="Rfc89f1ab6d8444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a303fbf4104fc1" /><Relationship Type="http://schemas.openxmlformats.org/officeDocument/2006/relationships/notesMaster" Target="/ppt/notesMasters/notesMaster1.xml" Id="R4b71e745f77a4c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178cf7f5704776" /><Relationship Type="http://schemas.openxmlformats.org/officeDocument/2006/relationships/notesMaster" Target="/ppt/notesMasters/notesMaster1.xml" Id="R03d04f1a75974a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c1ac234f224ab1" /><Relationship Type="http://schemas.openxmlformats.org/officeDocument/2006/relationships/notesMaster" Target="/ppt/notesMasters/notesMaster1.xml" Id="R9127e50a3a7b46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b5c14b6b394f6e" /><Relationship Type="http://schemas.openxmlformats.org/officeDocument/2006/relationships/notesMaster" Target="/ppt/notesMasters/notesMaster1.xml" Id="Rad0555147c4447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442fe0f33b4ec7" /><Relationship Type="http://schemas.openxmlformats.org/officeDocument/2006/relationships/notesMaster" Target="/ppt/notesMasters/notesMaster1.xml" Id="Rc38bf109770d4c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e85e7732694921" /><Relationship Type="http://schemas.openxmlformats.org/officeDocument/2006/relationships/notesMaster" Target="/ppt/notesMasters/notesMaster1.xml" Id="R1df46c575df14e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0c39398e134b4b" /><Relationship Type="http://schemas.openxmlformats.org/officeDocument/2006/relationships/notesMaster" Target="/ppt/notesMasters/notesMaster1.xml" Id="R8fcb354df8e74b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bbce899a6c4109" /><Relationship Type="http://schemas.openxmlformats.org/officeDocument/2006/relationships/notesMaster" Target="/ppt/notesMasters/notesMaster1.xml" Id="R9003f2a8cd8e4b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46446630274e6f" /><Relationship Type="http://schemas.openxmlformats.org/officeDocument/2006/relationships/notesMaster" Target="/ppt/notesMasters/notesMaster1.xml" Id="R21ad23b5971f46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fb8177a217495a" /><Relationship Type="http://schemas.openxmlformats.org/officeDocument/2006/relationships/notesMaster" Target="/ppt/notesMasters/notesMaster1.xml" Id="R6f47cf268d9243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c724c108bc4187" /><Relationship Type="http://schemas.openxmlformats.org/officeDocument/2006/relationships/notesMaster" Target="/ppt/notesMasters/notesMaster1.xml" Id="Rb95de675040047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babb0355be4a24" /><Relationship Type="http://schemas.openxmlformats.org/officeDocument/2006/relationships/notesMaster" Target="/ppt/notesMasters/notesMaster1.xml" Id="Rbdb1e66d9afa40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17056c44c240b1" /><Relationship Type="http://schemas.openxmlformats.org/officeDocument/2006/relationships/notesMaster" Target="/ppt/notesMasters/notesMaster1.xml" Id="Raa3c584d7cac4f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a597eb606642e4" /><Relationship Type="http://schemas.openxmlformats.org/officeDocument/2006/relationships/notesMaster" Target="/ppt/notesMasters/notesMaster1.xml" Id="R24c5138d5be1432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426bc7fc8ec4dbc" /><Relationship Type="http://schemas.openxmlformats.org/officeDocument/2006/relationships/notesMaster" Target="/ppt/notesMasters/notesMaster1.xml" Id="R4650559c7927464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63095bc14d7474c" /><Relationship Type="http://schemas.openxmlformats.org/officeDocument/2006/relationships/notesMaster" Target="/ppt/notesMasters/notesMaster1.xml" Id="R086c1ca74b1f43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55167e527474d59" /><Relationship Type="http://schemas.openxmlformats.org/officeDocument/2006/relationships/notesMaster" Target="/ppt/notesMasters/notesMaster1.xml" Id="Rcfe38d95091c4dd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98e140ac1854508" /><Relationship Type="http://schemas.openxmlformats.org/officeDocument/2006/relationships/notesMaster" Target="/ppt/notesMasters/notesMaster1.xml" Id="Rd768c148fb8543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Fresh primary evaluation, matched H2 ablation and actual Gemini/free OpenRouter integration. This project does not claim physical-network or production SLA results. All artifacts and evidence are inside selfx.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local dashboard shows generated traffic, actual provider suggestions, validation, simulated rule lifecycle and measured feedback. The Linux Mininet/Ryu path remains separate and is not validated by this fluid-model demonstration.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Capacity-scaled demand, feasibility margins and queues preserve load magnitude. Retrieval requires matching regimes, local calipers and strictly prior cycles. The evidence margin is a decision heuristic, not a calibrated confidence interval. Equivalent clipped caps are one candidate.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cap is min(elephant, max(0.8×elephant, capacity−primary background−headroom, 0.512)) Mbps, rounded upward to integer kbps. This example is arithmetic, not a new empirical result. Total loss includes meter drops and overflow.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local timeout kills and joins the client worker. Cloud generation already accepted by a provider may continue. Healthy load does not need an API call. The cache is bounded to 64 entries, 12-window TTL, exact demand/queue/topology signature and revalidation. Local fallback cache is never labeled API cache. No API work is moved outside control timing.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seeds 1900–1909 are distinct from development 1880/1881. The final provider seeds are 1980/1981. Earlier accelerated 1920/1921 and scheduled 1940/1941 diagnostic traces remain preserved separately. The final rerun follows a bypass/cache optimization; primary network rules were unchanged. Statistics: paired seed percentile bootstrap, 4,000 draws, RNG 4099, exploratory without multiplicity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output/benchmarks/v4/metrics.csv and summary.json. Mean of window loss, including meter drops. This is a system-policy gain that includes new meter logic; it is not attributed solely to memory. Graph atlas also reports pooled volume loss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Reward weights: latency delta /50 at −0.4, goodput delta /5000 at +0.4, loss delta /20 at −0.2. Each installed action is compared with same-state modeled no-op after selection. V3 is the preserved previous A4 algorithm.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Network delay is a delivery-weighted finite-buffer fluid proxy, not packet RTT. The report and atlas include scenario effects and paired 95% seed intervals. Heavily overloaded cases remain limited by the unchanged 20% flow-drop safety bound.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explores then uses parameter-conditioned prior evidence. Its cold-start cost stays in the primary aggregate. H2 isolates the extra effect of memory; O2 is a privileged immediate-reward reference with the same actions, not a deployable or long-horizon bound.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curves include all eight scenarios and ten seeds. Offline rule-learning replay seed 1880 stores actual parameter evidence and strict past-cycle retrieval, rather than fabricated learning narratives. No neural embedding or LLM weights are fine-tuned.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latency_gemini_pooled and latency_openrouter_pooled metrics. Mean is system-level and affected by call count and local reuse. It is not provider server latency alone. Small two-seed pilot; mode order reversed on second seed, service variability remains.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process deadline includes local startup, admission pacing and cancellation. A normal operating system is not a hard real-time environment. Client termination cannot cancel remote generation already accepted by a provider. Full max and misses are in the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Raw provider audits retain status, actual model when known, usage, transport and total elapsed time. Admission deferral starts no request. API success means schema-valid response; the independent safety validator can reject it. Saved rule replay exposes the raw suggestion and final installed decision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Misses derive from perf_counter full-cycle timings &gt;5000 ms. Accelerated and initial scheduled diagnostics are preserved separately and are not pooled into these final 1980/1981 observations.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provider traces retain raw suggestion, rejection reason, bounded fallback, rule cookie/instructions, meter cap, prior-rule expiry, same-state no-op comparison, delivered/lost volume and reward. No physical switch is contacted. Replay makes no new API call.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output/benchmarks/v4/latency_gemini_scheduled/trace.jsonl, seed 1940 cycle 4. This diagnostic example is explicitly identified, not presented as a final-pilot record. The final pilot and replay also retain all real suggestions and local decisions. No invented response is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Only the free router or :free model IDs are used for OpenRouter. Catalog checks and generation audits are preserved under output/benchmarks/v4/free_model_checks.json. Credentials remain in ignored .env and are excluded from all documents and archives.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complete final verification is output/verification.json. Runtime status is output/runtime_validation.json. Every report/PDF page and presentation slide is rendered for visual QA. Old v2/v3 raw evidence and canonical artifact history are retained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graphs are PNG/SVG under output/benchmarks/v4/figures, with a 17-page PDF atlas and source hashes. Editable DOCX and PPTX, native exported PDFs and evidence ZIP are under output/submission. Primary results show loss/reward gains over H1 with a delay tradeoff, not uniform superiority or a causal LLM benefit. Live pilots have only two seeds.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eca17463045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7e8d7eb514e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a0a8a5b17340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1a5385dfce465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785909db746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3215165674e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AC9B2E-D007-4BE1-B48B-7652E074A5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AC4F135-3232-44F3-8126-F86E85E8E7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EAF5EA5-1A9F-4178-8D38-7396E30622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61E7846-76FF-45A0-98BE-A58EA35828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C2AA71F-4018-4560-BAD1-E74B3FC65F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ECB749-8EFD-4077-830B-C999043459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96EB444-177C-4D6D-9C3F-12ABB205B0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AA73CE5-4F06-4F30-88FA-0B8EBC2ED0F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4A3638-7E1A-44FE-97DA-18EE3803A3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2FF3272-C3D6-4775-A7C0-39A7F82BD2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a7a2e707f442f" /><Relationship Type="http://schemas.openxmlformats.org/officeDocument/2006/relationships/slideLayout" Target="/ppt/slideLayouts/slideLayout1.xml" Id="Rbc88852fb92d45f3" /><Relationship Type="http://schemas.openxmlformats.org/officeDocument/2006/relationships/slideLayout" Target="/ppt/slideLayouts/slideLayout2.xml" Id="R2ff397b506484188" /><Relationship Type="http://schemas.openxmlformats.org/officeDocument/2006/relationships/slideLayout" Target="/ppt/slideLayouts/slideLayout3.xml" Id="R7ab07077a9474a19" /><Relationship Type="http://schemas.openxmlformats.org/officeDocument/2006/relationships/slideLayout" Target="/ppt/slideLayouts/slideLayout4.xml" Id="R78e1b3efd5644804" /><Relationship Type="http://schemas.openxmlformats.org/officeDocument/2006/relationships/slideLayout" Target="/ppt/slideLayouts/slideLayout5.xml" Id="R6cba859333094398" /><Relationship Type="http://schemas.openxmlformats.org/officeDocument/2006/relationships/slideLayout" Target="/ppt/slideLayouts/slideLayout6.xml" Id="Rc619457c543442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88852fb92d45f3"/>
    <p:sldLayoutId xmlns:r="http://schemas.openxmlformats.org/officeDocument/2006/relationships" id="2147483650" r:id="R2ff397b506484188"/>
    <p:sldLayoutId xmlns:r="http://schemas.openxmlformats.org/officeDocument/2006/relationships" id="2147483651" r:id="R7ab07077a9474a19"/>
    <p:sldLayoutId xmlns:r="http://schemas.openxmlformats.org/officeDocument/2006/relationships" id="2147483652" r:id="R78e1b3efd5644804"/>
    <p:sldLayoutId xmlns:r="http://schemas.openxmlformats.org/officeDocument/2006/relationships" id="2147483653" r:id="R6cba859333094398"/>
    <p:sldLayoutId xmlns:r="http://schemas.openxmlformats.org/officeDocument/2006/relationships" id="2147483654" r:id="Rc619457c543442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aa3002ab614ac7" /><Relationship Type="http://schemas.openxmlformats.org/officeDocument/2006/relationships/notesSlide" Target="/ppt/notesSlides/notesSlide1.xml" Id="R4440d44ef1c644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14d8ffb8e24072" /><Relationship Type="http://schemas.openxmlformats.org/officeDocument/2006/relationships/notesSlide" Target="/ppt/notesSlides/notesSlide2.xml" Id="Rddc678c479314b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f4de70b80549c0" /><Relationship Type="http://schemas.openxmlformats.org/officeDocument/2006/relationships/notesSlide" Target="/ppt/notesSlides/notesSlide3.xml" Id="Re2d66aca08044d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15a142d2674fe7" /><Relationship Type="http://schemas.openxmlformats.org/officeDocument/2006/relationships/notesSlide" Target="/ppt/notesSlides/notesSlide4.xml" Id="R2b1cb31f688141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3e0e170efe4be6" /><Relationship Type="http://schemas.openxmlformats.org/officeDocument/2006/relationships/notesSlide" Target="/ppt/notesSlides/notesSlide5.xml" Id="Ra24b0448d55042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8a709af3cd49b7" /><Relationship Type="http://schemas.openxmlformats.org/officeDocument/2006/relationships/notesSlide" Target="/ppt/notesSlides/notesSlide6.xml" Id="R226682165f244cc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583db7d6c348eb" /><Relationship Type="http://schemas.openxmlformats.org/officeDocument/2006/relationships/chart" Target="/ppt/slides/charts/chart1.xml" Id="R8df8ed3e4bcb4d61" /><Relationship Type="http://schemas.openxmlformats.org/officeDocument/2006/relationships/notesSlide" Target="/ppt/notesSlides/notesSlide7.xml" Id="R684611801db740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3d277469534058" /><Relationship Type="http://schemas.openxmlformats.org/officeDocument/2006/relationships/chart" Target="/ppt/slides/charts/chart2.xml" Id="R3f1ad935386e4d4b" /><Relationship Type="http://schemas.openxmlformats.org/officeDocument/2006/relationships/notesSlide" Target="/ppt/notesSlides/notesSlide8.xml" Id="R0afc0acd6e7e42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3985cb7e8b4961" /><Relationship Type="http://schemas.openxmlformats.org/officeDocument/2006/relationships/notesSlide" Target="/ppt/notesSlides/notesSlide9.xml" Id="R651b2d78d5b547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6332100ba649fe" /><Relationship Type="http://schemas.openxmlformats.org/officeDocument/2006/relationships/chart" Target="/ppt/slides/charts/chart3.xml" Id="R3f124d2698eb45e2" /><Relationship Type="http://schemas.openxmlformats.org/officeDocument/2006/relationships/notesSlide" Target="/ppt/notesSlides/notesSlide10.xml" Id="R44113cc6bf8448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bbfa718dbb47cd" /><Relationship Type="http://schemas.openxmlformats.org/officeDocument/2006/relationships/chart" Target="/ppt/slides/charts/chart4.xml" Id="Rf2a2e63058b74ccf" /><Relationship Type="http://schemas.openxmlformats.org/officeDocument/2006/relationships/notesSlide" Target="/ppt/notesSlides/notesSlide11.xml" Id="R23cfc6f1372340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248ac0ce134718" /><Relationship Type="http://schemas.openxmlformats.org/officeDocument/2006/relationships/chart" Target="/ppt/slides/charts/chart5.xml" Id="Red8c2e76cae34975" /><Relationship Type="http://schemas.openxmlformats.org/officeDocument/2006/relationships/notesSlide" Target="/ppt/notesSlides/notesSlide12.xml" Id="R4dae706a1022491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829856e39b4d52" /><Relationship Type="http://schemas.openxmlformats.org/officeDocument/2006/relationships/chart" Target="/ppt/slides/charts/chart6.xml" Id="R9deba88a07614f80" /><Relationship Type="http://schemas.openxmlformats.org/officeDocument/2006/relationships/notesSlide" Target="/ppt/notesSlides/notesSlide13.xml" Id="R4b97ca43e4ff46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ef8eb62404648" /><Relationship Type="http://schemas.openxmlformats.org/officeDocument/2006/relationships/notesSlide" Target="/ppt/notesSlides/notesSlide14.xml" Id="R2a02aab314774b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e0f693ec6145a6" /><Relationship Type="http://schemas.openxmlformats.org/officeDocument/2006/relationships/chart" Target="/ppt/slides/charts/chart7.xml" Id="R35d2495543d04e05" /><Relationship Type="http://schemas.openxmlformats.org/officeDocument/2006/relationships/notesSlide" Target="/ppt/notesSlides/notesSlide15.xml" Id="R83e97852d39a497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941c9dc1e747e7" /><Relationship Type="http://schemas.openxmlformats.org/officeDocument/2006/relationships/notesSlide" Target="/ppt/notesSlides/notesSlide16.xml" Id="R07e32fe7f985477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399295496d4164" /><Relationship Type="http://schemas.openxmlformats.org/officeDocument/2006/relationships/notesSlide" Target="/ppt/notesSlides/notesSlide17.xml" Id="R63d86182aa894c4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a27b4e30994712" /><Relationship Type="http://schemas.openxmlformats.org/officeDocument/2006/relationships/chart" Target="/ppt/slides/charts/chart8.xml" Id="Rd2a6572e06ba4bc3" /><Relationship Type="http://schemas.openxmlformats.org/officeDocument/2006/relationships/notesSlide" Target="/ppt/notesSlides/notesSlide18.xml" Id="R8f43bec43e394d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4a59074f674ebd" /><Relationship Type="http://schemas.openxmlformats.org/officeDocument/2006/relationships/notesSlide" Target="/ppt/notesSlides/notesSlide19.xml" Id="Rca66a8002caa45e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11dad5639041cc" /><Relationship Type="http://schemas.openxmlformats.org/officeDocument/2006/relationships/notesSlide" Target="/ppt/notesSlides/notesSlide20.xml" Id="Rf8f765be7c0f464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total loss %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A0</c:v>
                </c:pt>
                <c:pt idx="1">
                  <c:v>A2</c:v>
                </c:pt>
                <c:pt idx="2">
                  <c:v>H1</c:v>
                </c:pt>
                <c:pt idx="3">
                  <c:v>H2</c:v>
                </c:pt>
                <c:pt idx="4">
                  <c:v>A4</c:v>
                </c:pt>
                <c:pt idx="5">
                  <c:v>O2</c:v>
                </c:pt>
              </c:strCache>
            </c:strRef>
          </c:cat>
          <c:val>
            <c:numRef>
              <c:f>'Chart Data'!$B$2:$B$7</c:f>
              <c:numCache>
                <c:formatCode>0.000</c:formatCode>
                <c:ptCount val="6"/>
                <c:pt idx="0">
                  <c:v>8.14944</c:v>
                </c:pt>
                <c:pt idx="1">
                  <c:v>8.303947</c:v>
                </c:pt>
                <c:pt idx="2">
                  <c:v>7.391415</c:v>
                </c:pt>
                <c:pt idx="3">
                  <c:v>7.076821</c:v>
                </c:pt>
                <c:pt idx="4">
                  <c:v>7.075128</c:v>
                </c:pt>
                <c:pt idx="5">
                  <c:v>7.050116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reward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H1</c:v>
                </c:pt>
                <c:pt idx="1">
                  <c:v>V3</c:v>
                </c:pt>
                <c:pt idx="2">
                  <c:v>H2</c:v>
                </c:pt>
                <c:pt idx="3">
                  <c:v>A4</c:v>
                </c:pt>
              </c:strCache>
            </c:strRef>
          </c:cat>
          <c:val>
            <c:numRef>
              <c:f>'Chart Data'!$B$2:$B$5</c:f>
              <c:numCache>
                <c:formatCode>0.00000</c:formatCode>
                <c:ptCount val="4"/>
                <c:pt idx="0">
                  <c:v>0.077639</c:v>
                </c:pt>
                <c:pt idx="1">
                  <c:v>0.077639</c:v>
                </c:pt>
                <c:pt idx="2">
                  <c:v>0.083304</c:v>
                </c:pt>
                <c:pt idx="3">
                  <c:v>0.082764</c:v>
                </c:pt>
              </c:numCache>
            </c:numRef>
          </c:val>
        </c:ser>
        <c:dLbls>
          <c:numFmt formatCode="0.0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reward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H1</c:v>
                </c:pt>
                <c:pt idx="1">
                  <c:v>H2</c:v>
                </c:pt>
                <c:pt idx="2">
                  <c:v>A4</c:v>
                </c:pt>
              </c:strCache>
            </c:strRef>
          </c:cat>
          <c:val>
            <c:numRef>
              <c:f>'Chart Data'!$B$2:$B$4</c:f>
              <c:numCache>
                <c:formatCode>0.00000</c:formatCode>
                <c:ptCount val="3"/>
                <c:pt idx="0">
                  <c:v>0.077639</c:v>
                </c:pt>
                <c:pt idx="1">
                  <c:v>0.083304</c:v>
                </c:pt>
                <c:pt idx="2">
                  <c:v>0.082764</c:v>
                </c:pt>
              </c:numCache>
            </c:numRef>
          </c:val>
        </c:ser>
        <c:dLbls>
          <c:numFmt formatCode="0.00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H1</c:v>
          </c:tx>
          <c:spPr>
            <a:solidFill xmlns:a="http://schemas.openxmlformats.org/drawingml/2006/main">
              <a:srgbClr val="234F7D"/>
            </a:solidFill>
          </c:spPr>
          <c:invertIfNegative val="0"/>
          <c:cat>
            <c:numRef>
              <c:f>'Chart Data'!$A$2:$A$7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12</c:v>
                </c:pt>
                <c:pt idx="3">
                  <c:v>30</c:v>
                </c:pt>
                <c:pt idx="4">
                  <c:v>60</c:v>
                </c:pt>
                <c:pt idx="5">
                  <c:v>120</c:v>
                </c:pt>
              </c:numCache>
            </c:numRef>
          </c:cat>
          <c:val>
            <c:numRef>
              <c:f>'Chart Data'!$B$2:$B$7</c:f>
              <c:numCache>
                <c:formatCode>0.000</c:formatCode>
                <c:ptCount val="6"/>
                <c:pt idx="0">
                  <c:v>0.024621</c:v>
                </c:pt>
                <c:pt idx="1">
                  <c:v>0.067435</c:v>
                </c:pt>
                <c:pt idx="2">
                  <c:v>0.090139</c:v>
                </c:pt>
                <c:pt idx="3">
                  <c:v>0.084794</c:v>
                </c:pt>
                <c:pt idx="4">
                  <c:v>0.08857</c:v>
                </c:pt>
                <c:pt idx="5">
                  <c:v>0.077639</c:v>
                </c:pt>
              </c:numCache>
            </c:numRef>
          </c:val>
        </c:ser>
        <c:ser>
          <c:idx val="1"/>
          <c:order val="1"/>
          <c:tx>
            <c:v>H2</c:v>
          </c:tx>
          <c:spPr>
            <a:solidFill xmlns:a="http://schemas.openxmlformats.org/drawingml/2006/main">
              <a:srgbClr val="59A4AC"/>
            </a:solidFill>
          </c:spPr>
          <c:invertIfNegative val="0"/>
          <c:cat>
            <c:numRef>
              <c:f>'Chart Data'!$C$2:$C$7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12</c:v>
                </c:pt>
                <c:pt idx="3">
                  <c:v>30</c:v>
                </c:pt>
                <c:pt idx="4">
                  <c:v>60</c:v>
                </c:pt>
                <c:pt idx="5">
                  <c:v>120</c:v>
                </c:pt>
              </c:numCache>
            </c:numRef>
          </c:cat>
          <c:val>
            <c:numRef>
              <c:f>'Chart Data'!$D$2:$D$7</c:f>
              <c:numCache>
                <c:formatCode>0.000</c:formatCode>
                <c:ptCount val="6"/>
                <c:pt idx="0">
                  <c:v>0.028995</c:v>
                </c:pt>
                <c:pt idx="1">
                  <c:v>0.072038</c:v>
                </c:pt>
                <c:pt idx="2">
                  <c:v>0.094417</c:v>
                </c:pt>
                <c:pt idx="3">
                  <c:v>0.088783</c:v>
                </c:pt>
                <c:pt idx="4">
                  <c:v>0.092414</c:v>
                </c:pt>
                <c:pt idx="5">
                  <c:v>0.083304</c:v>
                </c:pt>
              </c:numCache>
            </c:numRef>
          </c:val>
        </c:ser>
        <c:ser>
          <c:idx val="2"/>
          <c:order val="2"/>
          <c:tx>
            <c:v>A4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numRef>
              <c:f>'Chart Data'!$E$2:$E$7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12</c:v>
                </c:pt>
                <c:pt idx="3">
                  <c:v>30</c:v>
                </c:pt>
                <c:pt idx="4">
                  <c:v>60</c:v>
                </c:pt>
                <c:pt idx="5">
                  <c:v>120</c:v>
                </c:pt>
              </c:numCache>
            </c:numRef>
          </c:cat>
          <c:val>
            <c:numRef>
              <c:f>'Chart Data'!$F$2:$F$7</c:f>
              <c:numCache>
                <c:formatCode>0.000</c:formatCode>
                <c:ptCount val="6"/>
                <c:pt idx="0">
                  <c:v>0.028995</c:v>
                </c:pt>
                <c:pt idx="1">
                  <c:v>0.07215</c:v>
                </c:pt>
                <c:pt idx="2">
                  <c:v>0.094596</c:v>
                </c:pt>
                <c:pt idx="3">
                  <c:v>0.088239</c:v>
                </c:pt>
                <c:pt idx="4">
                  <c:v>0.091844</c:v>
                </c:pt>
                <c:pt idx="5">
                  <c:v>0.082764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previous</c:v>
          </c:tx>
          <c:spPr>
            <a:solidFill xmlns:a="http://schemas.openxmlformats.org/drawingml/2006/main">
              <a:srgbClr val="467D91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0.486259</c:v>
                </c:pt>
                <c:pt idx="1">
                  <c:v>0.524132</c:v>
                </c:pt>
              </c:numCache>
            </c:numRef>
          </c:val>
        </c:ser>
        <c:ser>
          <c:idx val="1"/>
          <c:order val="1"/>
          <c:tx>
            <c:v>bounded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Data'!$D$2:$D$3</c:f>
              <c:numCache>
                <c:formatCode>0.000</c:formatCode>
                <c:ptCount val="2"/>
                <c:pt idx="0">
                  <c:v>0.487277</c:v>
                </c:pt>
                <c:pt idx="1">
                  <c:v>1.22167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previous</c:v>
          </c:tx>
          <c:spPr>
            <a:solidFill xmlns:a="http://schemas.openxmlformats.org/drawingml/2006/main">
              <a:srgbClr val="467D91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1.087104</c:v>
                </c:pt>
                <c:pt idx="1">
                  <c:v>2.094094</c:v>
                </c:pt>
              </c:numCache>
            </c:numRef>
          </c:val>
        </c:ser>
        <c:ser>
          <c:idx val="1"/>
          <c:order val="1"/>
          <c:tx>
            <c:v>bounded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Data'!$D$2:$D$3</c:f>
              <c:numCache>
                <c:formatCode>0.000</c:formatCode>
                <c:ptCount val="2"/>
                <c:pt idx="0">
                  <c:v>1.511037</c:v>
                </c:pt>
                <c:pt idx="1">
                  <c:v>3.620241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previous</c:v>
          </c:tx>
          <c:spPr>
            <a:solidFill xmlns:a="http://schemas.openxmlformats.org/drawingml/2006/main">
              <a:srgbClr val="467D91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24</c:v>
                </c:pt>
                <c:pt idx="1">
                  <c:v>24</c:v>
                </c:pt>
              </c:numCache>
            </c:numRef>
          </c:val>
        </c:ser>
        <c:ser>
          <c:idx val="1"/>
          <c:order val="1"/>
          <c:tx>
            <c:v>bounded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Gemini</c:v>
                </c:pt>
                <c:pt idx="1">
                  <c:v>OpenRouter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24</c:v>
                </c:pt>
                <c:pt idx="1">
                  <c:v>24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Model IDs</c:v>
          </c:tx>
          <c:spPr>
            <a:solidFill xmlns:a="http://schemas.openxmlformats.org/drawingml/2006/main">
              <a:srgbClr val="007D76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Valid response</c:v>
                </c:pt>
                <c:pt idx="1">
                  <c:v>Unavailable / error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</c:v>
                </c:pt>
                <c:pt idx="1">
                  <c:v>16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3DF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8F3"/>
        </a:solidFill>
      </c:spPr>
    </c:plotArea>
    <c:plotVisOnly val="1"/>
  </c:chart>
  <c:spPr>
    <a:solidFill xmlns:a="http://schemas.openxmlformats.org/drawingml/2006/main">
      <a:srgbClr val="F6F8F3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E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2D9D6-7D4A-47F3-8677-443FF621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7C0BA"/>
                </a:solidFill>
                <a:latin typeface="Arial"/>
                <a:ea typeface="Arial"/>
                <a:cs typeface="Arial"/>
              </a:rPr>
              <a:t>01 / SELF-X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98A83-0112-4A49-A518-7881AF0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7C0B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A7C0BA"/>
                </a:solidFill>
                <a:latin typeface="Arial"/>
                <a:ea typeface="Arial"/>
                <a:cs typeface="Arial"/>
              </a:rPr>
              <a:t>Measured revision 4 · 20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ACFFA-33F4-488B-8793-3055FEED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3450"/>
            <a:ext cx="108108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SELF-X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D7670-340F-449A-8B79-C7DCF725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Loss-aware control</a:t>
            </a:r>
          </a:p>
          <a:p xmlns:a="http://schemas.openxmlformats.org/drawingml/2006/main">
            <a:pPr>
              <a:defRPr sz="36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bounded provider waiting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A93A8-4E59-4CF6-AE74-4E61963B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38700"/>
            <a:ext cx="10620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B7D6C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7D6CD"/>
                </a:solidFill>
                <a:latin typeface="Arial"/>
                <a:ea typeface="Arial"/>
                <a:cs typeface="Arial"/>
              </a:rPr>
              <a:t>Simulated traffic · Actual API requests · Complete rule replay</a:t>
            </a:r>
          </a:p>
        </p:txBody>
      </p:sp>
    </p:spTree>
    <p:extLst>
      <p:ext uri="{BB962C8B-B14F-4D97-AF65-F5344CB8AC3E}">
        <p14:creationId xmlns:p14="http://schemas.microsoft.com/office/powerpoint/2010/main" val="12742451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B1D77-6BC8-40E0-BE9F-10B91205F599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620000" y="48672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1B6FC-3F18-485C-8F7B-46B834E8568A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810000" y="48672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313E3-2AE0-400E-9201-0252352569DA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2238375" y="3562350"/>
            <a:ext cx="762000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2CA48-C609-43F3-A22B-DDE2D75B7E3D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620000" y="31718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CE8CFA-EDF9-4CEA-BCAB-1073C65DC7E0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810000" y="31718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42B319-9991-4D0C-AD10-6CA44554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Project goal and closed-loop architecture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E1A539-80C4-4AD2-B43D-9DF12DE4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02 / SELF-X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ABEFF-ED8F-492F-87C6-237BA3D8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Source: saved v4 CSV, JSON and provider audits · All network outcomes are simulated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C0420-80A9-4C99-8C24-C96B6EFB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24000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Use earlier traffic outcomes to choose a bounded, reviewable flow rule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48F764-8CD7-465D-9872-82178843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127D0D-93C9-4BBF-AC64-B4D4C42D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975BC-BB2A-4889-A8E8-D4D69E85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Suggest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28D32-97BB-4541-8893-9B41DD1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C62ECE-8213-4CE1-A1C7-A7D335FD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767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Install / expire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841197-5BE4-47C8-A6E6-F29134CF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767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Measure / learn</a:t>
            </a:r>
          </a:p>
        </p:txBody>
      </p:sp>
    </p:spTree>
    <p:extLst>
      <p:ext uri="{BB962C8B-B14F-4D97-AF65-F5344CB8AC3E}">
        <p14:creationId xmlns:p14="http://schemas.microsoft.com/office/powerpoint/2010/main" val="11294705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94C110-C178-4E3E-A28C-B0A20FEC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Memory now learns the meter parameter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559CEC-2B2B-4E2D-B9BE-A0C2CFB1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03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C03C5-84D7-4C15-BBB9-0B9E5587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No candidate simulator outcome is queried during A4 selection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1EBE1-A5AE-4F02-9A3C-8DC884ACC48B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3667125"/>
                <a:gridCol w="5067300"/>
              </a:tblGrid>
              <a:tr h="650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Previous v3 A4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Current A4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Episode key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Context + action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Context + action + actual cap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Retention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96 episodes / 4 per cell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128 episodes / 6 per cell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Meter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Fixed 80% of flow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Capacity fitting + bounded headroom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Action advantage gate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3 prior observations per parameter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Choice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Conservative action reuse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Explore, then compare prior rewards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8CEB9-9E39-4BCC-8A73-015A99C6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Headroom candidates: 0, 0.1 and 0.3 Mbps. Cold start remains in all results.</a:t>
            </a:r>
          </a:p>
        </p:txBody>
      </p:sp>
    </p:spTree>
    <p:extLst>
      <p:ext uri="{BB962C8B-B14F-4D97-AF65-F5344CB8AC3E}">
        <p14:creationId xmlns:p14="http://schemas.microsoft.com/office/powerpoint/2010/main" val="7748427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E05CF-DC52-4452-A142-62CE4B89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Remove only the traffic the capacity requires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B558B-2FFB-4424-9DAF-68E04F02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04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235AFC-7661-4759-8273-0FAE398E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Independent safety limits are unchanged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882A46-E023-4695-8C2A-E7486D44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Example: 5 Mbps primary background + 5.2 Mbps elephant; alternate busy.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B7593-C493-4CA4-91E6-3D519B59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H1 cap: 4.16 Mbps. Capacity-aware cap: 4.90 Mbps (0.1 Mbps headroom).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D4E52-8590-48D7-8EA1-54F42B92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Bound: at least 80% of elephant demand and at least 512 kbps.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0DAB6-B123-4E61-B69F-169992AD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Reroute only if alternate demand stays at or below 90% of capacity.</a:t>
            </a:r>
          </a:p>
        </p:txBody>
      </p:sp>
    </p:spTree>
    <p:extLst>
      <p:ext uri="{BB962C8B-B14F-4D97-AF65-F5344CB8AC3E}">
        <p14:creationId xmlns:p14="http://schemas.microsoft.com/office/powerpoint/2010/main" val="4712982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AA2B9E-9D39-47B2-8839-24903E3E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Bound the provider wait and retain every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90553-DF96-4AC8-9229-907CC79E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05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56A2C-1061-4D82-A423-A3AE7B5C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3.8 s local wait budget inside a 5 s control interval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E3FD7-2E39-455C-95FA-ECF2AF64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62125"/>
            <a:ext cx="108108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Admit or defer by request pacing; deferral starts no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38CED-7567-4B2E-BB0A-3882625D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08108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Use a compact call in a cancellable process. Count startup and cleanup.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1B1A2-FE0E-41CE-AB8B-6218FA6E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62375"/>
            <a:ext cx="108108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Validate a fresh proposal; otherwise install the explicit local fallback.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4E6C1-648C-4677-A3C1-7EF33EE1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108108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Reuse exact validated rules, or supported memory, with distinct origins.</a:t>
            </a:r>
          </a:p>
        </p:txBody>
      </p:sp>
    </p:spTree>
    <p:extLst>
      <p:ext uri="{BB962C8B-B14F-4D97-AF65-F5344CB8AC3E}">
        <p14:creationId xmlns:p14="http://schemas.microsoft.com/office/powerpoint/2010/main" val="19961573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DD9D8-B348-4561-AE5D-90B01F9D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Fresh evaluation with a matched attribution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25828-D6AA-4650-B1D9-05C6FDA0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06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F09499-404B-45C2-B877-042EC685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Primary rules frozen before seeds 1900–1909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442612-2C4C-47AC-A224-174E8E5EB4CB}"/>
              </a:ext>
            </a:extLst>
          </p:cNvPr>
          <p:cNvGraphicFramePr/>
          <p:nvPr/>
        </p:nvGraphicFramePr>
        <p:xfrm>
          <a:off xmlns:a="http://schemas.openxmlformats.org/drawingml/2006/main" x="609600" y="1676400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4381500"/>
                <a:gridCol w="4257675"/>
              </a:tblGrid>
              <a:tr h="6572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Evidence set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Design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Primary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8 scenarios × 10 seeds × 120 × 9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86,400 offline controller windows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H1 comparison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Old fixed 20% meter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Improvement over previous baseline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H2 comparison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New meter, fixed 0.1 headroom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Isolate extra memory effect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Final live pilot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2 fresh seeds × 12 × 2 modes / provider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Actual API timing and suggestions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Rule-learning replay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120 recurring windows, seed 1880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Show exploration, memory and expiry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2978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35589-B66B-4B1E-AA63-513B440B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A4 reduces loss beyond H1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83EE9-42CA-406B-BF05-00E05335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07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E810C-CEDD-4A7C-9BF6-60B120EF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Primary: equal weight per scenario and paired seed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C27B5DF-DF25-45E2-BDCC-965C5DEF3111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f8ed3e4bcb4d6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2B6A6-431C-4DC9-8D18-37609791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H1 7.391% → A4 7.075%</a:t>
            </a:r>
          </a:p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A4 minus H1: -0.316 percentage points</a:t>
            </a:r>
          </a:p>
        </p:txBody>
      </p:sp>
    </p:spTree>
    <p:extLst>
      <p:ext uri="{BB962C8B-B14F-4D97-AF65-F5344CB8AC3E}">
        <p14:creationId xmlns:p14="http://schemas.microsoft.com/office/powerpoint/2010/main" val="9920229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D93E1-CA46-42BC-A435-5BCC465C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Reward improves over the old H1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45A6F-1FFA-410D-8C83-799538CC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08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1AF0C7-C023-4F6B-AA87-1A05FE54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Higher no-op-relative reward is better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7C600AA-E2C2-47F0-9808-CD7EC556C092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1ad935386e4d4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490AF-2744-43F1-86B6-D701A585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A4 − H1: 0.005126</a:t>
            </a:r>
          </a:p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Matched H2 remains above A4 in mean reward.</a:t>
            </a:r>
          </a:p>
        </p:txBody>
      </p:sp>
    </p:spTree>
    <p:extLst>
      <p:ext uri="{BB962C8B-B14F-4D97-AF65-F5344CB8AC3E}">
        <p14:creationId xmlns:p14="http://schemas.microsoft.com/office/powerpoint/2010/main" val="4469908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DFDE0-8D8E-48CC-8E8D-42578BB6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The loss gain has a delay tradeoff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3817C-1158-4054-B468-6BC1B8F5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09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CB69C-305C-4A2D-A090-BECAC5D3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Report all metrics together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EA29C-0C93-43F4-8FC8-19523CE102FC}"/>
              </a:ext>
            </a:extLst>
          </p:cNvPr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57375"/>
                <a:gridCol w="2190750"/>
                <a:gridCol w="2667000"/>
                <a:gridCol w="2476500"/>
                <a:gridCol w="1781175"/>
              </a:tblGrid>
              <a:tr h="5207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Controller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Delay ms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Goodput Mbps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Loss %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Reward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H1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17.131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12.956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7.391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0.077639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V3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17.131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12.956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7.391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0.077639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H2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17.363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13.011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7.077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0.083304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A4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17.452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13.011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7.075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0.082764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O2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17.096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13.016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7.050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0.086096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8F56A-4E45-47A5-A689-012E8F9D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1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A4 − H1 modeled delay: +0.322 ms.</a:t>
            </a:r>
          </a:p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Lower loss and higher reward do not imply improvement in every metric.</a:t>
            </a:r>
          </a:p>
        </p:txBody>
      </p:sp>
    </p:spTree>
    <p:extLst>
      <p:ext uri="{BB962C8B-B14F-4D97-AF65-F5344CB8AC3E}">
        <p14:creationId xmlns:p14="http://schemas.microsoft.com/office/powerpoint/2010/main" val="5622579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097AA2-D943-4F81-86D0-7C7F2394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H2 prevents over-attributing the gain to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75367-B43E-4BCE-B143-7C9F2F33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10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95F2C2-1EB5-4DE1-94FE-6B253253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Same meter candidates; fixed headroom and no memory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91C56AD-A06D-4DA2-852D-F3548F2F461C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124d2698eb45e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FAC18-721E-4FC8-A98E-46A8FBDB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A4 − H2 reward: -0.000540.</a:t>
            </a:r>
          </a:p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The primary suite does not establish an extra reward gain from memory.</a:t>
            </a:r>
          </a:p>
        </p:txBody>
      </p:sp>
    </p:spTree>
    <p:extLst>
      <p:ext uri="{BB962C8B-B14F-4D97-AF65-F5344CB8AC3E}">
        <p14:creationId xmlns:p14="http://schemas.microsoft.com/office/powerpoint/2010/main" val="531288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E4726-25A6-4CD8-BC70-BE908BAA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Learning is visible, including exploration cost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9C011-8644-4557-BEAB-273D78B5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11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992D4-D580-42E5-85CF-0BFDD76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Primary reward over increasing prefix length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84CE178-A18C-4AD8-949E-24B8EC0B0A11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a2e63058b74cc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98F17-2FD5-4E0C-A897-6EF06519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Separate 120-window replay: 15 exploration, 45 supported memory decisions.</a:t>
            </a:r>
          </a:p>
          <a:p xmlns:a="http://schemas.openxmlformats.org/drawingml/2006/main">
            <a:pPr>
              <a:defRPr sz="19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Mechanism demonstration is separate from held-out performance evidence.</a:t>
            </a:r>
          </a:p>
        </p:txBody>
      </p:sp>
    </p:spTree>
    <p:extLst>
      <p:ext uri="{BB962C8B-B14F-4D97-AF65-F5344CB8AC3E}">
        <p14:creationId xmlns:p14="http://schemas.microsoft.com/office/powerpoint/2010/main" val="7944071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D0C70D-6001-4BC3-B6F0-C21273ADB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Actual full-cycle provider timing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35808-5CFF-45CB-BBF9-79ED71C8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12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8A5DA-8537-4C4C-8D1B-54850E91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Final pilot: observations every five wall-clock seconds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7F71AADC-BAC5-4B21-9E36-3F16D993B019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8c2e76cae3497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11425-77D7-46AF-98E2-1F5C84D3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Includes pacing, process startup, cancellation, validation and memory update.</a:t>
            </a:r>
          </a:p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Observation idle time is separately recorded.</a:t>
            </a:r>
          </a:p>
        </p:txBody>
      </p:sp>
    </p:spTree>
    <p:extLst>
      <p:ext uri="{BB962C8B-B14F-4D97-AF65-F5344CB8AC3E}">
        <p14:creationId xmlns:p14="http://schemas.microsoft.com/office/powerpoint/2010/main" val="12609451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6CBA94-3455-4F81-BC94-9866FCDE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P95 full-cycle timing and the control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09F15A-AE9D-499A-AF7E-61838F03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13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4E5BA9-7CC9-484F-B6D5-BC132B56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Local wait deadline does not guarantee a provider response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9B036D1-7CFB-4A2E-8FAD-5B1E8FB78E0E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eba88a07614f8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C92C49-C99C-401F-8791-BDB66E05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Control target: 5 seconds. Provider wait budget: 3.8 seconds.</a:t>
            </a:r>
          </a:p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 timeout uses an explicit local rule and stays in all metrics.</a:t>
            </a:r>
          </a:p>
        </p:txBody>
      </p:sp>
    </p:spTree>
    <p:extLst>
      <p:ext uri="{BB962C8B-B14F-4D97-AF65-F5344CB8AC3E}">
        <p14:creationId xmlns:p14="http://schemas.microsoft.com/office/powerpoint/2010/main" val="13269699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FA41C-4D0C-40C6-8CFF-8972C960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Coverage: fresh responses remain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44451-87BC-4DAF-9772-76E82257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14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D91D5-8DA6-4230-A66B-B6F908E9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Answered requests can still fail rule validation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60891-5159-47BC-B8F8-7A686C093B59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2857500"/>
                <a:gridCol w="1866900"/>
                <a:gridCol w="1866900"/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Provider / mode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Answered / calls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Timeouts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Deferrals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gemini / previous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12/12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gemini / bounded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10/10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openrouter / previous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3/8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openrouter / bounded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5/10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DAAA-9179-4F89-B5B7-1FC54B71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Cache, local-rule cache, healthy bypass and memory are local origins.</a:t>
            </a:r>
          </a:p>
          <a:p xmlns:a="http://schemas.openxmlformats.org/drawingml/2006/main">
            <a:pPr>
              <a:defRPr sz="217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No missing API answer is replaced with an invented model response.</a:t>
            </a:r>
          </a:p>
        </p:txBody>
      </p:sp>
    </p:spTree>
    <p:extLst>
      <p:ext uri="{BB962C8B-B14F-4D97-AF65-F5344CB8AC3E}">
        <p14:creationId xmlns:p14="http://schemas.microsoft.com/office/powerpoint/2010/main" val="4592632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F86E9-3A56-484F-85B1-91C93AC4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All final cycles met the five-second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DF856-DB5F-41F7-A86F-BBE7422A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15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64A10-2CAB-49F3-83D7-110F2FE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Every window, including fallbacks and timeouts, is retained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6A02133-2286-449B-A84D-798156EFF678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d2495543d04e0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02296-A4CE-4FA3-8C96-A96E24B2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24 of 24 cycles met the target in each mode and provider.</a:t>
            </a:r>
          </a:p>
          <a:p xmlns:a="http://schemas.openxmlformats.org/drawingml/2006/main">
            <a: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Bounded OpenRouter used 5 deadline fallbacks; coverage remains separate.</a:t>
            </a:r>
          </a:p>
        </p:txBody>
      </p:sp>
    </p:spTree>
    <p:extLst>
      <p:ext uri="{BB962C8B-B14F-4D97-AF65-F5344CB8AC3E}">
        <p14:creationId xmlns:p14="http://schemas.microsoft.com/office/powerpoint/2010/main" val="20320226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234A4-E351-4061-8909-11A0F9BAF95A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620000" y="41814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101072-44AF-4287-A985-2206A6D8CBCF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810000" y="418147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1017B-7F9F-4194-B1A7-1DCD5003C2D8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 flipH="1">
            <a:off x="2238375" y="2876550"/>
            <a:ext cx="7620000" cy="9144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47D5F-2197-457E-92F7-BDAAD67EBC37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620000" y="24860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17A80-6226-4CA0-8AD0-1F947063701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810000" y="2486025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007D76"/>
            </a:solidFill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1FF8A-B9D5-483B-A39B-C14791767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A complete rule lifecycle you can replay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E9CA3-788B-40AC-A005-9DAF9E21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16 / SELF-X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8C7B06-85C0-4E0A-A107-A91E615D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Dashboard → Rule demo → provider → seed → Play or Next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E497E-79A6-45D0-B4A3-7DB2770E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Observe demand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610718-75E1-409D-879A-F672DAC0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Inspect proposal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D350C4-8D8D-41DA-9640-2A056680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Validate exact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1F8A9-CD93-4FE2-9644-CF7C504C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09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Install / expire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E93264-B75B-4FB0-A07A-3CED3E6E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909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Measure outcome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FC871-207B-40FD-A170-F3D039F3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90950"/>
            <a:ext cx="3143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E9"/>
          </a:solidFill>
          <a:ln xmlns:a="http://schemas.openxmlformats.org/drawingml/2006/main" w="14288">
            <a:solidFill>
              <a:srgbClr val="007D76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36"/>
                </a:solidFill>
                <a:latin typeface="Arial"/>
                <a:ea typeface="Arial"/>
                <a:cs typeface="Arial"/>
              </a:rPr>
              <a:t>Store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A90BCA-FC96-44CE-A72C-04168BEC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108108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ADD: exact flow, priority 100, hard_timeout 5 s; OUTPUT 3 or METER + OUTPUT 2.</a:t>
            </a:r>
          </a:p>
          <a:p xmlns:a="http://schemas.openxmlformats.org/drawingml/2006/main">
            <a:pPr>
              <a:defRPr sz="2025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Final expiry restores default port 2. Installation is simulated.</a:t>
            </a:r>
          </a:p>
        </p:txBody>
      </p:sp>
    </p:spTree>
    <p:extLst>
      <p:ext uri="{BB962C8B-B14F-4D97-AF65-F5344CB8AC3E}">
        <p14:creationId xmlns:p14="http://schemas.microsoft.com/office/powerpoint/2010/main" val="2350599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B3EB5-B235-4512-878E-E8643F81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Suggestions and installed rules can differ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4E2FE-6528-49DC-B0B7-11C15ED0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17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70617-79BC-4B54-A6E5-7F6C97BC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First scheduled diagnostic: unsafe reroute rejected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1AD55-4A87-42C0-B245-583C70C4800E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556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Step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Recorded evidence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Observe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Primary congested; alternate reroute would reach about 140.9%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Gemini suggestion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reroute: primary congested and alternate is safe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Independent validator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Reject: alternate exceeds the 90% capacity ceiling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Installed local action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Capacity-aware bounded meter, output port 2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Audit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Raw suggestion, guard reason, installed rule and outcome retained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1D3A7-AADF-4DF2-AEC9-9AA81473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A model explanation cannot override the deterministic safety gate.</a:t>
            </a:r>
          </a:p>
        </p:txBody>
      </p:sp>
    </p:spTree>
    <p:extLst>
      <p:ext uri="{BB962C8B-B14F-4D97-AF65-F5344CB8AC3E}">
        <p14:creationId xmlns:p14="http://schemas.microsoft.com/office/powerpoint/2010/main" val="17851566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08628-7F49-4A18-84B9-9F24D8CD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Free-model availability is a separate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70F551-4A95-45FE-B7A8-5503D2E8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18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4156A-5419-4665-AFC0-37932051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Every discovered zero-price model ID receives one healthy JSON check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E950B5C-D11B-4C07-93EF-73F1DD9C45FC}"/>
              </a:ext>
            </a:extLst>
          </p:cNvPr>
          <p:cNvGraphicFramePr/>
          <p:nvPr/>
        </p:nvGraphicFramePr>
        <p:xfrm>
          <a:off xmlns:a="http://schemas.openxmlformats.org/drawingml/2006/main" x="952500" y="1809750"/>
          <a:ext xmlns:a="http://schemas.openxmlformats.org/drawingml/2006/main" cx="10382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a6572e06ba4bc3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13D33-A0E0-4379-9FAE-541BDD9B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05450"/>
            <a:ext cx="10810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1/17 valid compact action responses in this timestamped sweep.</a:t>
            </a:r>
          </a:p>
          <a:p xmlns:a="http://schemas.openxmlformats.org/drawingml/2006/main">
            <a:pPr>
              <a:defRPr sz="2100" b="0">
                <a:solidFill>
                  <a:srgbClr val="007D76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7D76"/>
                </a:solidFill>
                <a:latin typeface="Arial"/>
                <a:ea typeface="Arial"/>
                <a:cs typeface="Arial"/>
              </a:rPr>
              <a:t>14 rate/quota failures (429), 2 access denials (403); availability is not quality.</a:t>
            </a:r>
          </a:p>
        </p:txBody>
      </p:sp>
    </p:spTree>
    <p:extLst>
      <p:ext uri="{BB962C8B-B14F-4D97-AF65-F5344CB8AC3E}">
        <p14:creationId xmlns:p14="http://schemas.microsoft.com/office/powerpoint/2010/main" val="150552357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14AE0-BDB8-46C1-8148-0A1906E2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Runtime and submission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849AC-D0E3-4DB3-988D-E497F0EB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19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94E20-314A-4D8D-BB25-91F68F4A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Complete portable project runs inside selfx/.venv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C9A17-C8FD-4896-8C98-859835C49C49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8258175"/>
              </a:tblGrid>
              <a:tr h="5646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Check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Evidence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T w="9525">
                      <a:solidFill>
                        <a:srgbClr val="D9E3DF"/>
                      </a:solidFill>
                      <a:prstDash val="solid"/>
                    </a:lnT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E8F0E9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Tests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55 passed, 4 subtests passed in 8.31s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Data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Hash-matched traces, summary means, conservation, past-only retrieval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Deadline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Hung worker terminated; no surviving child; honest deferred/cache origins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Browser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Provider replay, learning demo, offline run, desktop/mobile navigation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Artifacts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Editable charts/tables, embedded workbooks, native PDF export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  <a:tr h="56469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Scope / keys</a:t>
                      </a:r>
                    </a:p>
                  </a:txBody>
                  <a:tcPr marL="95250" marR="95250" marT="57150" marB="57150">
                    <a:lnL w="9525">
                      <a:solidFill>
                        <a:srgbClr val="D9E3DF"/>
                      </a:solidFill>
                      <a:prstDash val="solid"/>
                    </a:lnL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E36"/>
                          </a:solidFill>
                          <a:latin typeface="Arial"/>
                          <a:ea typeface="Arial"/>
                          <a:cs typeface="Arial"/>
                        </a:rPr>
                        <a:t>Selfx outputs only; .env excluded from source ZIP</a:t>
                      </a:r>
                    </a:p>
                  </a:txBody>
                  <a:tcPr marL="95250" marR="95250" marT="57150" marB="57150">
                    <a:lnR w="9525">
                      <a:solidFill>
                        <a:srgbClr val="D9E3DF"/>
                      </a:solidFill>
                      <a:prstDash val="solid"/>
                    </a:lnR>
                    <a:lnB w="9525">
                      <a:solidFill>
                        <a:srgbClr val="D9E3DF"/>
                      </a:solidFill>
                      <a:prstDash val="solid"/>
                    </a:lnB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1994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728C0-0B13-4D90-9F9D-1B756798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Reproduce the demo and assess the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7FDD7-A31D-4C6A-BCA1-86F34667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20 / SELF-X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B35B6-C716-4DA7-822C-5C2D65E6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353175"/>
            <a:ext cx="7572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0777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0777B"/>
                </a:solidFill>
                <a:latin typeface="Arial"/>
                <a:ea typeface="Arial"/>
                <a:cs typeface="Arial"/>
              </a:rPr>
              <a:t>Local dashboard: http://127.0.0.1:8766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07B22-25A3-43B4-A847-05694448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62125"/>
            <a:ext cx="10810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Run: .\run.ps1 all; .\run.ps1 dashboard -Port 8766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EEA75-D06E-41D3-8FDF-036D037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43200"/>
            <a:ext cx="10810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Replay: Rule demo → Gemini / OpenRouter / 120-window memory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BA4BF1-D7B5-442D-984D-B507ACAD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10810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Review: docs/BENCHMARKS_V4.md, docs/RULE_DEMO.md, ARCHITECTURE.Rmd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ACE0F-5184-4606-B7D5-5DCEB297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05350"/>
            <a:ext cx="1081087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02E3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36"/>
                </a:solidFill>
                <a:latin typeface="Arial"/>
                <a:ea typeface="Arial"/>
                <a:cs typeface="Arial"/>
              </a:rPr>
              <a:t>Limits: fluid simulation; memory does not beat matched H2 reward; no SLA.</a:t>
            </a:r>
          </a:p>
        </p:txBody>
      </p:sp>
    </p:spTree>
    <p:extLst>
      <p:ext uri="{BB962C8B-B14F-4D97-AF65-F5344CB8AC3E}">
        <p14:creationId xmlns:p14="http://schemas.microsoft.com/office/powerpoint/2010/main" val="6124011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2026-10-20T12:11:58.8430000Z</dcterms:created>
  <dcterms:modified xsi:type="dcterms:W3CDTF">2026-10-20T12:11:58.8430000Z</dcterms:modified>
</coreProperties>
</file>